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1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E7D35-97FD-43AA-9845-88D336E1E2C8}" type="datetimeFigureOut">
              <a:rPr lang="en-CA" smtClean="0"/>
              <a:t>2026-01-08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F80A-91D4-413F-BA5D-4E5D3480E3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204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21D41-EFB5-46E0-8516-CB5F61E48C6D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7033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13D6B-08C0-4E23-851B-475BB2BC1DAD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9484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76C8-241D-424B-81F6-5C98F0DD1690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6774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7D3C-C071-47F6-A160-B38E0399CD82}" type="datetime1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047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E56C-CFE0-48DC-A409-2ED79BC89A17}" type="datetime1">
              <a:rPr lang="en-CA" smtClean="0"/>
              <a:t>2026-01-08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8547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23FD-6CEE-4801-A05E-935BEBEBF255}" type="datetime1">
              <a:rPr lang="en-CA" smtClean="0"/>
              <a:t>2026-01-08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27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07C4F-9ACF-497D-92AD-311C825BD577}" type="datetime1">
              <a:rPr lang="en-CA" smtClean="0"/>
              <a:t>2026-01-08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918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E89A7-064C-4692-A53E-445EE25E4C1C}" type="datetime1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3668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66BC6-154E-4FD4-A0A9-C34B59282F4E}" type="datetime1">
              <a:rPr lang="en-CA" smtClean="0"/>
              <a:t>2026-01-08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892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0560-6C98-4F43-8F19-8D9332D38075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5036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F23D9-4547-452A-8500-AF59FF06FB44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5300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710353A-6C5F-4D5D-988B-7E2091907F00}" type="datetime1">
              <a:rPr lang="en-CA" smtClean="0"/>
              <a:t>2026-01-08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9C57D78-6BD8-4B20-85EE-78057F342A6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55466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java/javase/22/docs/api/java.base/java/nio/file/Files.html" TargetMode="External"/><Relationship Id="rId2" Type="http://schemas.openxmlformats.org/officeDocument/2006/relationships/hyperlink" Target="https://docs.oracle.com/en/java/javase/22/docs/api/java.base/java/nio/file/Path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B508-B290-BB04-0005-CB92DE920D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COMP2522</a:t>
            </a:r>
            <a:br>
              <a:rPr lang="en-US" dirty="0"/>
            </a:br>
            <a:r>
              <a:rPr lang="en-US" dirty="0"/>
              <a:t>Lesson 8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E91ED-42AB-EFD3-D974-113D420E80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IO, Path, Files, Scanner, Streaming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1357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1E01F-AD5A-6A85-B7C6-B7A8CDD91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Input/Output 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33F8B-C3ED-871F-16AD-9C86AD79E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There are many classes and techniques to work with file IO</a:t>
            </a:r>
          </a:p>
          <a:p>
            <a:r>
              <a:rPr lang="en-US"/>
              <a:t>The newest, cleanest ways involve the NIO ("new IO") and NIO2 classes</a:t>
            </a:r>
          </a:p>
          <a:p>
            <a:endParaRPr lang="en-US"/>
          </a:p>
          <a:p>
            <a:r>
              <a:rPr lang="en-US"/>
              <a:t>The </a:t>
            </a:r>
            <a:r>
              <a:rPr lang="en-US" b="1"/>
              <a:t>Path</a:t>
            </a:r>
            <a:r>
              <a:rPr lang="en-US"/>
              <a:t> interface represents a location in the file system (files or directories).</a:t>
            </a:r>
          </a:p>
          <a:p>
            <a:endParaRPr lang="en-US"/>
          </a:p>
          <a:p>
            <a:r>
              <a:rPr lang="en-US"/>
              <a:t>The </a:t>
            </a:r>
            <a:r>
              <a:rPr lang="en-US" b="1"/>
              <a:t>Files</a:t>
            </a:r>
            <a:r>
              <a:rPr lang="en-US"/>
              <a:t> class is a utility class to work with files and directories. It provides </a:t>
            </a:r>
            <a:r>
              <a:rPr lang="en-US" u="sng"/>
              <a:t>all static methods </a:t>
            </a:r>
            <a:r>
              <a:rPr lang="en-US"/>
              <a:t>to read, write, create, delete, copy, and move files.</a:t>
            </a:r>
          </a:p>
          <a:p>
            <a:endParaRPr lang="en-US"/>
          </a:p>
          <a:p>
            <a:r>
              <a:rPr lang="en-US"/>
              <a:t>Path and Files are platform independent; they handle file system operations across different operating systems seamlessly.</a:t>
            </a:r>
          </a:p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6D4DE-0A50-2F1C-CE3A-D2CAB118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64235-001D-4CDB-FB67-990F2756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7416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0A19-E61D-42CC-2036-B6197BE6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Path and Files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AB83D-804A-A231-339A-BB72D7715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2"/>
              </a:rPr>
              <a:t>https://docs.oracle.com/en/java/javase/22/docs/api/java.base/java/nio/file/Path.html</a:t>
            </a:r>
            <a:endParaRPr lang="en-CA" dirty="0"/>
          </a:p>
          <a:p>
            <a:endParaRPr lang="en-CA" dirty="0"/>
          </a:p>
          <a:p>
            <a:r>
              <a:rPr lang="en-CA" dirty="0">
                <a:hlinkClick r:id="rId3"/>
              </a:rPr>
              <a:t>https://docs.oracle.com/en/java/javase/22/docs/api/java.base/java/nio/file/Files.html</a:t>
            </a:r>
            <a:endParaRPr lang="en-CA" dirty="0"/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788DF1-D7E0-C262-A0AB-A4A571F8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D8FEB-06DC-EEFA-5698-4D79B6530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259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0833F-20F3-B744-E2A0-5A03E414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Path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AAAB4-6B48-255A-3001-5BCBB65AC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Always use </a:t>
            </a:r>
            <a:r>
              <a:rPr lang="en-US" dirty="0" err="1"/>
              <a:t>Paths.get</a:t>
            </a:r>
            <a:r>
              <a:rPr lang="en-US" dirty="0"/>
              <a:t>() to construct file paths instead of hardcoding paths.</a:t>
            </a:r>
          </a:p>
          <a:p>
            <a:endParaRPr lang="en-US" dirty="0"/>
          </a:p>
          <a:p>
            <a:r>
              <a:rPr lang="en-US" dirty="0"/>
              <a:t>Path </a:t>
            </a:r>
            <a:r>
              <a:rPr lang="en-US" dirty="0" err="1"/>
              <a:t>path</a:t>
            </a:r>
            <a:r>
              <a:rPr lang="en-US" dirty="0"/>
              <a:t> = </a:t>
            </a:r>
            <a:r>
              <a:rPr lang="en-US" dirty="0" err="1"/>
              <a:t>Paths.get</a:t>
            </a:r>
            <a:r>
              <a:rPr lang="en-US" dirty="0"/>
              <a:t>("data.txt");</a:t>
            </a:r>
          </a:p>
          <a:p>
            <a:endParaRPr lang="en-US" dirty="0"/>
          </a:p>
          <a:p>
            <a:r>
              <a:rPr lang="en-US" dirty="0"/>
              <a:t>// Works on all OS</a:t>
            </a:r>
          </a:p>
          <a:p>
            <a:r>
              <a:rPr lang="en-US" dirty="0"/>
              <a:t>Path </a:t>
            </a:r>
            <a:r>
              <a:rPr lang="en-US" dirty="0" err="1"/>
              <a:t>path</a:t>
            </a:r>
            <a:r>
              <a:rPr lang="en-US" dirty="0"/>
              <a:t> = </a:t>
            </a:r>
            <a:r>
              <a:rPr lang="en-US" dirty="0" err="1"/>
              <a:t>Paths.get</a:t>
            </a:r>
            <a:r>
              <a:rPr lang="en-US" dirty="0"/>
              <a:t>("</a:t>
            </a:r>
            <a:r>
              <a:rPr lang="en-US" dirty="0" err="1"/>
              <a:t>src</a:t>
            </a:r>
            <a:r>
              <a:rPr lang="en-US" dirty="0"/>
              <a:t>", "resources", "file.txt"); </a:t>
            </a:r>
          </a:p>
          <a:p>
            <a:r>
              <a:rPr lang="en-US" dirty="0"/>
              <a:t>Path </a:t>
            </a:r>
            <a:r>
              <a:rPr lang="en-US" dirty="0" err="1"/>
              <a:t>path</a:t>
            </a:r>
            <a:r>
              <a:rPr lang="en-US" dirty="0"/>
              <a:t> = </a:t>
            </a:r>
            <a:r>
              <a:rPr lang="en-US" dirty="0" err="1"/>
              <a:t>Paths.get</a:t>
            </a:r>
            <a:r>
              <a:rPr lang="en-US" dirty="0"/>
              <a:t>("</a:t>
            </a:r>
            <a:r>
              <a:rPr lang="en-US" dirty="0" err="1"/>
              <a:t>src</a:t>
            </a:r>
            <a:r>
              <a:rPr lang="en-US" dirty="0"/>
              <a:t>", "resources", "data", "2024", "reports", "file.txt");</a:t>
            </a:r>
          </a:p>
          <a:p>
            <a:endParaRPr lang="en-US" dirty="0"/>
          </a:p>
          <a:p>
            <a:r>
              <a:rPr lang="en-US" dirty="0"/>
              <a:t>Avoid hardcoded separators: Don't use \\ or / directly; </a:t>
            </a:r>
            <a:r>
              <a:rPr lang="en-US" dirty="0" err="1"/>
              <a:t>System.lineSeparator</a:t>
            </a:r>
            <a:r>
              <a:rPr lang="en-US" dirty="0"/>
              <a:t>() is better, but </a:t>
            </a:r>
            <a:r>
              <a:rPr lang="en-US" dirty="0" err="1"/>
              <a:t>Paths.get</a:t>
            </a:r>
            <a:r>
              <a:rPr lang="en-US" dirty="0"/>
              <a:t>() can manage paths alone. </a:t>
            </a:r>
            <a:endParaRPr lang="en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B9124C-162F-65D6-98EA-86B3CD53A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E390B-C6D3-3E64-F536-FF7F55934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8235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E7DCD-255B-804F-913A-09AD8870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Files (and Directories)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1EB44-226D-0115-58A1-3C4136A81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017"/>
            <a:ext cx="10515600" cy="4817946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Creating a File:</a:t>
            </a:r>
          </a:p>
          <a:p>
            <a:r>
              <a:rPr lang="en-CA" dirty="0"/>
              <a:t>Path </a:t>
            </a:r>
            <a:r>
              <a:rPr lang="en-CA" dirty="0" err="1"/>
              <a:t>path</a:t>
            </a:r>
            <a:r>
              <a:rPr lang="en-CA" dirty="0"/>
              <a:t> = </a:t>
            </a:r>
            <a:r>
              <a:rPr lang="en-CA" dirty="0" err="1"/>
              <a:t>Paths.get</a:t>
            </a:r>
            <a:r>
              <a:rPr lang="en-CA" dirty="0"/>
              <a:t>("newFile.txt");</a:t>
            </a:r>
          </a:p>
          <a:p>
            <a:r>
              <a:rPr lang="en-CA" dirty="0" err="1"/>
              <a:t>Files.createFile</a:t>
            </a:r>
            <a:r>
              <a:rPr lang="en-CA" dirty="0"/>
              <a:t>(path);  // Creates a new </a:t>
            </a:r>
            <a:r>
              <a:rPr lang="en-CA" u="sng" dirty="0"/>
              <a:t>file</a:t>
            </a:r>
          </a:p>
          <a:p>
            <a:endParaRPr lang="en-CA" dirty="0"/>
          </a:p>
          <a:p>
            <a:r>
              <a:rPr lang="en-CA" dirty="0"/>
              <a:t>Best Practice: Check if the file exists first.</a:t>
            </a:r>
          </a:p>
          <a:p>
            <a:r>
              <a:rPr lang="en-CA" dirty="0"/>
              <a:t>if (</a:t>
            </a:r>
            <a:r>
              <a:rPr lang="en-CA" dirty="0" err="1"/>
              <a:t>Files.notExists</a:t>
            </a:r>
            <a:r>
              <a:rPr lang="en-CA" dirty="0"/>
              <a:t>(path)) {    </a:t>
            </a:r>
          </a:p>
          <a:p>
            <a:r>
              <a:rPr lang="en-CA" dirty="0"/>
              <a:t>	</a:t>
            </a:r>
            <a:r>
              <a:rPr lang="en-CA" dirty="0" err="1"/>
              <a:t>Files.createFile</a:t>
            </a:r>
            <a:r>
              <a:rPr lang="en-CA" dirty="0"/>
              <a:t>(path);</a:t>
            </a:r>
          </a:p>
          <a:p>
            <a:r>
              <a:rPr lang="en-CA" dirty="0"/>
              <a:t>}</a:t>
            </a:r>
          </a:p>
          <a:p>
            <a:r>
              <a:rPr lang="en-CA" dirty="0"/>
              <a:t>Creating a Directory:</a:t>
            </a:r>
          </a:p>
          <a:p>
            <a:r>
              <a:rPr lang="en-CA" dirty="0"/>
              <a:t>Path </a:t>
            </a:r>
            <a:r>
              <a:rPr lang="en-CA" dirty="0" err="1"/>
              <a:t>dirPath</a:t>
            </a:r>
            <a:r>
              <a:rPr lang="en-CA" dirty="0"/>
              <a:t> = </a:t>
            </a:r>
            <a:r>
              <a:rPr lang="en-CA" dirty="0" err="1"/>
              <a:t>Paths.get</a:t>
            </a:r>
            <a:r>
              <a:rPr lang="en-CA" dirty="0"/>
              <a:t>("</a:t>
            </a:r>
            <a:r>
              <a:rPr lang="en-CA" dirty="0" err="1"/>
              <a:t>newDir</a:t>
            </a:r>
            <a:r>
              <a:rPr lang="en-CA" dirty="0"/>
              <a:t>");</a:t>
            </a:r>
          </a:p>
          <a:p>
            <a:r>
              <a:rPr lang="en-CA" dirty="0" err="1"/>
              <a:t>Files.createDirectory</a:t>
            </a:r>
            <a:r>
              <a:rPr lang="en-CA" dirty="0"/>
              <a:t>(</a:t>
            </a:r>
            <a:r>
              <a:rPr lang="en-CA" dirty="0" err="1"/>
              <a:t>dirPath</a:t>
            </a:r>
            <a:r>
              <a:rPr lang="en-CA" dirty="0"/>
              <a:t>);</a:t>
            </a:r>
          </a:p>
          <a:p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37284-6F0B-B0DD-BC0E-25B13E3C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8D3CE-85D4-E7AC-F1FC-4526BE04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91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2C05-11FE-1241-2596-9BCCFFE18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Nested Directories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ABEF-A6B2-B725-C863-5E47A4C01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dirty="0"/>
              <a:t>Creating Nested Directories:</a:t>
            </a:r>
          </a:p>
          <a:p>
            <a:r>
              <a:rPr lang="en-CA" dirty="0" err="1"/>
              <a:t>Files.createDirectories</a:t>
            </a:r>
            <a:r>
              <a:rPr lang="en-CA" dirty="0"/>
              <a:t>(</a:t>
            </a:r>
            <a:r>
              <a:rPr lang="en-CA" dirty="0" err="1"/>
              <a:t>Paths.get</a:t>
            </a:r>
            <a:r>
              <a:rPr lang="en-CA" dirty="0"/>
              <a:t>("</a:t>
            </a:r>
            <a:r>
              <a:rPr lang="en-CA" dirty="0" err="1"/>
              <a:t>dir</a:t>
            </a:r>
            <a:r>
              <a:rPr lang="en-CA" dirty="0"/>
              <a:t>/subdir"));</a:t>
            </a:r>
          </a:p>
          <a:p>
            <a:endParaRPr lang="en-CA" dirty="0"/>
          </a:p>
          <a:p>
            <a:r>
              <a:rPr lang="en-CA" dirty="0"/>
              <a:t>NOTE: the forward slash there is perfectly fine to use; </a:t>
            </a:r>
            <a:r>
              <a:rPr lang="en-US" dirty="0"/>
              <a:t>forward slashes (/) and backward slashes (\) are automatically handled by the </a:t>
            </a:r>
            <a:r>
              <a:rPr lang="en-US" dirty="0" err="1"/>
              <a:t>Paths.get</a:t>
            </a:r>
            <a:r>
              <a:rPr lang="en-US" dirty="0"/>
              <a:t>() method to ensure platform independence</a:t>
            </a:r>
          </a:p>
          <a:p>
            <a:endParaRPr lang="en-US" dirty="0"/>
          </a:p>
          <a:p>
            <a:r>
              <a:rPr lang="en-US" dirty="0"/>
              <a:t>NOTE: if "</a:t>
            </a:r>
            <a:r>
              <a:rPr lang="en-US" dirty="0" err="1"/>
              <a:t>dir</a:t>
            </a:r>
            <a:r>
              <a:rPr lang="en-US" dirty="0"/>
              <a:t>" doesn't exist in the code above, this method will also create it. There is a </a:t>
            </a:r>
            <a:r>
              <a:rPr lang="en-US" dirty="0" err="1"/>
              <a:t>createDirectory</a:t>
            </a:r>
            <a:r>
              <a:rPr lang="en-US" dirty="0"/>
              <a:t>() (singular) method which would NOT; it would throw an exception if the parent directory doesn't exist</a:t>
            </a:r>
            <a:endParaRPr lang="en-CA" dirty="0"/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8D902-0385-EAA2-84AC-601421E1E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7C5F77-1FD7-1388-DAB1-A0475E6F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7101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69A4-39E7-6D70-1C90-8A981DF0A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All (Small) Text File Lines at Once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EDC10-4FA3-C9AE-1F48-1E8001D4C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/>
              <a:t>With files smaller than </a:t>
            </a:r>
            <a:r>
              <a:rPr lang="en-CA" i="1" dirty="0"/>
              <a:t>about</a:t>
            </a:r>
            <a:r>
              <a:rPr lang="en-CA" dirty="0"/>
              <a:t> 10MB, we can read all data into a list at once.</a:t>
            </a:r>
          </a:p>
          <a:p>
            <a:pPr marL="0" indent="0">
              <a:buNone/>
            </a:pPr>
            <a:r>
              <a:rPr lang="en-CA" dirty="0"/>
              <a:t>try </a:t>
            </a:r>
            <a:br>
              <a:rPr lang="en-CA" dirty="0"/>
            </a:br>
            <a:r>
              <a:rPr lang="en-CA" dirty="0"/>
              <a:t>{    </a:t>
            </a:r>
          </a:p>
          <a:p>
            <a:pPr marL="457200" lvl="1" indent="0">
              <a:buNone/>
            </a:pPr>
            <a:r>
              <a:rPr lang="en-CA" sz="2800" dirty="0"/>
              <a:t>Final List&lt;String&gt; lines;</a:t>
            </a:r>
            <a:br>
              <a:rPr lang="en-CA" sz="2800" dirty="0"/>
            </a:br>
            <a:r>
              <a:rPr lang="en-CA" sz="2800" dirty="0"/>
              <a:t>lines = </a:t>
            </a:r>
            <a:r>
              <a:rPr lang="en-CA" sz="2800" dirty="0" err="1"/>
              <a:t>Files.readAllLines</a:t>
            </a:r>
            <a:r>
              <a:rPr lang="en-CA" sz="2800" dirty="0"/>
              <a:t>(path);</a:t>
            </a:r>
          </a:p>
          <a:p>
            <a:pPr marL="0" indent="0">
              <a:buNone/>
            </a:pPr>
            <a:r>
              <a:rPr lang="en-CA" dirty="0"/>
              <a:t>} </a:t>
            </a:r>
          </a:p>
          <a:p>
            <a:pPr marL="0" indent="0">
              <a:buNone/>
            </a:pPr>
            <a:r>
              <a:rPr lang="en-CA" dirty="0"/>
              <a:t>catch (final </a:t>
            </a:r>
            <a:r>
              <a:rPr lang="en-CA" dirty="0" err="1"/>
              <a:t>IOException</a:t>
            </a:r>
            <a:r>
              <a:rPr lang="en-CA" dirty="0"/>
              <a:t> e) </a:t>
            </a:r>
          </a:p>
          <a:p>
            <a:pPr marL="0" indent="0">
              <a:buNone/>
            </a:pPr>
            <a:r>
              <a:rPr lang="en-CA" dirty="0"/>
              <a:t>{    </a:t>
            </a:r>
          </a:p>
          <a:p>
            <a:pPr marL="457200" lvl="1" indent="0">
              <a:buNone/>
            </a:pPr>
            <a:r>
              <a:rPr lang="en-CA" sz="2800" dirty="0" err="1"/>
              <a:t>e.printStackTrace</a:t>
            </a:r>
            <a:r>
              <a:rPr lang="en-CA" sz="2800" dirty="0"/>
              <a:t>();</a:t>
            </a:r>
          </a:p>
          <a:p>
            <a:pPr marL="0" indent="0">
              <a:buNone/>
            </a:pPr>
            <a:r>
              <a:rPr lang="en-CA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7401-5778-DBCD-A151-788FE344C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70E5E-4E6A-3F56-AFBD-33A66FAF4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6687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AEFD-6EFA-D3C5-9D7C-E16A52C9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Very Large Files, and try-with-resources 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C4B5A-3504-F2F3-EF90-0E0125DFC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Instead of loading all lines into memory, read huge files line by line with </a:t>
            </a:r>
            <a:r>
              <a:rPr lang="en-US" dirty="0" err="1"/>
              <a:t>BufferedReader</a:t>
            </a:r>
            <a:r>
              <a:rPr lang="en-US" dirty="0"/>
              <a:t>.</a:t>
            </a:r>
          </a:p>
          <a:p>
            <a:r>
              <a:rPr lang="en-US" dirty="0"/>
              <a:t>Best Practice: Use </a:t>
            </a:r>
            <a:r>
              <a:rPr lang="en-US" b="1" dirty="0"/>
              <a:t>try-with-resources</a:t>
            </a:r>
            <a:r>
              <a:rPr lang="en-US" dirty="0"/>
              <a:t> to automatically close streams.</a:t>
            </a:r>
            <a:endParaRPr lang="en-CA" dirty="0"/>
          </a:p>
          <a:p>
            <a:endParaRPr lang="en-US" dirty="0"/>
          </a:p>
          <a:p>
            <a:r>
              <a:rPr lang="en-US" dirty="0"/>
              <a:t>try (</a:t>
            </a:r>
            <a:r>
              <a:rPr lang="en-US" dirty="0" err="1"/>
              <a:t>BufferedReader</a:t>
            </a:r>
            <a:r>
              <a:rPr lang="en-US" dirty="0"/>
              <a:t> reader = </a:t>
            </a:r>
            <a:r>
              <a:rPr lang="en-US" dirty="0" err="1"/>
              <a:t>Files.newBufferedReader</a:t>
            </a:r>
            <a:r>
              <a:rPr lang="en-US" dirty="0"/>
              <a:t>(path)) </a:t>
            </a:r>
            <a:br>
              <a:rPr lang="en-US" dirty="0"/>
            </a:br>
            <a:r>
              <a:rPr lang="en-US" dirty="0"/>
              <a:t>{    </a:t>
            </a:r>
            <a:br>
              <a:rPr lang="en-US" dirty="0"/>
            </a:br>
            <a:r>
              <a:rPr lang="en-US" dirty="0"/>
              <a:t>    String line;    </a:t>
            </a:r>
            <a:br>
              <a:rPr lang="en-US" dirty="0"/>
            </a:br>
            <a:r>
              <a:rPr lang="en-US" dirty="0"/>
              <a:t>    while ((line = </a:t>
            </a:r>
            <a:r>
              <a:rPr lang="en-US" dirty="0" err="1"/>
              <a:t>reader.readLine</a:t>
            </a:r>
            <a:r>
              <a:rPr lang="en-US" dirty="0"/>
              <a:t>()) != null) </a:t>
            </a:r>
            <a:br>
              <a:rPr lang="en-US" dirty="0"/>
            </a:br>
            <a:r>
              <a:rPr lang="en-US" dirty="0"/>
              <a:t>    {        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(line);    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 </a:t>
            </a:r>
            <a:br>
              <a:rPr lang="en-US" dirty="0"/>
            </a:br>
            <a:r>
              <a:rPr lang="en-US" dirty="0"/>
              <a:t>catch (final </a:t>
            </a:r>
            <a:r>
              <a:rPr lang="en-US" dirty="0" err="1"/>
              <a:t>IOException</a:t>
            </a:r>
            <a:r>
              <a:rPr lang="en-US" dirty="0"/>
              <a:t> e) </a:t>
            </a:r>
            <a:br>
              <a:rPr lang="en-US" dirty="0"/>
            </a:br>
            <a:r>
              <a:rPr lang="en-US" dirty="0"/>
              <a:t>{    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e.printStackTrace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}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85744-2897-B7A6-3CAE-96C063E80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59901-DEE0-9E36-AED3-3006CAC9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538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578F-3D84-7BCE-9EBC-7D5A988AC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Writing/Appending Text </a:t>
            </a:r>
            <a:r>
              <a:rPr lang="en-US" dirty="0" err="1"/>
              <a:t>fo</a:t>
            </a:r>
            <a:r>
              <a:rPr lang="en-US" dirty="0"/>
              <a:t> a File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7BC7D-B630-EF88-CF4F-FD4CDACAB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229" y="1825625"/>
            <a:ext cx="11367081" cy="4351338"/>
          </a:xfrm>
        </p:spPr>
        <p:txBody>
          <a:bodyPr>
            <a:normAutofit fontScale="70000" lnSpcReduction="20000"/>
          </a:bodyPr>
          <a:lstStyle/>
          <a:p>
            <a:r>
              <a:rPr lang="en-CA" dirty="0"/>
              <a:t>Writing to a File:</a:t>
            </a:r>
          </a:p>
          <a:p>
            <a:r>
              <a:rPr lang="en-CA" dirty="0"/>
              <a:t>List&lt;String&gt; lines = </a:t>
            </a:r>
            <a:r>
              <a:rPr lang="en-CA" dirty="0" err="1"/>
              <a:t>Arrays.asList</a:t>
            </a:r>
            <a:r>
              <a:rPr lang="en-CA" dirty="0"/>
              <a:t>("First line", "Second line");</a:t>
            </a:r>
          </a:p>
          <a:p>
            <a:endParaRPr lang="en-CA" dirty="0"/>
          </a:p>
          <a:p>
            <a:r>
              <a:rPr lang="en-CA" dirty="0"/>
              <a:t>The next instruction overwrites the files if it exists:</a:t>
            </a:r>
          </a:p>
          <a:p>
            <a:r>
              <a:rPr lang="en-CA" dirty="0" err="1"/>
              <a:t>Files.write</a:t>
            </a:r>
            <a:r>
              <a:rPr lang="en-CA" dirty="0"/>
              <a:t>(path, lines, </a:t>
            </a:r>
            <a:r>
              <a:rPr lang="en-CA" dirty="0" err="1"/>
              <a:t>StandardOpenOption.CREATE</a:t>
            </a:r>
            <a:r>
              <a:rPr lang="en-CA" dirty="0"/>
              <a:t>);</a:t>
            </a:r>
          </a:p>
          <a:p>
            <a:r>
              <a:rPr lang="en-CA" dirty="0" err="1"/>
              <a:t>Files.writeString</a:t>
            </a:r>
            <a:r>
              <a:rPr lang="en-CA" dirty="0"/>
              <a:t>(path, "one string, one line", </a:t>
            </a:r>
            <a:r>
              <a:rPr lang="en-CA" dirty="0" err="1"/>
              <a:t>StandardOpenOption.CREATE</a:t>
            </a:r>
            <a:r>
              <a:rPr lang="en-CA" dirty="0"/>
              <a:t>);</a:t>
            </a:r>
          </a:p>
          <a:p>
            <a:endParaRPr lang="en-CA" dirty="0"/>
          </a:p>
          <a:p>
            <a:r>
              <a:rPr lang="en-CA" dirty="0"/>
              <a:t>Best Practice: Use </a:t>
            </a:r>
            <a:r>
              <a:rPr lang="en-CA" dirty="0" err="1"/>
              <a:t>StandardOpenOption</a:t>
            </a:r>
            <a:r>
              <a:rPr lang="en-CA" dirty="0"/>
              <a:t> to control file behavior (e.g., prevent accidental overwrite).</a:t>
            </a:r>
          </a:p>
          <a:p>
            <a:r>
              <a:rPr lang="en-CA" dirty="0" err="1"/>
              <a:t>Files.write</a:t>
            </a:r>
            <a:r>
              <a:rPr lang="en-CA" dirty="0"/>
              <a:t>(path, lines, </a:t>
            </a:r>
            <a:r>
              <a:rPr lang="en-CA" dirty="0" err="1"/>
              <a:t>StandardOpenOption.CREATE</a:t>
            </a:r>
            <a:r>
              <a:rPr lang="en-CA" dirty="0"/>
              <a:t>, </a:t>
            </a:r>
            <a:r>
              <a:rPr lang="en-CA" dirty="0" err="1"/>
              <a:t>StandardOpenOption.APPEND</a:t>
            </a:r>
            <a:r>
              <a:rPr lang="en-CA" dirty="0"/>
              <a:t>);</a:t>
            </a:r>
          </a:p>
          <a:p>
            <a:endParaRPr lang="en-CA" dirty="0"/>
          </a:p>
          <a:p>
            <a:r>
              <a:rPr lang="en-CA" dirty="0"/>
              <a:t>Appending Text to an </a:t>
            </a:r>
            <a:r>
              <a:rPr lang="en-CA" u="sng" dirty="0"/>
              <a:t>existing</a:t>
            </a:r>
            <a:r>
              <a:rPr lang="en-CA" dirty="0"/>
              <a:t> file:</a:t>
            </a:r>
          </a:p>
          <a:p>
            <a:r>
              <a:rPr lang="en-CA" dirty="0" err="1"/>
              <a:t>Files.write</a:t>
            </a:r>
            <a:r>
              <a:rPr lang="en-CA" dirty="0"/>
              <a:t>(path, lines, </a:t>
            </a:r>
            <a:r>
              <a:rPr lang="en-CA" dirty="0" err="1"/>
              <a:t>StandardOpenOption.APPEND</a:t>
            </a:r>
            <a:r>
              <a:rPr lang="en-CA" dirty="0"/>
              <a:t>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7A8E2F-693C-FAE9-548E-48E733F0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69112-75C3-1B18-3CE7-A113A06D6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5002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F2CC-016C-693E-653A-7EA64E9A0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Moving Files and Directories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7A0EE-4FE5-F004-E331-16876320C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CA"/>
              <a:t>Moving a File:</a:t>
            </a:r>
          </a:p>
          <a:p>
            <a:r>
              <a:rPr lang="en-CA"/>
              <a:t>Path source = Paths.get("file.txt");</a:t>
            </a:r>
          </a:p>
          <a:p>
            <a:r>
              <a:rPr lang="en-CA"/>
              <a:t>Path target = Paths.get("newDir/file.txt");</a:t>
            </a:r>
          </a:p>
          <a:p>
            <a:r>
              <a:rPr lang="en-CA"/>
              <a:t>Files.move(source, target);</a:t>
            </a:r>
          </a:p>
          <a:p>
            <a:r>
              <a:rPr lang="en-CA"/>
              <a:t>Best Practice: Check if the target file already exists, handle conflicts.</a:t>
            </a:r>
          </a:p>
          <a:p>
            <a:endParaRPr lang="en-CA"/>
          </a:p>
          <a:p>
            <a:r>
              <a:rPr lang="en-CA"/>
              <a:t>Overwriting Target:</a:t>
            </a:r>
          </a:p>
          <a:p>
            <a:r>
              <a:rPr lang="en-CA"/>
              <a:t>Files.move(source, target, StandardCopyOption.REPLACE_EXISTING);</a:t>
            </a:r>
          </a:p>
          <a:p>
            <a:endParaRPr lang="en-CA"/>
          </a:p>
          <a:p>
            <a:r>
              <a:rPr lang="en-CA"/>
              <a:t>Moving a Directory:</a:t>
            </a:r>
          </a:p>
          <a:p>
            <a:r>
              <a:rPr lang="en-CA"/>
              <a:t>Path dirSource = Paths.get("dir");</a:t>
            </a:r>
          </a:p>
          <a:p>
            <a:r>
              <a:rPr lang="en-CA"/>
              <a:t>Path dirTarget = Paths.get("newDir");</a:t>
            </a:r>
          </a:p>
          <a:p>
            <a:r>
              <a:rPr lang="en-CA"/>
              <a:t>Files.move(dirSource, dirTarget);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6D9019-1405-4B3C-78F5-936082B43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3BAC3-7BAF-6E48-3321-B21E74FC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2536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F2CC-016C-693E-653A-7EA64E9A0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Copying Files and Directories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7A0EE-4FE5-F004-E331-16876320C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/>
              <a:t>Copying a File:</a:t>
            </a:r>
          </a:p>
          <a:p>
            <a:r>
              <a:rPr lang="en-CA"/>
              <a:t>Path source = Paths.get("file.txt");</a:t>
            </a:r>
          </a:p>
          <a:p>
            <a:r>
              <a:rPr lang="en-CA"/>
              <a:t>Path target = Paths.get("copy.txt");</a:t>
            </a:r>
          </a:p>
          <a:p>
            <a:r>
              <a:rPr lang="en-CA"/>
              <a:t>Files.copy(source, target);</a:t>
            </a:r>
          </a:p>
          <a:p>
            <a:r>
              <a:rPr lang="en-CA"/>
              <a:t>Best Practice: Use StandardCopyOption to handle overwriting and copying attributes.</a:t>
            </a:r>
          </a:p>
          <a:p>
            <a:r>
              <a:rPr lang="en-CA"/>
              <a:t>Files.copy(source, target, StandardCopyOption.REPLACE_EXISTING);</a:t>
            </a:r>
          </a:p>
          <a:p>
            <a:r>
              <a:rPr lang="en-CA"/>
              <a:t>Copying a Directory: Requires recursive copy (not simple with Files.copy).</a:t>
            </a:r>
          </a:p>
          <a:p>
            <a:r>
              <a:rPr lang="en-CA"/>
              <a:t>Best Practice: Use a method to recursively copy directory contents (advanced topic).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0912C-D805-E1CD-2D91-66F0D79D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E6313-BD95-2142-FBB0-33A373953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4079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F2CC-016C-693E-653A-7EA64E9A0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Deleting Files and Directories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7A0EE-4FE5-F004-E331-16876320C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/>
              <a:t>Deleting a File:</a:t>
            </a:r>
          </a:p>
          <a:p>
            <a:r>
              <a:rPr lang="en-CA"/>
              <a:t>Files.delete(Paths.get("file.txt"));</a:t>
            </a:r>
          </a:p>
          <a:p>
            <a:r>
              <a:rPr lang="en-CA"/>
              <a:t>Best Practice: Check if the file exists before deleting, handle exceptions (e.g., NoSuchFileException).</a:t>
            </a:r>
          </a:p>
          <a:p>
            <a:r>
              <a:rPr lang="en-CA"/>
              <a:t>try {    </a:t>
            </a:r>
          </a:p>
          <a:p>
            <a:r>
              <a:rPr lang="en-CA"/>
              <a:t>    Files.delete(path);</a:t>
            </a:r>
          </a:p>
          <a:p>
            <a:r>
              <a:rPr lang="en-CA"/>
              <a:t>} catch (final NoSuchFileException e) {    </a:t>
            </a:r>
          </a:p>
          <a:p>
            <a:r>
              <a:rPr lang="en-CA"/>
              <a:t>    System.out.println("File not found");</a:t>
            </a:r>
          </a:p>
          <a:p>
            <a:r>
              <a:rPr lang="en-CA"/>
              <a:t>}</a:t>
            </a:r>
          </a:p>
          <a:p>
            <a:r>
              <a:rPr lang="en-CA"/>
              <a:t>Deleting a Directory: Must be empty before deletion.</a:t>
            </a:r>
          </a:p>
          <a:p>
            <a:r>
              <a:rPr lang="en-CA"/>
              <a:t>Files.delete(Paths.get("emptyDir"));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89E57D-6B0B-1513-9C6F-CDE420EB1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631B9B-A7FF-CFB1-93F1-6887CE5E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3919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0CBC-121B-3DD5-C63C-95FE48618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Reading/Writing Binary Files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CC262-F769-6EB0-49A5-90F546442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740"/>
            <a:ext cx="10515600" cy="5250730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import </a:t>
            </a:r>
            <a:r>
              <a:rPr lang="en-CA" dirty="0" err="1"/>
              <a:t>java.nio.file</a:t>
            </a:r>
            <a:r>
              <a:rPr lang="en-CA" dirty="0"/>
              <a:t>.*;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import </a:t>
            </a:r>
            <a:r>
              <a:rPr lang="en-CA" dirty="0" err="1"/>
              <a:t>java.io.IOException</a:t>
            </a:r>
            <a:r>
              <a:rPr lang="en-CA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public class </a:t>
            </a:r>
            <a:r>
              <a:rPr lang="en-CA" dirty="0" err="1"/>
              <a:t>BinaryFileExample</a:t>
            </a:r>
            <a:r>
              <a:rPr lang="en-CA" dirty="0"/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public static void main(String[] </a:t>
            </a:r>
            <a:r>
              <a:rPr lang="en-CA" dirty="0" err="1"/>
              <a:t>args</a:t>
            </a:r>
            <a:r>
              <a:rPr lang="en-CA" dirty="0"/>
              <a:t>) throws </a:t>
            </a:r>
            <a:r>
              <a:rPr lang="en-CA" dirty="0" err="1"/>
              <a:t>IOException</a:t>
            </a:r>
            <a:r>
              <a:rPr lang="en-CA" dirty="0"/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Path </a:t>
            </a:r>
            <a:r>
              <a:rPr lang="en-CA" dirty="0" err="1"/>
              <a:t>path</a:t>
            </a:r>
            <a:r>
              <a:rPr lang="en-CA" dirty="0"/>
              <a:t> = </a:t>
            </a:r>
            <a:r>
              <a:rPr lang="en-CA" dirty="0" err="1"/>
              <a:t>Paths.get</a:t>
            </a:r>
            <a:r>
              <a:rPr lang="en-CA" dirty="0"/>
              <a:t>("</a:t>
            </a:r>
            <a:r>
              <a:rPr lang="en-CA" dirty="0" err="1"/>
              <a:t>binaryfile.bin</a:t>
            </a:r>
            <a:r>
              <a:rPr lang="en-CA" dirty="0"/>
              <a:t>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// Data to write (a simple byte array)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byte[] </a:t>
            </a:r>
            <a:r>
              <a:rPr lang="en-CA" dirty="0" err="1"/>
              <a:t>dataToWrite</a:t>
            </a:r>
            <a:r>
              <a:rPr lang="en-CA" dirty="0"/>
              <a:t> = { 1, 2, 3, 4, 5 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// Writing binary 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</a:t>
            </a:r>
            <a:r>
              <a:rPr lang="en-CA" dirty="0" err="1"/>
              <a:t>Files.write</a:t>
            </a:r>
            <a:r>
              <a:rPr lang="en-CA" dirty="0"/>
              <a:t>(path, </a:t>
            </a:r>
            <a:r>
              <a:rPr lang="en-CA" dirty="0" err="1"/>
              <a:t>dataToWrite</a:t>
            </a:r>
            <a:r>
              <a:rPr lang="en-CA" dirty="0"/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// Reading binary data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byte[] </a:t>
            </a:r>
            <a:r>
              <a:rPr lang="en-CA" dirty="0" err="1"/>
              <a:t>dataRead</a:t>
            </a:r>
            <a:r>
              <a:rPr lang="en-CA" dirty="0"/>
              <a:t> = </a:t>
            </a:r>
            <a:r>
              <a:rPr lang="en-CA" dirty="0" err="1"/>
              <a:t>Files.readAllBytes</a:t>
            </a:r>
            <a:r>
              <a:rPr lang="en-CA" dirty="0"/>
              <a:t>(path);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// Output read data to verify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for (byte b : </a:t>
            </a:r>
            <a:r>
              <a:rPr lang="en-CA" dirty="0" err="1"/>
              <a:t>dataRead</a:t>
            </a:r>
            <a:r>
              <a:rPr lang="en-CA" dirty="0"/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    </a:t>
            </a:r>
            <a:r>
              <a:rPr lang="en-CA" dirty="0" err="1"/>
              <a:t>System.out.print</a:t>
            </a:r>
            <a:r>
              <a:rPr lang="en-CA" dirty="0"/>
              <a:t>(b + " 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See the next slide for a real-life application of this: copying an image from one file to another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40BB38-6465-9B77-4D2A-A208F309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C840A-5074-6D5C-C1B2-77D8DE0E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1441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2CEF-0B6F-8964-DB0D-35425372A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CA" dirty="0"/>
              <a:t>copying an image from </a:t>
            </a:r>
            <a:br>
              <a:rPr lang="en-CA" dirty="0"/>
            </a:br>
            <a:r>
              <a:rPr lang="en-CA" dirty="0"/>
              <a:t>one file to another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F8C81-FB25-0535-47AD-3BDF35285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670"/>
            <a:ext cx="10515600" cy="5941293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import </a:t>
            </a:r>
            <a:r>
              <a:rPr lang="en-CA" dirty="0" err="1"/>
              <a:t>java.nio.file</a:t>
            </a:r>
            <a:r>
              <a:rPr lang="en-CA" dirty="0"/>
              <a:t>.*;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import </a:t>
            </a:r>
            <a:r>
              <a:rPr lang="en-CA" dirty="0" err="1"/>
              <a:t>java.io.IOException</a:t>
            </a:r>
            <a:r>
              <a:rPr lang="en-CA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public class </a:t>
            </a:r>
            <a:r>
              <a:rPr lang="en-CA" dirty="0" err="1"/>
              <a:t>CopyImageExample</a:t>
            </a:r>
            <a:r>
              <a:rPr lang="en-CA" dirty="0"/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public static void main(final String[] </a:t>
            </a:r>
            <a:r>
              <a:rPr lang="en-CA" dirty="0" err="1"/>
              <a:t>args</a:t>
            </a:r>
            <a:r>
              <a:rPr lang="en-CA" dirty="0"/>
              <a:t>) throws </a:t>
            </a:r>
            <a:r>
              <a:rPr lang="en-CA" dirty="0" err="1"/>
              <a:t>IOException</a:t>
            </a:r>
            <a:r>
              <a:rPr lang="en-CA" dirty="0"/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// Path to the original image (source)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Path source = </a:t>
            </a:r>
            <a:r>
              <a:rPr lang="en-CA" dirty="0" err="1"/>
              <a:t>Paths.get</a:t>
            </a:r>
            <a:r>
              <a:rPr lang="en-CA" dirty="0"/>
              <a:t>("sourceImage.jpg");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// Path where the image will be copied (destination)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Path destination = </a:t>
            </a:r>
            <a:r>
              <a:rPr lang="en-CA" dirty="0" err="1"/>
              <a:t>Paths.get</a:t>
            </a:r>
            <a:r>
              <a:rPr lang="en-CA" dirty="0"/>
              <a:t>("copiedImage.jpg");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// Copy the binary image file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</a:t>
            </a:r>
            <a:r>
              <a:rPr lang="en-CA" dirty="0" err="1"/>
              <a:t>Files.copy</a:t>
            </a:r>
            <a:r>
              <a:rPr lang="en-CA" dirty="0"/>
              <a:t>(source, destination, </a:t>
            </a:r>
            <a:r>
              <a:rPr lang="en-CA" dirty="0" err="1"/>
              <a:t>StandardCopyOption.REPLACE_EXISTING</a:t>
            </a:r>
            <a:r>
              <a:rPr lang="en-CA" dirty="0"/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// Verify by reading a few bytes from the copied file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byte[] </a:t>
            </a:r>
            <a:r>
              <a:rPr lang="en-CA" dirty="0" err="1"/>
              <a:t>dataRead</a:t>
            </a:r>
            <a:r>
              <a:rPr lang="en-CA" dirty="0"/>
              <a:t> = </a:t>
            </a:r>
            <a:r>
              <a:rPr lang="en-CA" dirty="0" err="1"/>
              <a:t>Files.readAllBytes</a:t>
            </a:r>
            <a:r>
              <a:rPr lang="en-CA" dirty="0"/>
              <a:t>(destination);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// Output the first few bytes to ensure the file was copied correctly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</a:t>
            </a:r>
            <a:r>
              <a:rPr lang="en-CA" dirty="0" err="1"/>
              <a:t>System.out.println</a:t>
            </a:r>
            <a:r>
              <a:rPr lang="en-CA" dirty="0"/>
              <a:t>("First 5 bytes of the copied file:");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for (int </a:t>
            </a:r>
            <a:r>
              <a:rPr lang="en-CA" dirty="0" err="1"/>
              <a:t>i</a:t>
            </a:r>
            <a:r>
              <a:rPr lang="en-CA" dirty="0"/>
              <a:t> = 0; </a:t>
            </a:r>
            <a:r>
              <a:rPr lang="en-CA" dirty="0" err="1"/>
              <a:t>i</a:t>
            </a:r>
            <a:r>
              <a:rPr lang="en-CA" dirty="0"/>
              <a:t> &lt; 5; </a:t>
            </a:r>
            <a:r>
              <a:rPr lang="en-CA" dirty="0" err="1"/>
              <a:t>i</a:t>
            </a:r>
            <a:r>
              <a:rPr lang="en-CA" dirty="0"/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    </a:t>
            </a:r>
            <a:r>
              <a:rPr lang="en-CA" dirty="0" err="1"/>
              <a:t>System.out.print</a:t>
            </a:r>
            <a:r>
              <a:rPr lang="en-CA" dirty="0"/>
              <a:t>(</a:t>
            </a:r>
            <a:r>
              <a:rPr lang="en-CA" dirty="0" err="1"/>
              <a:t>dataRead</a:t>
            </a:r>
            <a:r>
              <a:rPr lang="en-CA" dirty="0"/>
              <a:t>[</a:t>
            </a:r>
            <a:r>
              <a:rPr lang="en-CA" dirty="0" err="1"/>
              <a:t>i</a:t>
            </a:r>
            <a:r>
              <a:rPr lang="en-CA" dirty="0"/>
              <a:t>] + " 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2E083-0C37-F2B2-8BEC-18DA8F9B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6825B-AC2C-5141-B0CD-B9DEDCA27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073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7D94-16A2-CEA6-44EE-4C68DCBB9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Practices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5D61-687D-CD58-0859-F55DC6C69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Always use Path for file system operations (modern, flexible).</a:t>
            </a:r>
          </a:p>
          <a:p>
            <a:r>
              <a:rPr lang="en-US"/>
              <a:t>Handle large files using streams (don’t load everything into memory).</a:t>
            </a:r>
          </a:p>
          <a:p>
            <a:r>
              <a:rPr lang="en-US"/>
              <a:t>Use try-with-resources to ensure resources are closed automatically.</a:t>
            </a:r>
          </a:p>
          <a:p>
            <a:r>
              <a:rPr lang="en-US"/>
              <a:t>Use StandardOpenOption to avoid accidental overwriting.</a:t>
            </a:r>
          </a:p>
          <a:p>
            <a:r>
              <a:rPr lang="en-US"/>
              <a:t>Always check if files/directories exist before operations like move, delete, and copy.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4057BE-BB44-F6E2-6F86-F9A2467B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6FF0E-2D53-52EF-582E-9C421DA4A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5411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1C65-187B-98AB-D4AC-4A4BA8A26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/>
              <a:t> Random, File, Game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34E96-3119-3DED-1D54-748B0A615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915"/>
            <a:ext cx="5181600" cy="662453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public class Game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public static void main(final String[] args)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final Random rand = new Random();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int target = rand.nextInt(1, 11); // Random number between 1 and 10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System.out.println("Guess between 1 and 10, or 'Q' to quit (in 'input.txt').");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try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// Read all guesses from the file once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final List&lt;String&gt; lines = Files.readAllLines(Paths.get("input.txt"));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for (String input : lines)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input = input.trim();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if (input.equalsIgnoreCase("Q"))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System.out.println("Game ended by user. Goodbye!");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try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// Attempt to parse the input as an integer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int guess = Integer.parseInt(input);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if (guess &lt; 1 || guess &gt; 10)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    System.out.println("Out of bounds! Guess between 1 and 10, not " + guess);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} else if (guess &lt; target)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    System.out.println("Higher than " + guess);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} else if (guess &gt; target)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    System.out.println("Lower than " + guess);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} else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    System.out.println("Correct! The number was " + target);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    target = rand.nextInt(10) + 1; // Generate a new target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    System.out.println("New number generated. Guess or type 'Q' to quit.");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} catch (final NumberFormatException e)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    System.out.printf("Invalid input (%s)! Please enter a number." + 	System.lineSeparator(),  input);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} catch (final IOException e)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    System.out.println("Error reading file: " + e.getMessage());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    System.out.println("The end.");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000"/>
              <a:t>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7EEA44-6932-0187-90E1-B62721AA7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2239"/>
            <a:ext cx="5181600" cy="4834724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Sample input.txt and sample output by Game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7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9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10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11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12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hello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whatever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quit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8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7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55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q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/>
              <a:t>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A93CC7C-5222-DA67-C3F8-54B8E8333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B852C71-3766-C8B1-2884-B88C91DC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16</a:t>
            </a:fld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21D5AF-1AFF-2B81-947C-ABAFAC07D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489" y="1690688"/>
            <a:ext cx="4800874" cy="487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79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EB905-D6B4-CEBE-781F-98EF15CB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90568"/>
          </a:xfrm>
        </p:spPr>
        <p:txBody>
          <a:bodyPr/>
          <a:lstStyle/>
          <a:p>
            <a:pPr algn="r"/>
            <a:r>
              <a:rPr lang="en-US"/>
              <a:t>Random, Keyboard, Game</a:t>
            </a:r>
            <a:endParaRPr lang="en-CA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C91B98-860A-324B-3C15-005E2EBEA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336"/>
            <a:ext cx="10515600" cy="6476301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public class Game3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public static void main(final String[] args)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final Random rand = new Random();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int target = rand.nextInt(1, 11);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System.out.println("Guess a number between 1 and 10, or type 'Q' to quit.");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// Initialize Scanner to read from the keyboard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try (Scanner scanner = </a:t>
            </a:r>
            <a:r>
              <a:rPr lang="en-CA" b="1"/>
              <a:t>new Scanner(System.in))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while (true)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System.out.print("Enter your guess: 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String input = scanner.</a:t>
            </a:r>
            <a:r>
              <a:rPr lang="en-CA" b="1"/>
              <a:t>nextLine()</a:t>
            </a:r>
            <a:r>
              <a:rPr lang="en-CA"/>
              <a:t>.trim();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// Check if the user wants to quit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if (input.equalsIgnoreCase("Q"))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System.out.println("Game ended by user. Goodbye!");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break;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try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// Attempt to parse the input as an integer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int guess = Integer.parseInt(input);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if (guess &lt; 1 || guess &gt; 10)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    System.out.println("Out of bounds! Guess a number between 1 and 10, not " + guess);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} else if (guess &lt; target)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    System.out.println("Higher than " + guess);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} else if (guess &gt; target)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    System.out.println("Lower than " + guess);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} else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    System.out.println("Correct! The number was " + target);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    target = rand.nextInt(1, 11); // Generate a new target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    System.out.println("New number generated. Continue guessing or type 'Q' to quit.");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} catch (final NumberFormatException e)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    System.out.printf("Invalid input (%s)! Please enter a number." + System.lineSeparator(), input);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    System.out.println("The end.");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D76B2-C450-3B37-BE42-01AEF310A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Lesson 8: IO, Scanner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DFF09-BEE5-934F-91CB-DF71D274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7D78-6BD8-4B20-85EE-78057F342A6D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4491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7745</TotalTime>
  <Words>2340</Words>
  <Application>Microsoft Office PowerPoint</Application>
  <PresentationFormat>Widescreen</PresentationFormat>
  <Paragraphs>302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COMP2522 Lesson 8</vt:lpstr>
      <vt:lpstr>File Input/Output </vt:lpstr>
      <vt:lpstr>Path and Files</vt:lpstr>
      <vt:lpstr>Path</vt:lpstr>
      <vt:lpstr>Creating Files (and Directories)</vt:lpstr>
      <vt:lpstr>Nested Directories</vt:lpstr>
      <vt:lpstr>Reading All (Small) Text File Lines at Once</vt:lpstr>
      <vt:lpstr>Very Large Files, and try-with-resources </vt:lpstr>
      <vt:lpstr>Writing/Appending Text fo a File</vt:lpstr>
      <vt:lpstr>Moving Files and Directories</vt:lpstr>
      <vt:lpstr>Copying Files and Directories</vt:lpstr>
      <vt:lpstr>Deleting Files and Directories</vt:lpstr>
      <vt:lpstr>Reading/Writing Binary Files</vt:lpstr>
      <vt:lpstr>copying an image from  one file to another</vt:lpstr>
      <vt:lpstr>Best Practices</vt:lpstr>
      <vt:lpstr> Random, File, Game</vt:lpstr>
      <vt:lpstr>Random, Keyboard, Game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Wilder</dc:creator>
  <cp:lastModifiedBy>Jason Wilder</cp:lastModifiedBy>
  <cp:revision>170</cp:revision>
  <dcterms:created xsi:type="dcterms:W3CDTF">2024-10-23T17:29:32Z</dcterms:created>
  <dcterms:modified xsi:type="dcterms:W3CDTF">2026-01-08T17:51:59Z</dcterms:modified>
</cp:coreProperties>
</file>