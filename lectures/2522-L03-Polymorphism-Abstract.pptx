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56" r:id="rId2"/>
    <p:sldId id="260" r:id="rId3"/>
    <p:sldId id="425" r:id="rId4"/>
    <p:sldId id="429" r:id="rId5"/>
    <p:sldId id="436" r:id="rId6"/>
    <p:sldId id="431" r:id="rId7"/>
    <p:sldId id="480" r:id="rId8"/>
    <p:sldId id="452" r:id="rId9"/>
    <p:sldId id="453" r:id="rId10"/>
    <p:sldId id="455" r:id="rId11"/>
    <p:sldId id="456" r:id="rId12"/>
    <p:sldId id="454" r:id="rId13"/>
    <p:sldId id="457" r:id="rId14"/>
    <p:sldId id="458" r:id="rId15"/>
    <p:sldId id="459" r:id="rId16"/>
    <p:sldId id="460" r:id="rId17"/>
    <p:sldId id="461" r:id="rId18"/>
    <p:sldId id="47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945D7-C2FA-48F3-81BF-CD78DD6419D2}" type="datetimeFigureOut">
              <a:rPr lang="en-CA" smtClean="0"/>
              <a:t>2025-09-18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5AA1D-B28E-488C-B445-1A67343104D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331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F27B-DA63-41EA-ABB0-CEDE40D42714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537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E9D0D-832F-4D7A-A2A8-7FB60C958DAE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630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4FB4-5A86-480A-9004-A6FF77B802B5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374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AE1-BF20-45AC-99D2-D76426E61F3F}" type="datetime1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1991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11EF-C06E-4AA5-933C-79EBBAABDA9B}" type="datetime1">
              <a:rPr lang="en-CA" smtClean="0"/>
              <a:t>2025-09-18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250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9C27-C819-4760-BCEC-28532163CF83}" type="datetime1">
              <a:rPr lang="en-CA" smtClean="0"/>
              <a:t>2025-09-18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858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A74F-7BB1-4CAC-851D-840FCD25E214}" type="datetime1">
              <a:rPr lang="en-CA" smtClean="0"/>
              <a:t>2025-09-18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269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8CA0-7AC8-4174-A860-760AEDF1D532}" type="datetime1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043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2F6E4-43B2-4842-92CE-B82CE89F6F75}" type="datetime1">
              <a:rPr lang="en-CA" smtClean="0"/>
              <a:t>2025-09-18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8363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531D-0448-4430-B49A-86EF1C822D62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5968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A5634-E477-4391-91C0-9FEA674F9C99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6000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63F6F1A-E2D0-4E14-80C4-72EACEC16734}" type="datetime1">
              <a:rPr lang="en-CA" smtClean="0"/>
              <a:t>2025-09-18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E78010A-F1FA-4F89-872C-6CFBD54432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2525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A89C-C740-4421-2747-0C420D70E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COMP2522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FFFAD-7F20-F25F-EE51-B0FB30DF6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3: final, abstract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7620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FE16-524B-B7E7-7636-D9925794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3 Topics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06AC5-E903-1183-CDE9-4DBBF1C22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 Methods</a:t>
            </a:r>
            <a:endParaRPr lang="en-CA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 Classes</a:t>
            </a:r>
            <a:endParaRPr lang="en-CA" sz="18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Overriding .equals() method</a:t>
            </a:r>
          </a:p>
          <a:p>
            <a:r>
              <a:rPr lang="en-US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Abstract methods</a:t>
            </a:r>
          </a:p>
          <a:p>
            <a:r>
              <a:rPr lang="en-US" sz="1800" kern="100">
                <a:latin typeface="Aptos" panose="020B0004020202020204" pitchFamily="34" charset="0"/>
                <a:cs typeface="Times New Roman" panose="02020603050405020304" pitchFamily="18" charset="0"/>
              </a:rPr>
              <a:t>Abstract classes</a:t>
            </a:r>
            <a:endParaRPr lang="en-US" sz="18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17327-2958-1C1C-CB83-E4E99634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54FC9-7FA3-9D15-7EF4-B08D0333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707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9349-C3C5-F175-0642-21793090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3D6DB-721A-33F9-D0F6-EBD76DF6C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final Animal a;</a:t>
            </a:r>
          </a:p>
          <a:p>
            <a:r>
              <a:rPr lang="en-US"/>
              <a:t>a = new Dog();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at compile time, a is an Animal </a:t>
            </a:r>
          </a:p>
          <a:p>
            <a:r>
              <a:rPr lang="en-US"/>
              <a:t>at run time, a is a Dog</a:t>
            </a:r>
          </a:p>
          <a:p>
            <a:endParaRPr lang="en-US"/>
          </a:p>
          <a:p>
            <a:r>
              <a:rPr lang="en-US"/>
              <a:t>a's static type is "Animal"; its dynamic type is "Dog"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0772E-70B4-BF18-BEC4-CA576375D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8BA59-3E91-49D4-8890-0C8A4773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791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F1CB-6312-4F68-A4FC-F075E80B9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Runtime vs. Compile Time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884C2-46BA-48A9-B928-F8B672A10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9E35D-8E1A-87F6-0C8D-D24F1809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4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C75F73-903B-45DA-B74D-C4839412B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8" y="1207902"/>
            <a:ext cx="10136692" cy="49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71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CA" dirty="0"/>
              <a:t>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600201"/>
            <a:ext cx="8856984" cy="4525963"/>
          </a:xfrm>
        </p:spPr>
        <p:txBody>
          <a:bodyPr>
            <a:normAutofit/>
          </a:bodyPr>
          <a:lstStyle/>
          <a:p>
            <a:r>
              <a:rPr lang="en-CA" dirty="0"/>
              <a:t>Polymorphism is the dynamic (runtime) lookup of methods</a:t>
            </a:r>
          </a:p>
          <a:p>
            <a:r>
              <a:rPr lang="en-CA" dirty="0"/>
              <a:t>The three pillars of Polymorphism: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CA"/>
              <a:t>Inheritance		class Dog extends Mammal</a:t>
            </a:r>
            <a:endParaRPr lang="en-CA" dirty="0"/>
          </a:p>
          <a:p>
            <a:pPr marL="971550" lvl="1" indent="-514350">
              <a:buFont typeface="+mj-lt"/>
              <a:buAutoNum type="arabicPeriod"/>
            </a:pPr>
            <a:r>
              <a:rPr lang="en-CA"/>
              <a:t>Substitution		Mammal m = new Dog()</a:t>
            </a:r>
            <a:endParaRPr lang="en-CA" dirty="0"/>
          </a:p>
          <a:p>
            <a:pPr marL="971550" lvl="1" indent="-514350">
              <a:buFont typeface="+mj-lt"/>
              <a:buAutoNum type="arabicPeriod"/>
            </a:pPr>
            <a:r>
              <a:rPr lang="en-CA"/>
              <a:t>Overriding		m.speak() // "woof"</a:t>
            </a:r>
            <a:endParaRPr lang="en-CA" dirty="0"/>
          </a:p>
          <a:p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Static</a:t>
            </a:r>
            <a:r>
              <a:rPr lang="en-CA" dirty="0"/>
              <a:t> type checks are performed by the compiler</a:t>
            </a:r>
          </a:p>
          <a:p>
            <a:r>
              <a:rPr lang="en-CA" b="1" dirty="0">
                <a:solidFill>
                  <a:schemeClr val="accent1">
                    <a:lumMod val="75000"/>
                  </a:schemeClr>
                </a:solidFill>
              </a:rPr>
              <a:t>Dynamic</a:t>
            </a:r>
            <a:r>
              <a:rPr lang="en-CA" dirty="0"/>
              <a:t> type </a:t>
            </a:r>
            <a:r>
              <a:rPr lang="en-CA"/>
              <a:t>checks are performed </a:t>
            </a:r>
            <a:r>
              <a:rPr lang="en-CA" dirty="0"/>
              <a:t>by the JRE</a:t>
            </a:r>
          </a:p>
          <a:p>
            <a:pPr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0FB58-C578-70D3-BAA0-BAF48353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812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CA"/>
              <a:t>"final"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P</a:t>
            </a:r>
            <a:r>
              <a:rPr lang="en-CA"/>
              <a:t>revents </a:t>
            </a:r>
            <a:r>
              <a:rPr lang="en-CA" dirty="0"/>
              <a:t>subclasses from overriding that method</a:t>
            </a:r>
          </a:p>
          <a:p>
            <a:r>
              <a:rPr lang="en-CA" dirty="0"/>
              <a:t>O</a:t>
            </a:r>
            <a:r>
              <a:rPr lang="en-CA"/>
              <a:t>ften</a:t>
            </a:r>
            <a:r>
              <a:rPr lang="en-CA" dirty="0"/>
              <a:t>, a parent </a:t>
            </a:r>
            <a:r>
              <a:rPr lang="en-CA"/>
              <a:t>class's setter methods </a:t>
            </a:r>
            <a:r>
              <a:rPr lang="en-CA" dirty="0"/>
              <a:t>are </a:t>
            </a:r>
            <a:r>
              <a:rPr lang="en-CA"/>
              <a:t>declared final, to </a:t>
            </a:r>
            <a:r>
              <a:rPr lang="en-CA" dirty="0"/>
              <a:t>ensure that </a:t>
            </a:r>
            <a:r>
              <a:rPr lang="en-CA" u="sng"/>
              <a:t>only that class</a:t>
            </a:r>
            <a:r>
              <a:rPr lang="en-CA"/>
              <a:t> </a:t>
            </a:r>
            <a:r>
              <a:rPr lang="en-CA" dirty="0"/>
              <a:t>can mutate its own fields, on its </a:t>
            </a:r>
            <a:r>
              <a:rPr lang="en-CA"/>
              <a:t>own terms (its own rules)</a:t>
            </a:r>
            <a:endParaRPr lang="en-CA" dirty="0"/>
          </a:p>
          <a:p>
            <a:r>
              <a:rPr lang="en-CA"/>
              <a:t>Subclasses </a:t>
            </a:r>
            <a:r>
              <a:rPr lang="en-CA" dirty="0"/>
              <a:t>should never be able to "directly" change a superclass field except via super() calls in the constructor</a:t>
            </a:r>
          </a:p>
          <a:p>
            <a:r>
              <a:rPr lang="en-CA"/>
              <a:t>Subclass </a:t>
            </a:r>
            <a:r>
              <a:rPr lang="en-CA" dirty="0"/>
              <a:t>setters should likewise be made final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95E57B-91AC-015A-9319-23560AEEA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566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0BED4-F663-61EC-7912-831D6265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8709-E562-84C2-3CE2-68519B77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CA"/>
              <a:t>"final"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EF2D-F8AE-B871-C25C-292A76A91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P</a:t>
            </a:r>
            <a:r>
              <a:rPr lang="en-CA"/>
              <a:t>revents </a:t>
            </a:r>
            <a:r>
              <a:rPr lang="en-CA" dirty="0"/>
              <a:t>subclasses </a:t>
            </a:r>
            <a:r>
              <a:rPr lang="en-CA"/>
              <a:t>from created</a:t>
            </a:r>
          </a:p>
          <a:p>
            <a:r>
              <a:rPr lang="en-CA"/>
              <a:t>A final class cannot be extended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3DFE4-0E80-BDC9-F874-CA8C3E9B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1F9D4-286C-139F-1313-8264A99A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8767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700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equals</a:t>
            </a:r>
            <a:r>
              <a:rPr lang="en-US"/>
              <a:t>()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7968"/>
            <a:ext cx="10515600" cy="5453507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</a:pPr>
            <a:r>
              <a:rPr lang="en-US"/>
              <a:t>https://docs.oracle.com/en/java/javase/22/docs/api/java.base/java/lang/Object.html#equals(java.lang.Object)</a:t>
            </a:r>
          </a:p>
          <a:p>
            <a:pPr>
              <a:spcBef>
                <a:spcPts val="0"/>
              </a:spcBef>
            </a:pPr>
            <a:endParaRPr lang="en-US"/>
          </a:p>
          <a:p>
            <a:pPr>
              <a:spcBef>
                <a:spcPts val="0"/>
              </a:spcBef>
            </a:pPr>
            <a:r>
              <a:rPr lang="en-US"/>
              <a:t>When </a:t>
            </a:r>
            <a:r>
              <a:rPr lang="en-US" dirty="0"/>
              <a:t>comparing objects, Java (or a developer) can call its equals</a:t>
            </a:r>
            <a:r>
              <a:rPr lang="en-US"/>
              <a:t>() method</a:t>
            </a: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The Object class has an equals() method, which simply returns whether the two objects have the </a:t>
            </a:r>
            <a:r>
              <a:rPr lang="en-US"/>
              <a:t>same address; i</a:t>
            </a:r>
            <a:r>
              <a:rPr lang="en-US" dirty="0"/>
              <a:t>.e., is the parameter object actually </a:t>
            </a:r>
            <a:r>
              <a:rPr lang="en-US" i="1" dirty="0"/>
              <a:t>the same object</a:t>
            </a:r>
            <a:r>
              <a:rPr lang="en-US" dirty="0"/>
              <a:t> </a:t>
            </a:r>
            <a:r>
              <a:rPr lang="en-US"/>
              <a:t>as "this"; </a:t>
            </a:r>
            <a:r>
              <a:rPr lang="en-US" dirty="0"/>
              <a:t>in other words it acts the same </a:t>
            </a:r>
            <a:r>
              <a:rPr lang="en-US"/>
              <a:t>as ==</a:t>
            </a: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Note: do not use == with Strings (or other objects) unless  you really do want to </a:t>
            </a:r>
            <a:r>
              <a:rPr lang="en-US"/>
              <a:t>compare addresses</a:t>
            </a: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/>
              <a:t>It is often overridden so that we can determine what we mean by "these objects are equal":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@Override</a:t>
            </a:r>
            <a:br>
              <a:rPr lang="en-US" dirty="0"/>
            </a:br>
            <a:r>
              <a:rPr lang="en-US" dirty="0"/>
              <a:t>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/>
              <a:t>equals(final Object o)</a:t>
            </a:r>
            <a:br>
              <a:rPr lang="en-US"/>
            </a:br>
            <a:r>
              <a:rPr lang="en-US"/>
              <a:t>{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if(o == null){</a:t>
            </a:r>
            <a:br>
              <a:rPr lang="en-US" b="1" dirty="0"/>
            </a:br>
            <a:r>
              <a:rPr lang="en-US" b="1" dirty="0"/>
              <a:t>		return false;	// </a:t>
            </a:r>
            <a:r>
              <a:rPr lang="en-US" b="1" u="sng" dirty="0"/>
              <a:t>this</a:t>
            </a:r>
            <a:r>
              <a:rPr lang="en-US" b="1" dirty="0"/>
              <a:t> is definitely not equal to null</a:t>
            </a:r>
            <a:br>
              <a:rPr lang="en-US" b="1" dirty="0"/>
            </a:br>
            <a:r>
              <a:rPr lang="en-US" b="1" dirty="0"/>
              <a:t>	}</a:t>
            </a:r>
            <a:br>
              <a:rPr lang="en-US" dirty="0"/>
            </a:br>
            <a:r>
              <a:rPr lang="en-US" dirty="0"/>
              <a:t>	if(!(</a:t>
            </a:r>
            <a:r>
              <a:rPr lang="en-US" dirty="0" err="1"/>
              <a:t>o.getClass</a:t>
            </a:r>
            <a:r>
              <a:rPr lang="en-US" dirty="0"/>
              <a:t>().equals(</a:t>
            </a:r>
            <a:r>
              <a:rPr lang="en-US" dirty="0" err="1"/>
              <a:t>this.getClass</a:t>
            </a:r>
            <a:r>
              <a:rPr lang="en-US" dirty="0"/>
              <a:t>()))){		</a:t>
            </a:r>
            <a:r>
              <a:rPr lang="en-US" b="1" dirty="0"/>
              <a:t>// or </a:t>
            </a:r>
            <a:r>
              <a:rPr lang="en-US" b="1" dirty="0" err="1"/>
              <a:t>instanceof</a:t>
            </a:r>
            <a:br>
              <a:rPr lang="en-US" dirty="0"/>
            </a:br>
            <a:r>
              <a:rPr lang="en-US" dirty="0"/>
              <a:t>		return false; 	// </a:t>
            </a:r>
            <a:r>
              <a:rPr lang="en-US"/>
              <a:t>these aren’t even </a:t>
            </a:r>
            <a:r>
              <a:rPr lang="en-US" dirty="0"/>
              <a:t>the </a:t>
            </a:r>
            <a:r>
              <a:rPr lang="en-US"/>
              <a:t>same class!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	// now return true if and only </a:t>
            </a:r>
            <a:r>
              <a:rPr lang="en-US"/>
              <a:t>if </a:t>
            </a:r>
            <a:r>
              <a:rPr lang="en-US" u="sng"/>
              <a:t>your</a:t>
            </a:r>
            <a:r>
              <a:rPr lang="en-US"/>
              <a:t> criteria are satisfied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C6C2-72AD-4F79-8100-E9BAF9FA25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06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hashCode</a:t>
            </a:r>
            <a:r>
              <a:rPr lang="en-US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840" y="1825625"/>
            <a:ext cx="10774960" cy="4351338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Whenever you override equals(), you </a:t>
            </a:r>
            <a:r>
              <a:rPr lang="en-US" b="1" i="1" dirty="0"/>
              <a:t>must </a:t>
            </a:r>
            <a:r>
              <a:rPr lang="en-US" b="1" dirty="0"/>
              <a:t>also override </a:t>
            </a:r>
            <a:r>
              <a:rPr lang="en-US" b="1" err="1"/>
              <a:t>hashCode</a:t>
            </a:r>
            <a:r>
              <a:rPr lang="en-US" b="1"/>
              <a:t>()</a:t>
            </a:r>
          </a:p>
          <a:p>
            <a:pPr>
              <a:spcBef>
                <a:spcPts val="0"/>
              </a:spcBef>
            </a:pPr>
            <a:endParaRPr lang="en-US" b="1" dirty="0"/>
          </a:p>
          <a:p>
            <a:pPr>
              <a:spcBef>
                <a:spcPts val="0"/>
              </a:spcBef>
            </a:pPr>
            <a:r>
              <a:rPr lang="en-US" b="1" dirty="0"/>
              <a:t>An </a:t>
            </a:r>
            <a:r>
              <a:rPr lang="en-US" b="1"/>
              <a:t>object must </a:t>
            </a:r>
            <a:r>
              <a:rPr lang="en-US" b="1" dirty="0"/>
              <a:t>return the same </a:t>
            </a:r>
            <a:r>
              <a:rPr lang="en-US" b="1" dirty="0" err="1"/>
              <a:t>hashCode</a:t>
            </a:r>
            <a:r>
              <a:rPr lang="en-US" b="1" dirty="0"/>
              <a:t> if called multiple times in running </a:t>
            </a:r>
            <a:r>
              <a:rPr lang="en-US" b="1"/>
              <a:t>an application</a:t>
            </a:r>
          </a:p>
          <a:p>
            <a:pPr>
              <a:spcBef>
                <a:spcPts val="0"/>
              </a:spcBef>
            </a:pPr>
            <a:endParaRPr lang="en-US" b="1" dirty="0"/>
          </a:p>
          <a:p>
            <a:pPr>
              <a:spcBef>
                <a:spcPts val="0"/>
              </a:spcBef>
            </a:pPr>
            <a:r>
              <a:rPr lang="en-US" dirty="0"/>
              <a:t>The Object class has a </a:t>
            </a:r>
            <a:r>
              <a:rPr lang="en-US" dirty="0" err="1"/>
              <a:t>hashCode</a:t>
            </a:r>
            <a:r>
              <a:rPr lang="en-US" dirty="0"/>
              <a:t>() method, which simply returns a hash of the </a:t>
            </a:r>
            <a:r>
              <a:rPr lang="en-US"/>
              <a:t>object’s address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It can be overridden: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@Override</a:t>
            </a:r>
            <a:br>
              <a:rPr lang="en-US" dirty="0"/>
            </a:br>
            <a:r>
              <a:rPr lang="en-US" dirty="0"/>
              <a:t>public int </a:t>
            </a:r>
            <a:r>
              <a:rPr lang="en-US" dirty="0" err="1"/>
              <a:t>hashCode</a:t>
            </a:r>
            <a:r>
              <a:rPr lang="en-US" dirty="0"/>
              <a:t>(){</a:t>
            </a:r>
            <a:br>
              <a:rPr lang="en-US" dirty="0"/>
            </a:br>
            <a:r>
              <a:rPr lang="en-US" dirty="0"/>
              <a:t>	// let the IDE override this for </a:t>
            </a:r>
            <a:r>
              <a:rPr lang="en-US"/>
              <a:t>our sake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b="1"/>
              <a:t>Important Rule</a:t>
            </a:r>
            <a:r>
              <a:rPr lang="en-US" b="1" dirty="0"/>
              <a:t>: </a:t>
            </a:r>
            <a:r>
              <a:rPr lang="en-US" b="1" u="sng" dirty="0"/>
              <a:t>equal objects</a:t>
            </a:r>
            <a:r>
              <a:rPr lang="en-US" b="1" dirty="0"/>
              <a:t> must return </a:t>
            </a:r>
            <a:r>
              <a:rPr lang="en-US" b="1" u="sng"/>
              <a:t>equal hashCodes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C6C2-72AD-4F79-8100-E9BAF9FA255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38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abstract method has no body at all</a:t>
            </a:r>
          </a:p>
          <a:p>
            <a:endParaRPr lang="en-US" dirty="0"/>
          </a:p>
          <a:p>
            <a:r>
              <a:rPr lang="en-US" dirty="0"/>
              <a:t>"</a:t>
            </a:r>
            <a:r>
              <a:rPr lang="en-US"/>
              <a:t>I </a:t>
            </a:r>
            <a:r>
              <a:rPr lang="en-US" dirty="0"/>
              <a:t>won’t tell you what to do, but my </a:t>
            </a:r>
            <a:r>
              <a:rPr lang="en-US"/>
              <a:t>children </a:t>
            </a:r>
            <a:r>
              <a:rPr lang="en-US" u="sng"/>
              <a:t>must</a:t>
            </a:r>
            <a:r>
              <a:rPr lang="en-US" u="sng" dirty="0"/>
              <a:t>"</a:t>
            </a:r>
            <a:endParaRPr lang="en-US" dirty="0"/>
          </a:p>
          <a:p>
            <a:endParaRPr lang="en-US" dirty="0"/>
          </a:p>
          <a:p>
            <a:r>
              <a:rPr lang="en-US" dirty="0"/>
              <a:t>public </a:t>
            </a:r>
            <a:r>
              <a:rPr lang="en-US" u="sng" dirty="0"/>
              <a:t>abstract</a:t>
            </a:r>
            <a:r>
              <a:rPr lang="en-US" dirty="0"/>
              <a:t> void move</a:t>
            </a:r>
            <a:r>
              <a:rPr lang="en-US"/>
              <a:t>()</a:t>
            </a:r>
            <a:r>
              <a:rPr lang="en-US" b="1"/>
              <a:t>;</a:t>
            </a:r>
            <a:r>
              <a:rPr lang="en-US"/>
              <a:t> 			// </a:t>
            </a:r>
            <a:r>
              <a:rPr lang="en-US" dirty="0"/>
              <a:t>no curly braces {}</a:t>
            </a:r>
          </a:p>
          <a:p>
            <a:pPr marL="0" indent="0">
              <a:buNone/>
            </a:pPr>
            <a:r>
              <a:rPr lang="en-US"/>
              <a:t>  </a:t>
            </a:r>
            <a:r>
              <a:rPr lang="en-US" dirty="0"/>
              <a:t> </a:t>
            </a:r>
            <a:r>
              <a:rPr lang="en-US"/>
              <a:t>or</a:t>
            </a:r>
            <a:endParaRPr lang="en-US" dirty="0"/>
          </a:p>
          <a:p>
            <a:r>
              <a:rPr lang="en-US" dirty="0"/>
              <a:t>public </a:t>
            </a:r>
            <a:r>
              <a:rPr lang="en-US" u="sng" dirty="0"/>
              <a:t>abstract</a:t>
            </a:r>
            <a:r>
              <a:rPr lang="en-US" dirty="0"/>
              <a:t> void </a:t>
            </a:r>
            <a:r>
              <a:rPr lang="en-US"/>
              <a:t>move(int </a:t>
            </a:r>
            <a:r>
              <a:rPr lang="en-US" dirty="0"/>
              <a:t>x, String y)</a:t>
            </a:r>
            <a:r>
              <a:rPr lang="en-US" b="1" dirty="0"/>
              <a:t>;</a:t>
            </a:r>
            <a:r>
              <a:rPr lang="en-US" dirty="0"/>
              <a:t> // no curly braces {}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C6C2-72AD-4F79-8100-E9BAF9FA25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94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If a class has one or more abstract methods, the class MUST be declared abstract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abstract class cannot have objects made of it; it is just an </a:t>
            </a:r>
            <a:r>
              <a:rPr lang="en-US" i="1" dirty="0"/>
              <a:t>idea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a class to be concrete (i.e. not abstract; objects CAN be made of it), that class must implement (override) all parent (grandparent, etc…) methods which were abstract. In other words, if a parent has abstract methods, and its child doesn’t override them, the </a:t>
            </a:r>
            <a:r>
              <a:rPr lang="en-US"/>
              <a:t>child and the parent both must be abstract classes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C6C2-72AD-4F79-8100-E9BAF9FA25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83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9F49-B35C-C15B-2D63-E206EE04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Abstract: Just an Idea (not an object)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2D2E0-7F77-EA30-2A62-386C4396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751D7-C738-6B3E-F70E-0ED846D8A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C6C2-72AD-4F79-8100-E9BAF9FA2556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2F1AD0-07F9-A811-DC51-03D6BA5BF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51" y="1421122"/>
            <a:ext cx="943927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3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9017"/>
            <a:ext cx="10515600" cy="481794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Any class that we know so far, at any time, can be made abstract</a:t>
            </a:r>
          </a:p>
          <a:p>
            <a:r>
              <a:rPr lang="en-US" dirty="0"/>
              <a:t>EXCEPT </a:t>
            </a:r>
            <a:r>
              <a:rPr lang="en-US"/>
              <a:t>final classes</a:t>
            </a:r>
          </a:p>
          <a:p>
            <a:r>
              <a:rPr lang="en-US"/>
              <a:t>A final class means "no class can extend this one"</a:t>
            </a:r>
          </a:p>
          <a:p>
            <a:r>
              <a:rPr lang="en-US"/>
              <a:t>Example: try extending the java.lang.String class (you can't)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opposite of an abstract class is a concrete class</a:t>
            </a:r>
          </a:p>
          <a:p>
            <a:endParaRPr lang="en-US" dirty="0"/>
          </a:p>
          <a:p>
            <a:r>
              <a:rPr lang="en-US" dirty="0"/>
              <a:t>An abstract class can contain:</a:t>
            </a:r>
          </a:p>
          <a:p>
            <a:pPr marL="0" indent="0">
              <a:buNone/>
            </a:pPr>
            <a:r>
              <a:rPr lang="en-US"/>
              <a:t>-  only </a:t>
            </a:r>
            <a:r>
              <a:rPr lang="en-US" dirty="0"/>
              <a:t>abstract methods, e.g. public abstract void foo()</a:t>
            </a:r>
            <a:r>
              <a:rPr lang="en-US" b="1" dirty="0"/>
              <a:t>;</a:t>
            </a:r>
          </a:p>
          <a:p>
            <a:pPr>
              <a:buFontTx/>
              <a:buChar char="-"/>
            </a:pPr>
            <a:r>
              <a:rPr lang="en-US"/>
              <a:t>only </a:t>
            </a:r>
            <a:r>
              <a:rPr lang="en-US" dirty="0"/>
              <a:t>concrete methods, e.g. public void </a:t>
            </a:r>
            <a:r>
              <a:rPr lang="en-US"/>
              <a:t>foo()</a:t>
            </a:r>
            <a:r>
              <a:rPr lang="en-US" b="1"/>
              <a:t>{}</a:t>
            </a:r>
          </a:p>
          <a:p>
            <a:pPr>
              <a:buFontTx/>
              <a:buChar char="-"/>
            </a:pPr>
            <a:r>
              <a:rPr lang="en-US" sz="2900"/>
              <a:t>a </a:t>
            </a:r>
            <a:r>
              <a:rPr lang="en-US" sz="2900" dirty="0"/>
              <a:t>mix of abstract and </a:t>
            </a:r>
            <a:r>
              <a:rPr lang="en-US" sz="2900"/>
              <a:t>concrete methods</a:t>
            </a:r>
          </a:p>
          <a:p>
            <a:pPr>
              <a:buFontTx/>
              <a:buChar char="-"/>
            </a:pPr>
            <a:r>
              <a:rPr lang="en-US" sz="2900"/>
              <a:t>no methods</a:t>
            </a:r>
          </a:p>
          <a:p>
            <a:pPr>
              <a:buFontTx/>
              <a:buChar char="-"/>
            </a:pPr>
            <a:r>
              <a:rPr lang="en-US" sz="2900"/>
              <a:t>instance </a:t>
            </a:r>
            <a:r>
              <a:rPr lang="en-US" sz="2900" dirty="0"/>
              <a:t>variables, statics</a:t>
            </a:r>
            <a:r>
              <a:rPr lang="en-US" sz="2900"/>
              <a:t>, constants</a:t>
            </a:r>
          </a:p>
          <a:p>
            <a:pPr>
              <a:buFontTx/>
              <a:buChar char="-"/>
            </a:pPr>
            <a:r>
              <a:rPr lang="en-US" sz="2900"/>
              <a:t>constructors</a:t>
            </a:r>
            <a:endParaRPr lang="en-US" sz="29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C6C2-72AD-4F79-8100-E9BAF9FA255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3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a parent class contains </a:t>
            </a:r>
            <a:r>
              <a:rPr lang="en-US" b="1" dirty="0"/>
              <a:t>public abstract void foo();</a:t>
            </a:r>
          </a:p>
          <a:p>
            <a:r>
              <a:rPr lang="en-US" dirty="0"/>
              <a:t>…that class </a:t>
            </a:r>
            <a:r>
              <a:rPr lang="en-US" u="sng" dirty="0"/>
              <a:t>must be</a:t>
            </a:r>
            <a:r>
              <a:rPr lang="en-US" dirty="0"/>
              <a:t> abstract</a:t>
            </a:r>
          </a:p>
          <a:p>
            <a:r>
              <a:rPr lang="en-US" dirty="0"/>
              <a:t>…the child class will also be abstract unless/until it implements foo(): public void foo()</a:t>
            </a:r>
            <a:r>
              <a:rPr lang="en-US" b="1" dirty="0"/>
              <a:t>{}</a:t>
            </a:r>
          </a:p>
          <a:p>
            <a:endParaRPr lang="en-US" dirty="0"/>
          </a:p>
          <a:p>
            <a:r>
              <a:rPr lang="en-US" dirty="0"/>
              <a:t>No object can be created of any class that has any abstract methods that have not been implemented (in that class or any </a:t>
            </a:r>
            <a:r>
              <a:rPr lang="en-US"/>
              <a:t>ancestor)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C6C2-72AD-4F79-8100-E9BAF9FA255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76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505" y="1825625"/>
            <a:ext cx="11635529" cy="4351338"/>
          </a:xfrm>
        </p:spPr>
        <p:txBody>
          <a:bodyPr>
            <a:normAutofit/>
          </a:bodyPr>
          <a:lstStyle/>
          <a:p>
            <a:r>
              <a:rPr lang="en-US" dirty="0"/>
              <a:t>We put abstract methods into a parent class so that Java has a </a:t>
            </a:r>
            <a:r>
              <a:rPr lang="en-US" u="sng" dirty="0"/>
              <a:t>guarantee</a:t>
            </a:r>
            <a:r>
              <a:rPr lang="en-US" dirty="0"/>
              <a:t> that all subclasses definitely inherit and (eventually) implement that method</a:t>
            </a:r>
          </a:p>
          <a:p>
            <a:r>
              <a:rPr lang="en-US" dirty="0"/>
              <a:t>Any time you have an object, you know that all abstract parent methods </a:t>
            </a:r>
            <a:r>
              <a:rPr lang="en-US" i="1" dirty="0"/>
              <a:t>must have </a:t>
            </a:r>
            <a:r>
              <a:rPr lang="en-US" i="1"/>
              <a:t>been </a:t>
            </a:r>
            <a:r>
              <a:rPr lang="en-US"/>
              <a:t>implemented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e.g</a:t>
            </a:r>
            <a:r>
              <a:rPr lang="en-US" dirty="0"/>
              <a:t> Database class: abstract methods for open, close, connect, query….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C6C2-72AD-4F79-8100-E9BAF9FA255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05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117" y="1825625"/>
            <a:ext cx="1154325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Consider an abstract parent class A that contains an </a:t>
            </a:r>
            <a:r>
              <a:rPr lang="en-US" b="1" dirty="0"/>
              <a:t>abstract method foo()</a:t>
            </a:r>
          </a:p>
          <a:p>
            <a:r>
              <a:rPr lang="en-US" dirty="0"/>
              <a:t>Any child class of A:</a:t>
            </a:r>
          </a:p>
          <a:p>
            <a:pPr>
              <a:buFontTx/>
              <a:buChar char="-"/>
            </a:pPr>
            <a:r>
              <a:rPr lang="en-US" dirty="0"/>
              <a:t>must be abstract too</a:t>
            </a:r>
          </a:p>
          <a:p>
            <a:pPr>
              <a:buFontTx/>
              <a:buChar char="-"/>
            </a:pPr>
            <a:r>
              <a:rPr lang="en-US" dirty="0"/>
              <a:t>or</a:t>
            </a:r>
          </a:p>
          <a:p>
            <a:pPr>
              <a:buFontTx/>
              <a:buChar char="-"/>
            </a:pPr>
            <a:r>
              <a:rPr lang="en-US" dirty="0"/>
              <a:t>must implement (override) foo()</a:t>
            </a:r>
          </a:p>
          <a:p>
            <a:pPr>
              <a:buFontTx/>
              <a:buChar char="-"/>
            </a:pPr>
            <a:r>
              <a:rPr lang="en-US" dirty="0"/>
              <a:t>or</a:t>
            </a:r>
          </a:p>
          <a:p>
            <a:pPr>
              <a:buFontTx/>
              <a:buChar char="-"/>
            </a:pPr>
            <a:r>
              <a:rPr lang="en-US" dirty="0"/>
              <a:t>both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YOU CANNOT HAVE AN OBJECT THAT HAS AN </a:t>
            </a:r>
            <a:r>
              <a:rPr lang="en-US"/>
              <a:t>UNDEFINED METHOD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C6C2-72AD-4F79-8100-E9BAF9FA255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84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Example:</a:t>
            </a:r>
          </a:p>
          <a:p>
            <a:r>
              <a:rPr lang="en-US" dirty="0" err="1"/>
              <a:t>ChessPiece</a:t>
            </a:r>
            <a:r>
              <a:rPr lang="en-US" dirty="0"/>
              <a:t> could be an abstract parent class</a:t>
            </a:r>
          </a:p>
          <a:p>
            <a:r>
              <a:rPr lang="en-US" dirty="0"/>
              <a:t>Pawn would be a concrete child class</a:t>
            </a:r>
          </a:p>
          <a:p>
            <a:endParaRPr lang="en-US" dirty="0"/>
          </a:p>
          <a:p>
            <a:r>
              <a:rPr lang="en-US" dirty="0"/>
              <a:t>Sport could be an abstract parent class</a:t>
            </a:r>
          </a:p>
          <a:p>
            <a:r>
              <a:rPr lang="en-US" dirty="0"/>
              <a:t>Ice Hockey would be a concrete </a:t>
            </a:r>
            <a:r>
              <a:rPr lang="en-US"/>
              <a:t>child class</a:t>
            </a:r>
            <a:endParaRPr lang="en-US" dirty="0"/>
          </a:p>
          <a:p>
            <a:endParaRPr lang="en-US"/>
          </a:p>
          <a:p>
            <a:r>
              <a:rPr lang="en-US"/>
              <a:t>Weather could be an abstract class</a:t>
            </a:r>
          </a:p>
          <a:p>
            <a:r>
              <a:rPr lang="en-US"/>
              <a:t>Rain would be a concrete child class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C6C2-72AD-4F79-8100-E9BAF9FA255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95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B035-C138-1335-243D-63EFE921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 with Static Methods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55F55-7F60-8082-6128-A9FE272D7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796"/>
            <a:ext cx="10515600" cy="51265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Another useful abstract class is for it </a:t>
            </a:r>
            <a:r>
              <a:rPr lang="en-US" u="sng" dirty="0"/>
              <a:t>to act as a container for static methods</a:t>
            </a:r>
          </a:p>
          <a:p>
            <a:r>
              <a:rPr lang="en-US" dirty="0"/>
              <a:t>No object is required</a:t>
            </a:r>
          </a:p>
          <a:p>
            <a:r>
              <a:rPr lang="en-US" dirty="0"/>
              <a:t>Let's make a static recursive method to perform multiplication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abstract class Math{</a:t>
            </a:r>
          </a:p>
          <a:p>
            <a:pPr marL="0" indent="0">
              <a:buNone/>
            </a:pPr>
            <a:r>
              <a:rPr lang="en-US" dirty="0"/>
              <a:t> public static int </a:t>
            </a:r>
            <a:r>
              <a:rPr lang="en-US" dirty="0" err="1"/>
              <a:t>recMultiply</a:t>
            </a:r>
            <a:r>
              <a:rPr lang="en-US" dirty="0"/>
              <a:t>(final int a,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final int b) {</a:t>
            </a:r>
          </a:p>
          <a:p>
            <a:pPr marL="0" indent="0">
              <a:buNone/>
            </a:pPr>
            <a:r>
              <a:rPr lang="en-US" dirty="0"/>
              <a:t>        if(b == 0) {</a:t>
            </a:r>
          </a:p>
          <a:p>
            <a:pPr marL="0" indent="0">
              <a:buNone/>
            </a:pPr>
            <a:r>
              <a:rPr lang="en-US" dirty="0"/>
              <a:t>            return 0;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return a + </a:t>
            </a:r>
            <a:r>
              <a:rPr lang="en-US" dirty="0" err="1"/>
              <a:t>recMultiply</a:t>
            </a:r>
            <a:r>
              <a:rPr lang="en-US" dirty="0"/>
              <a:t>(a, b - 1);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/>
              <a:t>}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BF153-0001-71A1-BE62-1C8623823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2522 Lesson 3: final, abstract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4B0BF-7BD5-1F68-36B7-83F2BD52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10A-F1FA-4F89-872C-6CFBD5443299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580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388</TotalTime>
  <Words>1232</Words>
  <Application>Microsoft Office PowerPoint</Application>
  <PresentationFormat>Widescreen</PresentationFormat>
  <Paragraphs>168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COMP2522</vt:lpstr>
      <vt:lpstr>Lesson 3 Topics</vt:lpstr>
      <vt:lpstr>Review</vt:lpstr>
      <vt:lpstr>Runtime vs. Compile Time</vt:lpstr>
      <vt:lpstr>Review</vt:lpstr>
      <vt:lpstr>"final" Methods</vt:lpstr>
      <vt:lpstr>"final" Classes</vt:lpstr>
      <vt:lpstr>equals() Method</vt:lpstr>
      <vt:lpstr>hashCode() method</vt:lpstr>
      <vt:lpstr>Abstract methods</vt:lpstr>
      <vt:lpstr>Abstract classes</vt:lpstr>
      <vt:lpstr>Abstract: Just an Idea (not an object)</vt:lpstr>
      <vt:lpstr>Abstract</vt:lpstr>
      <vt:lpstr>Abstract</vt:lpstr>
      <vt:lpstr>Abstract</vt:lpstr>
      <vt:lpstr>Abstract</vt:lpstr>
      <vt:lpstr>Abstract</vt:lpstr>
      <vt:lpstr>Abstract Class with Static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Wilder</dc:creator>
  <cp:lastModifiedBy>Jason Wilder</cp:lastModifiedBy>
  <cp:revision>53</cp:revision>
  <dcterms:created xsi:type="dcterms:W3CDTF">2024-07-30T16:57:27Z</dcterms:created>
  <dcterms:modified xsi:type="dcterms:W3CDTF">2025-09-19T02:31:14Z</dcterms:modified>
</cp:coreProperties>
</file>