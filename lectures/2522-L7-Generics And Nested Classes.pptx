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08" r:id="rId4"/>
  </p:sldMasterIdLst>
  <p:notesMasterIdLst>
    <p:notesMasterId r:id="rId35"/>
  </p:notesMasterIdLst>
  <p:sldIdLst>
    <p:sldId id="256" r:id="rId5"/>
    <p:sldId id="258" r:id="rId6"/>
    <p:sldId id="291" r:id="rId7"/>
    <p:sldId id="290" r:id="rId8"/>
    <p:sldId id="294" r:id="rId9"/>
    <p:sldId id="293" r:id="rId10"/>
    <p:sldId id="295" r:id="rId11"/>
    <p:sldId id="284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12" r:id="rId24"/>
    <p:sldId id="307" r:id="rId25"/>
    <p:sldId id="308" r:id="rId26"/>
    <p:sldId id="309" r:id="rId27"/>
    <p:sldId id="310" r:id="rId28"/>
    <p:sldId id="311" r:id="rId29"/>
    <p:sldId id="313" r:id="rId30"/>
    <p:sldId id="315" r:id="rId31"/>
    <p:sldId id="314" r:id="rId32"/>
    <p:sldId id="316" r:id="rId33"/>
    <p:sldId id="317" r:id="rId34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E6FAC6-45CF-A682-964B-79FE60AD0E4C}" v="7" dt="2026-02-18T08:11:52.647"/>
    <p1510:client id="{E7E205CA-F711-4979-84DA-337951F7566B}" v="28" dt="2026-02-18T07:10:27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96286C3-CFF0-4CF3-BE0C-605F9F18A358}" type="datetimeFigureOut">
              <a:rPr lang="en-CA" smtClean="0"/>
              <a:pPr/>
              <a:t>2026-02-19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9E2EAC2-9E16-4734-96F6-BEF5BFEFD68D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1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A950152-720D-4A77-9AA3-DC8BFEF1F046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2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27AA4-4AAE-41E3-B75D-2CDAC3E9E318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4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697E482-C986-45B2-B48B-1A55B73242D4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1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6CA6-16C4-4720-BD05-9AA09583A30D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6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092F-E845-4A67-9041-50E15C668D2A}" type="datetime1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86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81FA5-ECED-4916-BCF1-A45ADDD7E3CD}" type="datetime1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6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EA10-730F-4F30-BD73-05315EE33E6A}" type="datetime1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77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A97D7-635E-4386-8D3A-07C30CBF52CB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14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C7C7-2C5A-4339-B194-1C3EFD3AFF38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13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EB630-9623-4DEC-AAD4-B6FE80B6F08F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60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F5B4B4C-E402-40EE-9425-FDF7FA96A3A6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39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7102E30-EA95-4997-B548-D202DC80CE28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8713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7FB4EB-00C5-4F0D-9907-8A56BC091A24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99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1358-E76D-46E1-9B7A-15C69D0E8D89}" type="datetime1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51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A78D-2346-4B33-A4DD-B4CAB667E603}" type="datetime1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4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D53C-DF8C-4508-A6AA-015BDE9BA3EC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665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43F231-9262-447A-AC38-A380666A9B18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r>
              <a:rPr lang="en-US"/>
              <a:t>COMP 2522 L11: Unit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1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C39AD-2128-4375-A398-8DEBB3B69AAD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 2522 L11: Unit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399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hf hd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E2D3-EDE1-4704-ADCC-245D2A807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603904"/>
            <a:ext cx="9448800" cy="1825096"/>
          </a:xfrm>
        </p:spPr>
        <p:txBody>
          <a:bodyPr>
            <a:normAutofit/>
          </a:bodyPr>
          <a:lstStyle/>
          <a:p>
            <a:r>
              <a:rPr lang="en-US"/>
              <a:t>COMP2522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7E24A-5517-46D0-9435-F20DC362D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9448800" cy="10186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Lesson 7: Generics &amp; Nested Classes </a:t>
            </a:r>
          </a:p>
          <a:p>
            <a:r>
              <a:rPr lang="en-US"/>
              <a:t>Grace, Mischa, Aika, Mayvee</a:t>
            </a:r>
          </a:p>
        </p:txBody>
      </p:sp>
    </p:spTree>
    <p:extLst>
      <p:ext uri="{BB962C8B-B14F-4D97-AF65-F5344CB8AC3E}">
        <p14:creationId xmlns:p14="http://schemas.microsoft.com/office/powerpoint/2010/main" val="380077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E49C5-FDA8-4C52-9EE2-4A8A3BFFC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21D62-7608-475E-9EEE-800FE9DC4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/>
              <a:t>What are generics?</a:t>
            </a:r>
          </a:p>
          <a:p>
            <a:r>
              <a:rPr lang="en-US"/>
              <a:t>Generics allow you to write classes, interfaces, and methods that work with ANY data type</a:t>
            </a:r>
          </a:p>
          <a:p>
            <a:r>
              <a:rPr lang="en-US"/>
              <a:t>Instead of writing separate code for each type, you parameterize the type itself</a:t>
            </a:r>
          </a:p>
          <a:p>
            <a:r>
              <a:rPr lang="en-US"/>
              <a:t>Maintains safety at compile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EE60F0-D5F3-4D08-89FF-90BE5B9CA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5AF6D-F255-4E2E-9133-074CFC6D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86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68DB6-E8AF-CF53-ED97-18A0D6B4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89D28-D385-EA17-FECC-8599B36E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91A32-EF8F-1659-D016-A6074498D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94560"/>
            <a:ext cx="5410200" cy="4024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500" b="1"/>
              <a:t>WITH Generics:</a:t>
            </a:r>
          </a:p>
          <a:p>
            <a:pPr marL="0" indent="0">
              <a:buNone/>
            </a:pPr>
            <a:endParaRPr lang="en-US" sz="2500"/>
          </a:p>
          <a:p>
            <a:pPr marL="0" indent="0">
              <a:buNone/>
            </a:pPr>
            <a:r>
              <a:rPr lang="en-US" sz="2500"/>
              <a:t>List</a:t>
            </a:r>
            <a:r>
              <a:rPr lang="en-US" sz="2500" b="1"/>
              <a:t>&lt;String&gt;</a:t>
            </a:r>
            <a:r>
              <a:rPr lang="en-US" sz="2500"/>
              <a:t> list = new ArrayList(); // declare the generic</a:t>
            </a:r>
          </a:p>
          <a:p>
            <a:pPr marL="0" indent="0">
              <a:buNone/>
            </a:pPr>
            <a:r>
              <a:rPr lang="en-US" sz="2500"/>
              <a:t>list.add(“hello”);</a:t>
            </a:r>
          </a:p>
          <a:p>
            <a:pPr marL="0" indent="0">
              <a:buNone/>
            </a:pPr>
            <a:r>
              <a:rPr lang="en-US" sz="2500"/>
              <a:t>String s = (String) </a:t>
            </a:r>
            <a:r>
              <a:rPr lang="en-US" sz="2500" err="1"/>
              <a:t>list.get</a:t>
            </a:r>
            <a:r>
              <a:rPr lang="en-US" sz="2500"/>
              <a:t>(0); </a:t>
            </a:r>
          </a:p>
          <a:p>
            <a:pPr marL="0" indent="0">
              <a:buNone/>
            </a:pPr>
            <a:endParaRPr lang="en-US" sz="2500"/>
          </a:p>
          <a:p>
            <a:pPr marL="0" indent="0">
              <a:buNone/>
            </a:pPr>
            <a:r>
              <a:rPr lang="en-US" sz="2500"/>
              <a:t>// NO cast needed as the compiler enforces the type when the list is </a:t>
            </a:r>
            <a:r>
              <a:rPr lang="en-US" sz="2500" err="1"/>
              <a:t>delcared</a:t>
            </a:r>
            <a:endParaRPr lang="en-US" sz="25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81399-7F5E-F581-D946-A94D4C79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4547B-8EE5-DAA2-C28B-B35991127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AB9730-8F3C-5F33-8CB3-A8C570167FCB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54102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b="1"/>
              <a:t>Non-Generic example: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5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500"/>
              <a:t>List </a:t>
            </a:r>
            <a:r>
              <a:rPr lang="en-US" sz="2500" err="1"/>
              <a:t>list</a:t>
            </a:r>
            <a:r>
              <a:rPr lang="en-US" sz="2500"/>
              <a:t> = new ArrayList();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500"/>
              <a:t>list.add(“hello”);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500"/>
              <a:t>String s = (String) </a:t>
            </a:r>
            <a:r>
              <a:rPr lang="en-US" sz="2500" err="1"/>
              <a:t>list.get</a:t>
            </a:r>
            <a:r>
              <a:rPr lang="en-US" sz="2500"/>
              <a:t>(0);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5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500"/>
              <a:t>// you have to manually cast to retrieve the type</a:t>
            </a:r>
          </a:p>
        </p:txBody>
      </p:sp>
    </p:spTree>
    <p:extLst>
      <p:ext uri="{BB962C8B-B14F-4D97-AF65-F5344CB8AC3E}">
        <p14:creationId xmlns:p14="http://schemas.microsoft.com/office/powerpoint/2010/main" val="2270341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1D07-77F9-7689-8AA8-39EB38EB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18564-B045-9351-582E-DD3ABBE1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GENERICS?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26A6E-20D3-3B4C-B112-DF534134C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/>
              <a:t>Don’t have to choose between code reuse and type safety</a:t>
            </a:r>
          </a:p>
          <a:p>
            <a:r>
              <a:rPr lang="en-US" sz="2500"/>
              <a:t>WITH generics, we can have BOTH</a:t>
            </a:r>
          </a:p>
          <a:p>
            <a:pPr marL="0" indent="0">
              <a:buNone/>
            </a:pPr>
            <a:endParaRPr lang="en-US" sz="2500"/>
          </a:p>
          <a:p>
            <a:r>
              <a:rPr lang="en-US" sz="2500" b="1"/>
              <a:t>Three main reasons:</a:t>
            </a:r>
          </a:p>
          <a:p>
            <a:pPr lvl="1"/>
            <a:r>
              <a:rPr lang="en-US" sz="2300"/>
              <a:t>Eliminates Unnecessary casting</a:t>
            </a:r>
          </a:p>
          <a:p>
            <a:pPr lvl="1"/>
            <a:r>
              <a:rPr lang="en-US" sz="2300"/>
              <a:t>Type safety</a:t>
            </a:r>
          </a:p>
          <a:p>
            <a:pPr lvl="1"/>
            <a:r>
              <a:rPr lang="en-US" sz="2300"/>
              <a:t>Reusing 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532CF-E45E-3865-5DE6-78FB95D9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60CA6-63FD-4907-2209-47529B401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78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DD47-1398-EFD8-C96E-1A2E2E918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D3907-DE23-388F-386E-09EAC6AEC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Eliminating unnecessary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2397D-CB3B-1415-6CE3-B7B7CCB14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81398"/>
            <a:ext cx="5410200" cy="2902432"/>
          </a:xfrm>
        </p:spPr>
        <p:txBody>
          <a:bodyPr>
            <a:normAutofit/>
          </a:bodyPr>
          <a:lstStyle/>
          <a:p>
            <a:r>
              <a:rPr lang="en-US" sz="2500"/>
              <a:t>Without generics, each get would require a cast, so Java knows what type it is</a:t>
            </a:r>
          </a:p>
          <a:p>
            <a:r>
              <a:rPr lang="en-US" sz="2500"/>
              <a:t>With generics, the compiler already knows the type</a:t>
            </a:r>
          </a:p>
          <a:p>
            <a:r>
              <a:rPr lang="en-US" sz="2500"/>
              <a:t>Cleaner and safer 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DEDEB-1367-1BA9-20D9-F69A2C57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48A4C4-8952-E013-67B4-FD9D1BF8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541707-134A-A0EE-E66A-8EA3A9B8F75E}"/>
              </a:ext>
            </a:extLst>
          </p:cNvPr>
          <p:cNvSpPr txBox="1">
            <a:spLocks/>
          </p:cNvSpPr>
          <p:nvPr/>
        </p:nvSpPr>
        <p:spPr>
          <a:xfrm>
            <a:off x="685800" y="1439520"/>
            <a:ext cx="5410200" cy="2543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NOT USING GENERICS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List </a:t>
            </a:r>
            <a:r>
              <a:rPr lang="en-US" err="1"/>
              <a:t>list</a:t>
            </a:r>
            <a:r>
              <a:rPr lang="en-US"/>
              <a:t> = new ArrayList();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list.add(“hello”);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String s = (String) </a:t>
            </a:r>
            <a:r>
              <a:rPr lang="en-US" err="1"/>
              <a:t>list.get</a:t>
            </a:r>
            <a:r>
              <a:rPr lang="en-US"/>
              <a:t>(0);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// cast every time you get a value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AEFAC3-C731-2931-D677-02D49C083D3B}"/>
              </a:ext>
            </a:extLst>
          </p:cNvPr>
          <p:cNvSpPr txBox="1">
            <a:spLocks/>
          </p:cNvSpPr>
          <p:nvPr/>
        </p:nvSpPr>
        <p:spPr>
          <a:xfrm>
            <a:off x="685799" y="4430620"/>
            <a:ext cx="6976241" cy="1854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USING GENERICS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List</a:t>
            </a:r>
            <a:r>
              <a:rPr lang="en-US" b="1"/>
              <a:t>&lt;String&gt; </a:t>
            </a:r>
            <a:r>
              <a:rPr lang="en-US"/>
              <a:t>list = new ArrayList();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String s = </a:t>
            </a:r>
            <a:r>
              <a:rPr lang="en-US" err="1"/>
              <a:t>list.get</a:t>
            </a:r>
            <a:r>
              <a:rPr lang="en-US"/>
              <a:t>(0);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// without casting because you KNOW it’s a string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4E5579-5501-0ACA-8FC3-ED838FB64029}"/>
              </a:ext>
            </a:extLst>
          </p:cNvPr>
          <p:cNvCxnSpPr/>
          <p:nvPr/>
        </p:nvCxnSpPr>
        <p:spPr>
          <a:xfrm>
            <a:off x="362607" y="4206622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283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6347C-FF56-7BD5-9BB9-9DEEB0C3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460C-FDFE-0B66-C6CD-907744B9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 Safety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8A607-5C9D-0F9C-95CB-C634373B8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42137"/>
            <a:ext cx="5410200" cy="2902432"/>
          </a:xfrm>
        </p:spPr>
        <p:txBody>
          <a:bodyPr>
            <a:normAutofit/>
          </a:bodyPr>
          <a:lstStyle/>
          <a:p>
            <a:r>
              <a:rPr lang="en-US" sz="2500"/>
              <a:t>With Generics, bugs get caught at compile time, not runtime</a:t>
            </a:r>
          </a:p>
          <a:p>
            <a:r>
              <a:rPr lang="en-US" sz="2500"/>
              <a:t>No </a:t>
            </a:r>
            <a:r>
              <a:rPr lang="en-US" sz="2500" err="1"/>
              <a:t>ClassCastExceptions</a:t>
            </a:r>
            <a:endParaRPr lang="en-US" sz="2500"/>
          </a:p>
          <a:p>
            <a:r>
              <a:rPr lang="en-US" sz="2500"/>
              <a:t>Makes for easy debugging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6FF2D-D326-2D59-855F-BE8B2A20D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69D81-B057-EE9E-B080-BD189C36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D3363D-9681-3079-5782-A6EF04448785}"/>
              </a:ext>
            </a:extLst>
          </p:cNvPr>
          <p:cNvSpPr txBox="1">
            <a:spLocks/>
          </p:cNvSpPr>
          <p:nvPr/>
        </p:nvSpPr>
        <p:spPr>
          <a:xfrm>
            <a:off x="685800" y="1439520"/>
            <a:ext cx="5410200" cy="2543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NOT USING GENERICS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List </a:t>
            </a:r>
            <a:r>
              <a:rPr lang="en-US" err="1"/>
              <a:t>list</a:t>
            </a:r>
            <a:r>
              <a:rPr lang="en-US"/>
              <a:t> = new ArrayList();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list.add(“hello”);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list.add(996); // can’t catch error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String s = (String) </a:t>
            </a:r>
            <a:r>
              <a:rPr lang="en-US" err="1"/>
              <a:t>list.get</a:t>
            </a:r>
            <a:r>
              <a:rPr lang="en-US"/>
              <a:t>(1);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// </a:t>
            </a:r>
            <a:r>
              <a:rPr lang="en-US" err="1"/>
              <a:t>ClassCastException</a:t>
            </a:r>
            <a:r>
              <a:rPr lang="en-US"/>
              <a:t> at runtime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992431-30D3-6219-6C47-2F3FE1103715}"/>
              </a:ext>
            </a:extLst>
          </p:cNvPr>
          <p:cNvSpPr txBox="1">
            <a:spLocks/>
          </p:cNvSpPr>
          <p:nvPr/>
        </p:nvSpPr>
        <p:spPr>
          <a:xfrm>
            <a:off x="685800" y="4430620"/>
            <a:ext cx="5410200" cy="185453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USING GENERICS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List</a:t>
            </a:r>
            <a:r>
              <a:rPr lang="en-US" b="1"/>
              <a:t>&lt;String&gt; </a:t>
            </a:r>
            <a:r>
              <a:rPr lang="en-US"/>
              <a:t>list = new ArrayList();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list.add(996);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// catches the error here at compile time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416F6A-522E-6E18-625F-10F2616CC189}"/>
              </a:ext>
            </a:extLst>
          </p:cNvPr>
          <p:cNvCxnSpPr/>
          <p:nvPr/>
        </p:nvCxnSpPr>
        <p:spPr>
          <a:xfrm>
            <a:off x="362607" y="4206622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1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C25D8-6A0F-8D23-5F67-69EDEA28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BFE0-8DDF-137C-DD32-BA080D600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Reusing code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98698-1012-DBDD-1510-4E609C13A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42137"/>
            <a:ext cx="5410200" cy="2902432"/>
          </a:xfrm>
        </p:spPr>
        <p:txBody>
          <a:bodyPr>
            <a:normAutofit/>
          </a:bodyPr>
          <a:lstStyle/>
          <a:p>
            <a:r>
              <a:rPr lang="en-US" sz="2500"/>
              <a:t>You don’t have to sacrifice type safety for reusable code</a:t>
            </a:r>
          </a:p>
          <a:p>
            <a:r>
              <a:rPr lang="en-US" sz="2500"/>
              <a:t>Have the best of both worlds</a:t>
            </a:r>
          </a:p>
          <a:p>
            <a:r>
              <a:rPr lang="en-US" sz="2500"/>
              <a:t>One class that handles multiple types safely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A8790-916E-2A94-9E5D-EECB82F39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BCC19-002A-AC71-F23C-595E8B62B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40E3C26-5DAA-1AE6-3A83-A497D11267EF}"/>
              </a:ext>
            </a:extLst>
          </p:cNvPr>
          <p:cNvSpPr txBox="1">
            <a:spLocks/>
          </p:cNvSpPr>
          <p:nvPr/>
        </p:nvSpPr>
        <p:spPr>
          <a:xfrm>
            <a:off x="685800" y="1526224"/>
            <a:ext cx="5410200" cy="4567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public class Box&lt;T&gt;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    private T value;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    public void set(final T value)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   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        </a:t>
            </a:r>
            <a:r>
              <a:rPr lang="en-US" sz="2000" err="1"/>
              <a:t>this.value</a:t>
            </a:r>
            <a:r>
              <a:rPr lang="en-US" sz="2000"/>
              <a:t> = value;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    Box&lt;String&gt; s = new Box&lt;&gt;();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    Box&lt;Integer&gt; I = new Box();</a:t>
            </a:r>
          </a:p>
        </p:txBody>
      </p:sp>
    </p:spTree>
    <p:extLst>
      <p:ext uri="{BB962C8B-B14F-4D97-AF65-F5344CB8AC3E}">
        <p14:creationId xmlns:p14="http://schemas.microsoft.com/office/powerpoint/2010/main" val="2353703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F481-4279-E1B7-B55B-E2072AE1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Generics: multiple parameters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40B87-0C8E-6810-5017-FAAE4FABA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202443"/>
            <a:ext cx="5410200" cy="4024125"/>
          </a:xfrm>
        </p:spPr>
        <p:txBody>
          <a:bodyPr/>
          <a:lstStyle/>
          <a:p>
            <a:pPr marL="0" indent="0">
              <a:buNone/>
            </a:pPr>
            <a:r>
              <a:rPr lang="en-CA"/>
              <a:t>class Pair&lt;T, U&gt; </a:t>
            </a:r>
          </a:p>
          <a:p>
            <a:pPr marL="0" indent="0">
              <a:buNone/>
            </a:pPr>
            <a:r>
              <a:rPr lang="en-CA"/>
              <a:t>{</a:t>
            </a:r>
          </a:p>
          <a:p>
            <a:pPr marL="0" indent="0">
              <a:buNone/>
            </a:pPr>
            <a:r>
              <a:rPr lang="en-CA"/>
              <a:t>    private final T first; // blank type</a:t>
            </a:r>
          </a:p>
          <a:p>
            <a:pPr marL="0" indent="0">
              <a:buNone/>
            </a:pPr>
            <a:r>
              <a:rPr lang="en-CA"/>
              <a:t>    private final U second; // also blank</a:t>
            </a:r>
          </a:p>
          <a:p>
            <a:pPr marL="0" indent="0">
              <a:buNone/>
            </a:pPr>
            <a:r>
              <a:rPr lang="en-CA"/>
              <a:t>}</a:t>
            </a:r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r>
              <a:rPr lang="en-CA"/>
              <a:t>// declare types together</a:t>
            </a:r>
          </a:p>
          <a:p>
            <a:pPr marL="0" indent="0">
              <a:buNone/>
            </a:pPr>
            <a:r>
              <a:rPr lang="en-CA"/>
              <a:t>Pair&lt;String, Integer&gt;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67C648-D6CE-E641-3DD5-F056F277B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B3B5A-CF40-50C6-9B6F-061B503D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4A0DE7-B53E-D668-13BB-8B2BAEBECFFC}"/>
              </a:ext>
            </a:extLst>
          </p:cNvPr>
          <p:cNvSpPr txBox="1">
            <a:spLocks/>
          </p:cNvSpPr>
          <p:nvPr/>
        </p:nvSpPr>
        <p:spPr>
          <a:xfrm>
            <a:off x="6096000" y="2194559"/>
            <a:ext cx="54102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/>
              <a:t>Generics are also used for pair values/ multiple parameters of different types</a:t>
            </a:r>
          </a:p>
          <a:p>
            <a:r>
              <a:rPr lang="en-CA"/>
              <a:t>Conventionally uses &lt;T, U&gt; for types</a:t>
            </a:r>
          </a:p>
          <a:p>
            <a:pPr lvl="1"/>
            <a:r>
              <a:rPr lang="en-CA"/>
              <a:t>E for elements</a:t>
            </a:r>
          </a:p>
          <a:p>
            <a:pPr lvl="1"/>
            <a:r>
              <a:rPr lang="en-CA"/>
              <a:t>K and V for key and value, like in java’s Map&lt;K, V&gt;</a:t>
            </a:r>
          </a:p>
          <a:p>
            <a:pPr lvl="1"/>
            <a:r>
              <a:rPr lang="en-CA"/>
              <a:t>Can be named </a:t>
            </a:r>
            <a:r>
              <a:rPr lang="en-CA" b="1"/>
              <a:t>anything</a:t>
            </a:r>
            <a:r>
              <a:rPr lang="en-CA"/>
              <a:t> you want</a:t>
            </a:r>
          </a:p>
          <a:p>
            <a:r>
              <a:rPr lang="en-CA"/>
              <a:t>When creating a pair, you declare both types at once</a:t>
            </a:r>
          </a:p>
        </p:txBody>
      </p:sp>
    </p:spTree>
    <p:extLst>
      <p:ext uri="{BB962C8B-B14F-4D97-AF65-F5344CB8AC3E}">
        <p14:creationId xmlns:p14="http://schemas.microsoft.com/office/powerpoint/2010/main" val="1384247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3F763-818A-BDC4-EAD3-86BA56A59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2FE5-30B2-D1BF-2F81-A094C8371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Generics: multiple parameters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9CB61-3252-E841-69B9-00084771D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073166"/>
            <a:ext cx="5620407" cy="40241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/>
              <a:t>Pair &lt;String, Integer&gt;    p1;</a:t>
            </a:r>
          </a:p>
          <a:p>
            <a:pPr marL="0" indent="0">
              <a:buNone/>
            </a:pPr>
            <a:r>
              <a:rPr lang="en-CA"/>
              <a:t>Pair &lt;String, String&gt;       p2;</a:t>
            </a:r>
          </a:p>
          <a:p>
            <a:pPr marL="0" indent="0">
              <a:buNone/>
            </a:pPr>
            <a:r>
              <a:rPr lang="en-CA"/>
              <a:t>Pair &lt;Double, String&gt;    p3;</a:t>
            </a:r>
          </a:p>
          <a:p>
            <a:pPr marL="0" indent="0">
              <a:buNone/>
            </a:pPr>
            <a:r>
              <a:rPr lang="en-CA"/>
              <a:t>Pair &lt;Integer, Person&gt;  p4;</a:t>
            </a:r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r>
              <a:rPr lang="en-CA"/>
              <a:t>p1 = new Pair&lt;&gt;(“one”, 1);</a:t>
            </a:r>
          </a:p>
          <a:p>
            <a:pPr marL="0" indent="0">
              <a:buNone/>
            </a:pPr>
            <a:r>
              <a:rPr lang="en-CA"/>
              <a:t>p2 = new Pair&lt;&gt;(“Corvette”, “Stingray”);</a:t>
            </a:r>
          </a:p>
          <a:p>
            <a:pPr marL="0" indent="0">
              <a:buNone/>
            </a:pPr>
            <a:r>
              <a:rPr lang="en-CA"/>
              <a:t>p3 = new Pair&lt;&gt;(3.14159, “pi”);</a:t>
            </a:r>
          </a:p>
          <a:p>
            <a:pPr marL="0" indent="0">
              <a:buNone/>
            </a:pPr>
            <a:r>
              <a:rPr lang="en-CA"/>
              <a:t>p4 = new Pair&lt;&gt;(996, new Person(“</a:t>
            </a:r>
            <a:r>
              <a:rPr lang="en-CA" err="1"/>
              <a:t>jim</a:t>
            </a:r>
            <a:r>
              <a:rPr lang="en-CA"/>
              <a:t>”, “office worker”);</a:t>
            </a:r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 sz="2000"/>
          </a:p>
          <a:p>
            <a:pPr marL="0" indent="0">
              <a:buNone/>
            </a:pPr>
            <a:endParaRPr lang="en-CA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EF815-8FCD-F56D-41E5-CAE9A80C0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85BB4-8430-4527-A489-AF87ACBF0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985BDF0-3AB9-01E6-964E-92CB333F96EB}"/>
              </a:ext>
            </a:extLst>
          </p:cNvPr>
          <p:cNvSpPr txBox="1">
            <a:spLocks/>
          </p:cNvSpPr>
          <p:nvPr/>
        </p:nvSpPr>
        <p:spPr>
          <a:xfrm>
            <a:off x="6306206" y="2002221"/>
            <a:ext cx="5199994" cy="4024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2500" b="1"/>
              <a:t>Why?</a:t>
            </a:r>
          </a:p>
          <a:p>
            <a:r>
              <a:rPr lang="en-CA"/>
              <a:t>Because T and U are independent, they can be the same type, or </a:t>
            </a:r>
            <a:r>
              <a:rPr lang="en-CA" b="1"/>
              <a:t>completely different</a:t>
            </a:r>
          </a:p>
          <a:p>
            <a:r>
              <a:rPr lang="en-CA" sz="2000"/>
              <a:t>Type safe and allows to group two values together in a pair</a:t>
            </a:r>
          </a:p>
          <a:p>
            <a:r>
              <a:rPr lang="en-CA" sz="2000"/>
              <a:t>Fixes the issue that Java only allows one return value as one object</a:t>
            </a:r>
          </a:p>
          <a:p>
            <a:pPr lvl="1"/>
            <a:r>
              <a:rPr lang="en-CA"/>
              <a:t>Cleaner and safer than a list </a:t>
            </a:r>
          </a:p>
        </p:txBody>
      </p:sp>
    </p:spTree>
    <p:extLst>
      <p:ext uri="{BB962C8B-B14F-4D97-AF65-F5344CB8AC3E}">
        <p14:creationId xmlns:p14="http://schemas.microsoft.com/office/powerpoint/2010/main" val="2384589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72CC5-7A0D-FBA5-6F49-3649244B1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6F3A5-F3B6-0FC8-423C-1E3C3B5D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Methods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C594F-9126-E252-2DF0-D204FBAEC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560787"/>
            <a:ext cx="5620407" cy="46657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/>
              <a:t>public class Printer </a:t>
            </a:r>
          </a:p>
          <a:p>
            <a:pPr marL="0" indent="0">
              <a:buNone/>
            </a:pPr>
            <a:r>
              <a:rPr lang="en-CA"/>
              <a:t>{</a:t>
            </a:r>
          </a:p>
          <a:p>
            <a:pPr marL="0" indent="0">
              <a:buNone/>
            </a:pPr>
            <a:r>
              <a:rPr lang="en-CA"/>
              <a:t>    public </a:t>
            </a:r>
            <a:r>
              <a:rPr lang="en-CA" b="1"/>
              <a:t>&lt;T&gt; </a:t>
            </a:r>
            <a:r>
              <a:rPr lang="en-CA"/>
              <a:t>void print(</a:t>
            </a:r>
            <a:r>
              <a:rPr lang="en-CA" b="1"/>
              <a:t>T </a:t>
            </a:r>
            <a:r>
              <a:rPr lang="en-CA"/>
              <a:t>value)</a:t>
            </a:r>
          </a:p>
          <a:p>
            <a:pPr marL="0" indent="0">
              <a:buNone/>
            </a:pPr>
            <a:r>
              <a:rPr lang="en-CA"/>
              <a:t>    {</a:t>
            </a:r>
          </a:p>
          <a:p>
            <a:pPr marL="0" indent="0">
              <a:buNone/>
            </a:pPr>
            <a:r>
              <a:rPr lang="en-CA"/>
              <a:t>        </a:t>
            </a:r>
            <a:r>
              <a:rPr lang="en-CA" err="1"/>
              <a:t>System.out.println</a:t>
            </a:r>
            <a:r>
              <a:rPr lang="en-CA"/>
              <a:t>(value);</a:t>
            </a:r>
          </a:p>
          <a:p>
            <a:pPr marL="0" indent="0">
              <a:buNone/>
            </a:pPr>
            <a:r>
              <a:rPr lang="en-CA"/>
              <a:t>    }</a:t>
            </a:r>
          </a:p>
          <a:p>
            <a:pPr marL="0" indent="0">
              <a:buNone/>
            </a:pPr>
            <a:r>
              <a:rPr lang="en-CA"/>
              <a:t>}</a:t>
            </a:r>
          </a:p>
          <a:p>
            <a:pPr marL="0" indent="0">
              <a:buNone/>
            </a:pPr>
            <a:endParaRPr lang="en-CA" sz="1500"/>
          </a:p>
          <a:p>
            <a:pPr marL="0" indent="0">
              <a:buNone/>
            </a:pPr>
            <a:r>
              <a:rPr lang="en-CA"/>
              <a:t>Printer p = new Printer();</a:t>
            </a:r>
          </a:p>
          <a:p>
            <a:pPr marL="0" indent="0">
              <a:buNone/>
            </a:pPr>
            <a:r>
              <a:rPr lang="en-CA" err="1"/>
              <a:t>p.print</a:t>
            </a:r>
            <a:r>
              <a:rPr lang="en-CA"/>
              <a:t>(“hello”);    // T is a String</a:t>
            </a:r>
          </a:p>
          <a:p>
            <a:pPr marL="0" indent="0">
              <a:buNone/>
            </a:pPr>
            <a:r>
              <a:rPr lang="en-CA" err="1"/>
              <a:t>p.print</a:t>
            </a:r>
            <a:r>
              <a:rPr lang="en-CA"/>
              <a:t>(996);          // T is an Integer</a:t>
            </a:r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 sz="2000"/>
          </a:p>
          <a:p>
            <a:pPr marL="0" indent="0">
              <a:buNone/>
            </a:pPr>
            <a:endParaRPr lang="en-CA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05C57-3761-4CC1-B360-DE615BAC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34D2A-E237-3A25-2A4E-86E6B8B4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E95CE5D-CB30-9764-EC77-0AB5165BC84B}"/>
              </a:ext>
            </a:extLst>
          </p:cNvPr>
          <p:cNvSpPr txBox="1">
            <a:spLocks/>
          </p:cNvSpPr>
          <p:nvPr/>
        </p:nvSpPr>
        <p:spPr>
          <a:xfrm>
            <a:off x="6306206" y="2202444"/>
            <a:ext cx="5199994" cy="3659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/>
              <a:t>Generic methods defines its own parameter type </a:t>
            </a:r>
            <a:r>
              <a:rPr lang="en-CA" b="1"/>
              <a:t>independent</a:t>
            </a:r>
            <a:r>
              <a:rPr lang="en-CA"/>
              <a:t> of the class</a:t>
            </a:r>
          </a:p>
          <a:p>
            <a:r>
              <a:rPr lang="en-CA"/>
              <a:t>The method can work with any type while remaining type-safe</a:t>
            </a:r>
          </a:p>
          <a:p>
            <a:r>
              <a:rPr lang="en-CA"/>
              <a:t>Compiler figures out what T should be based on what value is passed in</a:t>
            </a:r>
          </a:p>
          <a:p>
            <a:r>
              <a:rPr lang="en-CA"/>
              <a:t>Even more flexibility without sacrificing safety</a:t>
            </a:r>
          </a:p>
        </p:txBody>
      </p:sp>
    </p:spTree>
    <p:extLst>
      <p:ext uri="{BB962C8B-B14F-4D97-AF65-F5344CB8AC3E}">
        <p14:creationId xmlns:p14="http://schemas.microsoft.com/office/powerpoint/2010/main" val="3269695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73D5D-C8BA-B55E-8089-EE3C6D622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2ED2D-7DEF-A450-1675-9F74B9073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bounded types in generics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BF657-C55B-51D2-2896-4DC7A5304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/>
              <a:t>By default, &lt;T&gt; accepts any reference type, but </a:t>
            </a:r>
            <a:r>
              <a:rPr lang="en-US" sz="2500" b="1"/>
              <a:t>bounds</a:t>
            </a:r>
            <a:r>
              <a:rPr lang="en-US" sz="2500"/>
              <a:t> let you </a:t>
            </a:r>
            <a:r>
              <a:rPr lang="en-US" sz="2500" b="1"/>
              <a:t>restrict </a:t>
            </a:r>
            <a:r>
              <a:rPr lang="en-US" sz="2500"/>
              <a:t>which types are allowed</a:t>
            </a:r>
          </a:p>
          <a:p>
            <a:r>
              <a:rPr lang="en-US" sz="2500"/>
              <a:t>This gives you more control while still having the flexibility of generics</a:t>
            </a:r>
          </a:p>
          <a:p>
            <a:r>
              <a:rPr lang="en-US" sz="2500" b="1" u="sng"/>
              <a:t>Upper bounds</a:t>
            </a:r>
            <a:r>
              <a:rPr lang="en-US" sz="2500" u="sng"/>
              <a:t> </a:t>
            </a:r>
            <a:r>
              <a:rPr lang="en-US" sz="2500"/>
              <a:t>use </a:t>
            </a:r>
            <a:r>
              <a:rPr lang="en-US" sz="2500" b="1"/>
              <a:t>extends</a:t>
            </a:r>
            <a:r>
              <a:rPr lang="en-US" sz="2500"/>
              <a:t> to restrict T to a certain type or a subclass of that type</a:t>
            </a:r>
          </a:p>
          <a:p>
            <a:r>
              <a:rPr lang="en-US" sz="2500" b="1" u="sng"/>
              <a:t>Lower bounds </a:t>
            </a:r>
            <a:r>
              <a:rPr lang="en-US" sz="2500"/>
              <a:t>use </a:t>
            </a:r>
            <a:r>
              <a:rPr lang="en-US" sz="2500" b="1"/>
              <a:t>super</a:t>
            </a:r>
            <a:r>
              <a:rPr lang="en-US" sz="2500"/>
              <a:t> to restrict wildcards to a specific type of its </a:t>
            </a:r>
            <a:r>
              <a:rPr lang="en-US" sz="2500" err="1"/>
              <a:t>superclasses</a:t>
            </a:r>
            <a:endParaRPr lang="en-US" sz="2300" b="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54F5D-B9E7-72D8-AD5A-112FE83A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A2EA6-42A1-280A-138A-92656E38B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24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6EE0-C5B5-57B4-335B-038D2B4CF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FC0B3-4DD5-5ACA-2F11-C6D1322B0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GENERICS: Upper bounds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D8226-93F3-7B1D-D95A-46CB749BE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434663"/>
            <a:ext cx="7055069" cy="4791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/>
              <a:t>class Box&lt;T extends Number&gt;</a:t>
            </a:r>
          </a:p>
          <a:p>
            <a:pPr marL="0" indent="0">
              <a:buNone/>
            </a:pPr>
            <a:r>
              <a:rPr lang="en-CA" sz="2000"/>
              <a:t>{</a:t>
            </a:r>
          </a:p>
          <a:p>
            <a:pPr marL="0" indent="0">
              <a:buNone/>
            </a:pPr>
            <a:r>
              <a:rPr lang="en-CA" sz="2000"/>
              <a:t>    private T value;</a:t>
            </a:r>
          </a:p>
          <a:p>
            <a:pPr marL="0" indent="0">
              <a:buNone/>
            </a:pPr>
            <a:r>
              <a:rPr lang="en-CA" sz="2000"/>
              <a:t>    public double </a:t>
            </a:r>
            <a:r>
              <a:rPr lang="en-CA" sz="2000" err="1"/>
              <a:t>getDoubleValue</a:t>
            </a:r>
            <a:r>
              <a:rPr lang="en-CA" sz="2000"/>
              <a:t>()</a:t>
            </a:r>
          </a:p>
          <a:p>
            <a:pPr marL="0" indent="0">
              <a:buNone/>
            </a:pPr>
            <a:r>
              <a:rPr lang="en-CA" sz="2000"/>
              <a:t>    {</a:t>
            </a:r>
          </a:p>
          <a:p>
            <a:pPr marL="0" indent="0">
              <a:buNone/>
            </a:pPr>
            <a:r>
              <a:rPr lang="en-CA" sz="2000"/>
              <a:t>        return </a:t>
            </a:r>
            <a:r>
              <a:rPr lang="en-CA" sz="2000" err="1"/>
              <a:t>value.doubleValue</a:t>
            </a:r>
            <a:r>
              <a:rPr lang="en-CA" sz="2000"/>
              <a:t>();</a:t>
            </a:r>
          </a:p>
          <a:p>
            <a:pPr marL="0" indent="0">
              <a:buNone/>
            </a:pPr>
            <a:r>
              <a:rPr lang="en-CA" sz="2000"/>
              <a:t>    }</a:t>
            </a:r>
          </a:p>
          <a:p>
            <a:pPr marL="0" indent="0">
              <a:buNone/>
            </a:pPr>
            <a:r>
              <a:rPr lang="en-CA" sz="2000"/>
              <a:t>}</a:t>
            </a:r>
          </a:p>
          <a:p>
            <a:pPr marL="0" indent="0">
              <a:buNone/>
            </a:pPr>
            <a:endParaRPr lang="en-CA" sz="500"/>
          </a:p>
          <a:p>
            <a:pPr marL="0" indent="0">
              <a:buNone/>
            </a:pPr>
            <a:r>
              <a:rPr lang="en-CA" sz="2000"/>
              <a:t>Box&lt;Integer&gt; b1; // safe</a:t>
            </a:r>
          </a:p>
          <a:p>
            <a:pPr marL="0" indent="0">
              <a:buNone/>
            </a:pPr>
            <a:r>
              <a:rPr lang="en-CA" sz="2000"/>
              <a:t>Box&lt;Double&gt; b2; // safe</a:t>
            </a:r>
          </a:p>
          <a:p>
            <a:pPr marL="0" indent="0">
              <a:buNone/>
            </a:pPr>
            <a:r>
              <a:rPr lang="en-CA" sz="2000"/>
              <a:t>Box&lt;String&gt;    b3; // NOT safe </a:t>
            </a:r>
            <a:r>
              <a:rPr lang="en-CA" sz="2000">
                <a:sym typeface="Wingdings" panose="05000000000000000000" pitchFamily="2" charset="2"/>
              </a:rPr>
              <a:t></a:t>
            </a:r>
            <a:r>
              <a:rPr lang="en-CA" sz="2000"/>
              <a:t> compilation error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BCF15-B168-4C71-13C7-7C2B0348F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4DB0E-A37A-8036-7263-AD7894F2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16C630-CD58-4736-8698-55FC386FF9F2}"/>
              </a:ext>
            </a:extLst>
          </p:cNvPr>
          <p:cNvSpPr txBox="1">
            <a:spLocks/>
          </p:cNvSpPr>
          <p:nvPr/>
        </p:nvSpPr>
        <p:spPr>
          <a:xfrm>
            <a:off x="6096000" y="2194559"/>
            <a:ext cx="54102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/>
              <a:t>Restricts the T to be this specific type or a subclass of that type</a:t>
            </a:r>
          </a:p>
          <a:p>
            <a:r>
              <a:rPr lang="en-CA"/>
              <a:t>&lt;T extends Number&gt; ensures the compiler will guarantees that T will have all the methods of number</a:t>
            </a:r>
          </a:p>
          <a:p>
            <a:pPr lvl="1"/>
            <a:r>
              <a:rPr lang="en-CA"/>
              <a:t>like .</a:t>
            </a:r>
            <a:r>
              <a:rPr lang="en-CA" err="1"/>
              <a:t>doubleValue</a:t>
            </a:r>
            <a:r>
              <a:rPr lang="en-CA"/>
              <a:t>()</a:t>
            </a:r>
          </a:p>
          <a:p>
            <a:r>
              <a:rPr lang="en-CA"/>
              <a:t>ensures method can be called safely</a:t>
            </a:r>
          </a:p>
        </p:txBody>
      </p:sp>
    </p:spTree>
    <p:extLst>
      <p:ext uri="{BB962C8B-B14F-4D97-AF65-F5344CB8AC3E}">
        <p14:creationId xmlns:p14="http://schemas.microsoft.com/office/powerpoint/2010/main" val="1890421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9D281-F994-C2B6-1C84-313210E5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5906-EB62-7F4B-D3B2-DCC3E55F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945" y="764373"/>
            <a:ext cx="8006255" cy="1293028"/>
          </a:xfrm>
        </p:spPr>
        <p:txBody>
          <a:bodyPr/>
          <a:lstStyle/>
          <a:p>
            <a:r>
              <a:rPr lang="en-US"/>
              <a:t>GENERICS: BOUNDS WITH METHODS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46BF1-02A4-62C7-A551-626ADE610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057401"/>
            <a:ext cx="6266793" cy="416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/>
              <a:t>public &lt;T extends Number&gt; void </a:t>
            </a:r>
            <a:r>
              <a:rPr lang="en-CA" sz="2000" err="1"/>
              <a:t>addNumbers</a:t>
            </a:r>
            <a:r>
              <a:rPr lang="en-CA" sz="2000"/>
              <a:t>(final T a, final T b)</a:t>
            </a:r>
          </a:p>
          <a:p>
            <a:pPr marL="0" indent="0">
              <a:buNone/>
            </a:pPr>
            <a:r>
              <a:rPr lang="en-CA" sz="2000"/>
              <a:t>{</a:t>
            </a:r>
          </a:p>
          <a:p>
            <a:pPr marL="0" indent="0">
              <a:buNone/>
            </a:pPr>
            <a:r>
              <a:rPr lang="en-CA" sz="2000"/>
              <a:t>    </a:t>
            </a:r>
            <a:r>
              <a:rPr lang="en-CA" sz="2000" err="1"/>
              <a:t>System.out.println</a:t>
            </a:r>
            <a:r>
              <a:rPr lang="en-CA" sz="2000"/>
              <a:t>(</a:t>
            </a:r>
            <a:r>
              <a:rPr lang="en-CA" sz="2000" err="1"/>
              <a:t>a.doubleValue</a:t>
            </a:r>
            <a:r>
              <a:rPr lang="en-CA" sz="2000"/>
              <a:t>() + </a:t>
            </a:r>
            <a:r>
              <a:rPr lang="en-CA" sz="2000" err="1"/>
              <a:t>b.doubleValue</a:t>
            </a:r>
            <a:r>
              <a:rPr lang="en-CA" sz="2000"/>
              <a:t>());</a:t>
            </a:r>
          </a:p>
          <a:p>
            <a:pPr marL="0" indent="0">
              <a:buNone/>
            </a:pPr>
            <a:r>
              <a:rPr lang="en-CA" sz="2000"/>
              <a:t>}</a:t>
            </a:r>
          </a:p>
          <a:p>
            <a:pPr marL="0" indent="0">
              <a:buNone/>
            </a:pPr>
            <a:endParaRPr lang="en-CA" sz="2000"/>
          </a:p>
          <a:p>
            <a:pPr marL="0" indent="0">
              <a:buNone/>
            </a:pPr>
            <a:r>
              <a:rPr lang="en-CA" sz="2000" err="1"/>
              <a:t>addNumbers</a:t>
            </a:r>
            <a:r>
              <a:rPr lang="en-CA" sz="2000"/>
              <a:t>(5, 10);	      // Integer safe</a:t>
            </a:r>
          </a:p>
          <a:p>
            <a:pPr marL="0" indent="0">
              <a:buNone/>
            </a:pPr>
            <a:r>
              <a:rPr lang="en-CA" sz="2000" err="1"/>
              <a:t>addNumbers</a:t>
            </a:r>
            <a:r>
              <a:rPr lang="en-CA" sz="2000"/>
              <a:t>(5.0, 10.0);    // Double safe</a:t>
            </a:r>
          </a:p>
          <a:p>
            <a:pPr marL="0" indent="0">
              <a:buNone/>
            </a:pPr>
            <a:r>
              <a:rPr lang="en-CA" sz="2000" err="1"/>
              <a:t>addNumbers</a:t>
            </a:r>
            <a:r>
              <a:rPr lang="en-CA" sz="2000"/>
              <a:t>(“5”, “10”);   // String NOT a Number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2DC063-7EE1-EB75-1421-63AA7B0F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5C622-9CE3-0F70-5CF9-A9E581596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B92838-F2EC-A860-A2CE-8C0DB204B230}"/>
              </a:ext>
            </a:extLst>
          </p:cNvPr>
          <p:cNvSpPr txBox="1">
            <a:spLocks/>
          </p:cNvSpPr>
          <p:nvPr/>
        </p:nvSpPr>
        <p:spPr>
          <a:xfrm>
            <a:off x="6511158" y="2194559"/>
            <a:ext cx="4995041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/>
              <a:t>Same applies to generic methods</a:t>
            </a:r>
          </a:p>
          <a:p>
            <a:r>
              <a:rPr lang="en-CA"/>
              <a:t>All parameters must meet the class or subclass requirements or there is an error</a:t>
            </a:r>
          </a:p>
        </p:txBody>
      </p:sp>
    </p:spTree>
    <p:extLst>
      <p:ext uri="{BB962C8B-B14F-4D97-AF65-F5344CB8AC3E}">
        <p14:creationId xmlns:p14="http://schemas.microsoft.com/office/powerpoint/2010/main" val="841854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41C31-31F6-2CBA-E6E9-E3C3A4A4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7719E-75A3-6532-68EE-0DD71AFF4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GENERICS: WILDCARDS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C958E-A767-53E1-53B8-DC941B5B9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/>
              <a:t>What are Wildcards?</a:t>
            </a:r>
          </a:p>
          <a:p>
            <a:r>
              <a:rPr lang="en-US"/>
              <a:t>Wildcards are used in method parameters for even more flexibility</a:t>
            </a:r>
          </a:p>
          <a:p>
            <a:r>
              <a:rPr lang="en-US"/>
              <a:t>They accept a range of types</a:t>
            </a:r>
          </a:p>
          <a:p>
            <a:endParaRPr lang="en-US"/>
          </a:p>
          <a:p>
            <a:pPr marL="0" indent="0">
              <a:buNone/>
            </a:pPr>
            <a:r>
              <a:rPr lang="en-US" b="1"/>
              <a:t>There are three types:</a:t>
            </a:r>
          </a:p>
          <a:p>
            <a:r>
              <a:rPr lang="en-US"/>
              <a:t>Unbounded wildcard</a:t>
            </a:r>
          </a:p>
          <a:p>
            <a:r>
              <a:rPr lang="en-US"/>
              <a:t>Upper-bounded wildcard</a:t>
            </a:r>
          </a:p>
          <a:p>
            <a:r>
              <a:rPr lang="en-US"/>
              <a:t>Lower-bounded wildcard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F5C38-6D00-2D92-ED95-78093C060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70038-2C87-2153-4C0B-C7211C082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0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E7575-B65D-406E-D1B6-F247C59D0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812F-E335-0B45-87F3-44012453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Unbounded wildcard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A29F9-AE82-DA1E-F8E0-306E87945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94560"/>
            <a:ext cx="5410200" cy="4024125"/>
          </a:xfrm>
        </p:spPr>
        <p:txBody>
          <a:bodyPr>
            <a:normAutofit/>
          </a:bodyPr>
          <a:lstStyle/>
          <a:p>
            <a:r>
              <a:rPr lang="en-US"/>
              <a:t>Declared with &lt;?&gt;</a:t>
            </a:r>
          </a:p>
          <a:p>
            <a:r>
              <a:rPr lang="en-US"/>
              <a:t>Means it could be ANY type</a:t>
            </a:r>
          </a:p>
          <a:p>
            <a:pPr lvl="1"/>
            <a:r>
              <a:rPr lang="en-US"/>
              <a:t>Unbounded != </a:t>
            </a:r>
          </a:p>
          <a:p>
            <a:pPr lvl="1"/>
            <a:r>
              <a:rPr lang="en-US"/>
              <a:t>Unbounded </a:t>
            </a:r>
            <a:r>
              <a:rPr lang="en-US">
                <a:sym typeface="Wingdings" panose="05000000000000000000" pitchFamily="2" charset="2"/>
              </a:rPr>
              <a:t> EVERYTHING</a:t>
            </a:r>
          </a:p>
          <a:p>
            <a:r>
              <a:rPr lang="en-US">
                <a:sym typeface="Wingdings" panose="05000000000000000000" pitchFamily="2" charset="2"/>
              </a:rPr>
              <a:t>Since it allows all types, you don’t </a:t>
            </a:r>
            <a:r>
              <a:rPr lang="en-US" b="1">
                <a:sym typeface="Wingdings" panose="05000000000000000000" pitchFamily="2" charset="2"/>
              </a:rPr>
              <a:t>know or care </a:t>
            </a:r>
            <a:r>
              <a:rPr lang="en-US">
                <a:sym typeface="Wingdings" panose="05000000000000000000" pitchFamily="2" charset="2"/>
              </a:rPr>
              <a:t>what the type is</a:t>
            </a:r>
          </a:p>
          <a:p>
            <a:r>
              <a:rPr lang="en-US">
                <a:sym typeface="Wingdings" panose="05000000000000000000" pitchFamily="2" charset="2"/>
              </a:rPr>
              <a:t>NOT SAFE to add elements to this list and therefore </a:t>
            </a:r>
            <a:r>
              <a:rPr lang="en-US" b="1">
                <a:sym typeface="Wingdings" panose="05000000000000000000" pitchFamily="2" charset="2"/>
              </a:rPr>
              <a:t>not allowed</a:t>
            </a:r>
          </a:p>
          <a:p>
            <a:pPr lvl="1"/>
            <a:endParaRPr lang="en-US">
              <a:sym typeface="Wingdings" panose="05000000000000000000" pitchFamily="2" charset="2"/>
            </a:endParaRPr>
          </a:p>
          <a:p>
            <a:endParaRPr lang="en-US" sz="2000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BB59A0-3941-11AB-FB3D-071238612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1C481E-420B-6B99-F3E3-F095CBBAB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8AB1EF-08B9-9C8A-B003-A0323BDF81E9}"/>
              </a:ext>
            </a:extLst>
          </p:cNvPr>
          <p:cNvSpPr txBox="1">
            <a:spLocks/>
          </p:cNvSpPr>
          <p:nvPr/>
        </p:nvSpPr>
        <p:spPr>
          <a:xfrm>
            <a:off x="685800" y="1881592"/>
            <a:ext cx="54102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sym typeface="Wingdings" panose="05000000000000000000" pitchFamily="2" charset="2"/>
              </a:rPr>
              <a:t>public void </a:t>
            </a:r>
            <a:r>
              <a:rPr lang="en-US" sz="2000" err="1">
                <a:sym typeface="Wingdings" panose="05000000000000000000" pitchFamily="2" charset="2"/>
              </a:rPr>
              <a:t>printList</a:t>
            </a:r>
            <a:r>
              <a:rPr lang="en-US" sz="2000">
                <a:sym typeface="Wingdings" panose="05000000000000000000" pitchFamily="2" charset="2"/>
              </a:rPr>
              <a:t>(List&lt;?&gt; list)</a:t>
            </a:r>
          </a:p>
          <a:p>
            <a:pPr marL="0" indent="0">
              <a:buNone/>
            </a:pPr>
            <a:r>
              <a:rPr lang="en-US" sz="2000">
                <a:sym typeface="Wingdings" panose="05000000000000000000" pitchFamily="2" charset="2"/>
              </a:rPr>
              <a:t>{</a:t>
            </a:r>
          </a:p>
          <a:p>
            <a:pPr marL="0" indent="0">
              <a:buNone/>
            </a:pPr>
            <a:r>
              <a:rPr lang="en-US" sz="2000">
                <a:sym typeface="Wingdings" panose="05000000000000000000" pitchFamily="2" charset="2"/>
              </a:rPr>
              <a:t>    for (Object </a:t>
            </a:r>
            <a:r>
              <a:rPr lang="en-US" sz="2000" err="1">
                <a:sym typeface="Wingdings" panose="05000000000000000000" pitchFamily="2" charset="2"/>
              </a:rPr>
              <a:t>elem</a:t>
            </a:r>
            <a:r>
              <a:rPr lang="en-US" sz="2000">
                <a:sym typeface="Wingdings" panose="05000000000000000000" pitchFamily="2" charset="2"/>
              </a:rPr>
              <a:t> : list)</a:t>
            </a:r>
          </a:p>
          <a:p>
            <a:pPr marL="0" indent="0">
              <a:buNone/>
            </a:pPr>
            <a:r>
              <a:rPr lang="en-US" sz="2000">
                <a:sym typeface="Wingdings" panose="05000000000000000000" pitchFamily="2" charset="2"/>
              </a:rPr>
              <a:t>    {</a:t>
            </a:r>
          </a:p>
          <a:p>
            <a:pPr marL="0" indent="0">
              <a:buNone/>
            </a:pPr>
            <a:r>
              <a:rPr lang="en-US" sz="2000">
                <a:sym typeface="Wingdings" panose="05000000000000000000" pitchFamily="2" charset="2"/>
              </a:rPr>
              <a:t>        </a:t>
            </a:r>
            <a:r>
              <a:rPr lang="en-US" sz="2000" err="1">
                <a:sym typeface="Wingdings" panose="05000000000000000000" pitchFamily="2" charset="2"/>
              </a:rPr>
              <a:t>System.out.println</a:t>
            </a:r>
            <a:r>
              <a:rPr lang="en-US" sz="2000">
                <a:sym typeface="Wingdings" panose="05000000000000000000" pitchFamily="2" charset="2"/>
              </a:rPr>
              <a:t>(</a:t>
            </a:r>
            <a:r>
              <a:rPr lang="en-US" sz="2000" err="1">
                <a:sym typeface="Wingdings" panose="05000000000000000000" pitchFamily="2" charset="2"/>
              </a:rPr>
              <a:t>elem</a:t>
            </a:r>
            <a:r>
              <a:rPr lang="en-US" sz="2000">
                <a:sym typeface="Wingdings" panose="05000000000000000000" pitchFamily="2" charset="2"/>
              </a:rPr>
              <a:t>);</a:t>
            </a:r>
          </a:p>
          <a:p>
            <a:pPr marL="0" indent="0">
              <a:buNone/>
            </a:pPr>
            <a:r>
              <a:rPr lang="en-US" sz="2000">
                <a:sym typeface="Wingdings" panose="05000000000000000000" pitchFamily="2" charset="2"/>
              </a:rPr>
              <a:t>    }</a:t>
            </a:r>
          </a:p>
          <a:p>
            <a:pPr marL="0" indent="0">
              <a:buNone/>
            </a:pPr>
            <a:r>
              <a:rPr lang="en-US" sz="2000">
                <a:sym typeface="Wingdings" panose="05000000000000000000" pitchFamily="2" charset="2"/>
              </a:rPr>
              <a:t>}</a:t>
            </a:r>
          </a:p>
          <a:p>
            <a:pPr marL="0" indent="0">
              <a:buNone/>
            </a:pPr>
            <a:endParaRPr lang="en-US" sz="200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err="1">
                <a:sym typeface="Wingdings" panose="05000000000000000000" pitchFamily="2" charset="2"/>
              </a:rPr>
              <a:t>printList</a:t>
            </a:r>
            <a:r>
              <a:rPr lang="en-US" sz="2000">
                <a:sym typeface="Wingdings" panose="05000000000000000000" pitchFamily="2" charset="2"/>
              </a:rPr>
              <a:t>(</a:t>
            </a:r>
            <a:r>
              <a:rPr lang="en-US" sz="2000" err="1">
                <a:sym typeface="Wingdings" panose="05000000000000000000" pitchFamily="2" charset="2"/>
              </a:rPr>
              <a:t>List.of</a:t>
            </a:r>
            <a:r>
              <a:rPr lang="en-US" sz="2000">
                <a:sym typeface="Wingdings" panose="05000000000000000000" pitchFamily="2" charset="2"/>
              </a:rPr>
              <a:t>(“A”, “B”, “C”));</a:t>
            </a:r>
          </a:p>
          <a:p>
            <a:pPr marL="0" indent="0">
              <a:buNone/>
            </a:pPr>
            <a:r>
              <a:rPr lang="en-US" sz="2000" err="1">
                <a:sym typeface="Wingdings" panose="05000000000000000000" pitchFamily="2" charset="2"/>
              </a:rPr>
              <a:t>printList</a:t>
            </a:r>
            <a:r>
              <a:rPr lang="en-US" sz="2000">
                <a:sym typeface="Wingdings" panose="05000000000000000000" pitchFamily="2" charset="2"/>
              </a:rPr>
              <a:t>(</a:t>
            </a:r>
            <a:r>
              <a:rPr lang="en-US" sz="2000" err="1">
                <a:sym typeface="Wingdings" panose="05000000000000000000" pitchFamily="2" charset="2"/>
              </a:rPr>
              <a:t>List.of</a:t>
            </a:r>
            <a:r>
              <a:rPr lang="en-US" sz="2000">
                <a:sym typeface="Wingdings" panose="05000000000000000000" pitchFamily="2" charset="2"/>
              </a:rPr>
              <a:t>(1, 2, 3)); </a:t>
            </a:r>
          </a:p>
        </p:txBody>
      </p:sp>
    </p:spTree>
    <p:extLst>
      <p:ext uri="{BB962C8B-B14F-4D97-AF65-F5344CB8AC3E}">
        <p14:creationId xmlns:p14="http://schemas.microsoft.com/office/powerpoint/2010/main" val="3481553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18B8-28F3-18ED-C91F-77199349B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F567F-F67A-1123-C648-602B8EE36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Unbounded wildcard vs object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8F68-4C2B-FDF1-B996-2742E917C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94560"/>
            <a:ext cx="5410200" cy="4024125"/>
          </a:xfrm>
        </p:spPr>
        <p:txBody>
          <a:bodyPr>
            <a:normAutofit/>
          </a:bodyPr>
          <a:lstStyle/>
          <a:p>
            <a:r>
              <a:rPr lang="en-CA">
                <a:sym typeface="Wingdings" panose="05000000000000000000" pitchFamily="2" charset="2"/>
              </a:rPr>
              <a:t>List&lt;Object&gt; does not accept everything like List&lt;?&gt;</a:t>
            </a:r>
          </a:p>
          <a:p>
            <a:r>
              <a:rPr lang="en-CA">
                <a:sym typeface="Wingdings" panose="05000000000000000000" pitchFamily="2" charset="2"/>
              </a:rPr>
              <a:t>Java generics are </a:t>
            </a:r>
            <a:r>
              <a:rPr lang="en-CA" b="1">
                <a:sym typeface="Wingdings" panose="05000000000000000000" pitchFamily="2" charset="2"/>
              </a:rPr>
              <a:t>invariant</a:t>
            </a:r>
            <a:endParaRPr lang="en-CA">
              <a:sym typeface="Wingdings" panose="05000000000000000000" pitchFamily="2" charset="2"/>
            </a:endParaRPr>
          </a:p>
          <a:p>
            <a:pPr lvl="1"/>
            <a:r>
              <a:rPr lang="en-CA">
                <a:sym typeface="Wingdings" panose="05000000000000000000" pitchFamily="2" charset="2"/>
              </a:rPr>
              <a:t>List&lt;String&gt; is </a:t>
            </a:r>
            <a:r>
              <a:rPr lang="en-CA" b="1">
                <a:sym typeface="Wingdings" panose="05000000000000000000" pitchFamily="2" charset="2"/>
              </a:rPr>
              <a:t>not</a:t>
            </a:r>
            <a:r>
              <a:rPr lang="en-CA">
                <a:sym typeface="Wingdings" panose="05000000000000000000" pitchFamily="2" charset="2"/>
              </a:rPr>
              <a:t> a subtype of List&lt;Object&gt; even though String is a subtype of Object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They are treated as different types</a:t>
            </a:r>
          </a:p>
          <a:p>
            <a:r>
              <a:rPr lang="en-CA">
                <a:sym typeface="Wingdings" panose="05000000000000000000" pitchFamily="2" charset="2"/>
              </a:rPr>
              <a:t>List&lt;?&gt; allows for truly </a:t>
            </a:r>
            <a:r>
              <a:rPr lang="en-CA" b="1">
                <a:sym typeface="Wingdings" panose="05000000000000000000" pitchFamily="2" charset="2"/>
              </a:rPr>
              <a:t>any</a:t>
            </a:r>
            <a:r>
              <a:rPr lang="en-CA">
                <a:sym typeface="Wingdings" panose="05000000000000000000" pitchFamily="2" charset="2"/>
              </a:rPr>
              <a:t> type of list</a:t>
            </a:r>
          </a:p>
          <a:p>
            <a:r>
              <a:rPr lang="en-CA">
                <a:sym typeface="Wingdings" panose="05000000000000000000" pitchFamily="2" charset="2"/>
              </a:rPr>
              <a:t>However, you </a:t>
            </a:r>
            <a:r>
              <a:rPr lang="en-CA" b="1">
                <a:sym typeface="Wingdings" panose="05000000000000000000" pitchFamily="2" charset="2"/>
              </a:rPr>
              <a:t>can</a:t>
            </a:r>
            <a:r>
              <a:rPr lang="en-CA">
                <a:sym typeface="Wingdings" panose="05000000000000000000" pitchFamily="2" charset="2"/>
              </a:rPr>
              <a:t> add elements if you use List&lt;Object&gt; because you know the type is Object</a:t>
            </a:r>
            <a:endParaRPr lang="en-US">
              <a:sym typeface="Wingdings" panose="05000000000000000000" pitchFamily="2" charset="2"/>
            </a:endParaRPr>
          </a:p>
          <a:p>
            <a:endParaRPr lang="en-US" sz="2700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40C53-BB70-8225-56C8-0130F9161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36F4D-2595-B634-398B-06D15B0A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C99129E-2026-B4D7-01A3-2D32288E8399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54102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sym typeface="Wingdings" panose="05000000000000000000" pitchFamily="2" charset="2"/>
              </a:rPr>
              <a:t>public void </a:t>
            </a:r>
            <a:r>
              <a:rPr lang="en-US" sz="2000" err="1">
                <a:sym typeface="Wingdings" panose="05000000000000000000" pitchFamily="2" charset="2"/>
              </a:rPr>
              <a:t>printObjectList</a:t>
            </a:r>
            <a:r>
              <a:rPr lang="en-US" sz="2000">
                <a:sym typeface="Wingdings" panose="05000000000000000000" pitchFamily="2" charset="2"/>
              </a:rPr>
              <a:t>(List&lt;Object&gt; list) {…}</a:t>
            </a:r>
          </a:p>
          <a:p>
            <a:pPr marL="0" indent="0">
              <a:buNone/>
            </a:pPr>
            <a:endParaRPr lang="en-US" sz="200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>
                <a:sym typeface="Wingdings" panose="05000000000000000000" pitchFamily="2" charset="2"/>
              </a:rPr>
              <a:t>List&lt;String&gt; </a:t>
            </a:r>
            <a:r>
              <a:rPr lang="en-US" sz="2000" err="1">
                <a:sym typeface="Wingdings" panose="05000000000000000000" pitchFamily="2" charset="2"/>
              </a:rPr>
              <a:t>stringList</a:t>
            </a:r>
            <a:r>
              <a:rPr lang="en-US" sz="2000">
                <a:sym typeface="Wingdings" panose="05000000000000000000" pitchFamily="2" charset="2"/>
              </a:rPr>
              <a:t> = </a:t>
            </a:r>
            <a:r>
              <a:rPr lang="en-US" sz="2000" err="1">
                <a:sym typeface="Wingdings" panose="05000000000000000000" pitchFamily="2" charset="2"/>
              </a:rPr>
              <a:t>List.of</a:t>
            </a:r>
            <a:r>
              <a:rPr lang="en-US" sz="2000">
                <a:sym typeface="Wingdings" panose="05000000000000000000" pitchFamily="2" charset="2"/>
              </a:rPr>
              <a:t>(“A”, “B”, “C”);</a:t>
            </a:r>
          </a:p>
          <a:p>
            <a:pPr marL="0" indent="0">
              <a:buNone/>
            </a:pPr>
            <a:r>
              <a:rPr lang="en-US" sz="2000" err="1">
                <a:sym typeface="Wingdings" panose="05000000000000000000" pitchFamily="2" charset="2"/>
              </a:rPr>
              <a:t>printObjectList</a:t>
            </a:r>
            <a:r>
              <a:rPr lang="en-US" sz="2000">
                <a:sym typeface="Wingdings" panose="05000000000000000000" pitchFamily="2" charset="2"/>
              </a:rPr>
              <a:t>(</a:t>
            </a:r>
            <a:r>
              <a:rPr lang="en-US" sz="2000" err="1">
                <a:sym typeface="Wingdings" panose="05000000000000000000" pitchFamily="2" charset="2"/>
              </a:rPr>
              <a:t>stringList</a:t>
            </a:r>
            <a:r>
              <a:rPr lang="en-US" sz="2000">
                <a:sym typeface="Wingdings" panose="05000000000000000000" pitchFamily="2" charset="2"/>
              </a:rPr>
              <a:t>);</a:t>
            </a:r>
          </a:p>
          <a:p>
            <a:pPr marL="0" indent="0">
              <a:buNone/>
            </a:pPr>
            <a:endParaRPr lang="en-US" sz="200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>
                <a:sym typeface="Wingdings" panose="05000000000000000000" pitchFamily="2" charset="2"/>
              </a:rPr>
              <a:t>// Compile time error when you pass in List&lt;String&gt; as a type List&lt;Object&gt;</a:t>
            </a:r>
          </a:p>
        </p:txBody>
      </p:sp>
    </p:spTree>
    <p:extLst>
      <p:ext uri="{BB962C8B-B14F-4D97-AF65-F5344CB8AC3E}">
        <p14:creationId xmlns:p14="http://schemas.microsoft.com/office/powerpoint/2010/main" val="3554410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126FD-87DA-1376-96E8-A71ADF176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B34B3-DE44-68D7-C85F-867F29E7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Upper bounded wildcard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DBFD6-C04A-9FAD-D147-C6C76C36D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986" y="2125980"/>
            <a:ext cx="4916214" cy="4024125"/>
          </a:xfrm>
        </p:spPr>
        <p:txBody>
          <a:bodyPr>
            <a:normAutofit/>
          </a:bodyPr>
          <a:lstStyle/>
          <a:p>
            <a:r>
              <a:rPr lang="en-CA">
                <a:sym typeface="Wingdings" panose="05000000000000000000" pitchFamily="2" charset="2"/>
              </a:rPr>
              <a:t>Declared with &lt;? extends T&gt;</a:t>
            </a:r>
          </a:p>
          <a:p>
            <a:r>
              <a:rPr lang="en-CA">
                <a:sym typeface="Wingdings" panose="05000000000000000000" pitchFamily="2" charset="2"/>
              </a:rPr>
              <a:t>Means the type can be T or any </a:t>
            </a:r>
            <a:r>
              <a:rPr lang="en-CA" b="1" u="sng">
                <a:sym typeface="Wingdings" panose="05000000000000000000" pitchFamily="2" charset="2"/>
              </a:rPr>
              <a:t>subclass</a:t>
            </a:r>
            <a:r>
              <a:rPr lang="en-CA">
                <a:sym typeface="Wingdings" panose="05000000000000000000" pitchFamily="2" charset="2"/>
              </a:rPr>
              <a:t> of T</a:t>
            </a:r>
          </a:p>
          <a:p>
            <a:r>
              <a:rPr lang="en-CA">
                <a:sym typeface="Wingdings" panose="05000000000000000000" pitchFamily="2" charset="2"/>
              </a:rPr>
              <a:t>This is used when you want to </a:t>
            </a:r>
            <a:r>
              <a:rPr lang="en-CA" b="1">
                <a:sym typeface="Wingdings" panose="05000000000000000000" pitchFamily="2" charset="2"/>
              </a:rPr>
              <a:t>read</a:t>
            </a:r>
            <a:r>
              <a:rPr lang="en-CA">
                <a:sym typeface="Wingdings" panose="05000000000000000000" pitchFamily="2" charset="2"/>
              </a:rPr>
              <a:t> or </a:t>
            </a:r>
            <a:r>
              <a:rPr lang="en-CA" b="1">
                <a:sym typeface="Wingdings" panose="05000000000000000000" pitchFamily="2" charset="2"/>
              </a:rPr>
              <a:t>produce values </a:t>
            </a:r>
            <a:r>
              <a:rPr lang="en-CA">
                <a:sym typeface="Wingdings" panose="05000000000000000000" pitchFamily="2" charset="2"/>
              </a:rPr>
              <a:t>from a list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You still cannot safely add to an upper-bounded wildcard</a:t>
            </a:r>
            <a:endParaRPr lang="en-US">
              <a:sym typeface="Wingdings" panose="05000000000000000000" pitchFamily="2" charset="2"/>
            </a:endParaRPr>
          </a:p>
          <a:p>
            <a:endParaRPr lang="en-US" sz="2700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5BF79-A7DD-F65B-0FC3-E067E0C8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A5A66-38A0-3DDE-E642-E061C4C9B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C5BAE7-7F32-9E4C-A6E2-BC7A1FC658C0}"/>
              </a:ext>
            </a:extLst>
          </p:cNvPr>
          <p:cNvSpPr txBox="1">
            <a:spLocks/>
          </p:cNvSpPr>
          <p:nvPr/>
        </p:nvSpPr>
        <p:spPr>
          <a:xfrm>
            <a:off x="685799" y="1844566"/>
            <a:ext cx="6266794" cy="43741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ym typeface="Wingdings" panose="05000000000000000000" pitchFamily="2" charset="2"/>
              </a:rPr>
              <a:t>public double </a:t>
            </a:r>
            <a:r>
              <a:rPr lang="en-US" sz="1800" err="1">
                <a:sym typeface="Wingdings" panose="05000000000000000000" pitchFamily="2" charset="2"/>
              </a:rPr>
              <a:t>sumList</a:t>
            </a:r>
            <a:r>
              <a:rPr lang="en-US" sz="1800">
                <a:sym typeface="Wingdings" panose="05000000000000000000" pitchFamily="2" charset="2"/>
              </a:rPr>
              <a:t>(List&lt;? extends Number&gt; </a:t>
            </a:r>
          </a:p>
          <a:p>
            <a:pPr marL="0" indent="0">
              <a:buNone/>
            </a:pPr>
            <a:r>
              <a:rPr lang="en-US" sz="1800">
                <a:sym typeface="Wingdings" panose="05000000000000000000" pitchFamily="2" charset="2"/>
              </a:rPr>
              <a:t>list)</a:t>
            </a:r>
          </a:p>
          <a:p>
            <a:pPr marL="0" indent="0">
              <a:buNone/>
            </a:pPr>
            <a:r>
              <a:rPr lang="en-US" sz="1800">
                <a:sym typeface="Wingdings" panose="05000000000000000000" pitchFamily="2" charset="2"/>
              </a:rPr>
              <a:t>{</a:t>
            </a:r>
          </a:p>
          <a:p>
            <a:pPr marL="0" indent="0">
              <a:buNone/>
            </a:pPr>
            <a:r>
              <a:rPr lang="en-US" sz="1800">
                <a:sym typeface="Wingdings" panose="05000000000000000000" pitchFamily="2" charset="2"/>
              </a:rPr>
              <a:t>     double sum = 0;</a:t>
            </a:r>
          </a:p>
          <a:p>
            <a:pPr marL="0" indent="0">
              <a:buNone/>
            </a:pPr>
            <a:r>
              <a:rPr lang="en-US" sz="1800">
                <a:sym typeface="Wingdings" panose="05000000000000000000" pitchFamily="2" charset="2"/>
              </a:rPr>
              <a:t>     for (Number n : list)</a:t>
            </a:r>
          </a:p>
          <a:p>
            <a:pPr marL="0" indent="0">
              <a:buNone/>
            </a:pPr>
            <a:r>
              <a:rPr lang="en-US" sz="1800">
                <a:sym typeface="Wingdings" panose="05000000000000000000" pitchFamily="2" charset="2"/>
              </a:rPr>
              <a:t>    {</a:t>
            </a:r>
          </a:p>
          <a:p>
            <a:pPr marL="0" indent="0">
              <a:buNone/>
            </a:pPr>
            <a:r>
              <a:rPr lang="en-US" sz="1800">
                <a:sym typeface="Wingdings" panose="05000000000000000000" pitchFamily="2" charset="2"/>
              </a:rPr>
              <a:t>        return sum;</a:t>
            </a:r>
          </a:p>
          <a:p>
            <a:pPr marL="0" indent="0">
              <a:buNone/>
            </a:pPr>
            <a:r>
              <a:rPr lang="en-US" sz="1800">
                <a:sym typeface="Wingdings" panose="05000000000000000000" pitchFamily="2" charset="2"/>
              </a:rPr>
              <a:t>    }</a:t>
            </a:r>
          </a:p>
          <a:p>
            <a:pPr marL="0" indent="0">
              <a:buNone/>
            </a:pPr>
            <a:r>
              <a:rPr lang="en-US" sz="1800">
                <a:sym typeface="Wingdings" panose="05000000000000000000" pitchFamily="2" charset="2"/>
              </a:rPr>
              <a:t>}</a:t>
            </a:r>
          </a:p>
          <a:p>
            <a:pPr marL="0" indent="0">
              <a:buNone/>
            </a:pPr>
            <a:r>
              <a:rPr lang="en-US" sz="1800" err="1">
                <a:sym typeface="Wingdings" panose="05000000000000000000" pitchFamily="2" charset="2"/>
              </a:rPr>
              <a:t>sumList</a:t>
            </a:r>
            <a:r>
              <a:rPr lang="en-US" sz="1800">
                <a:sym typeface="Wingdings" panose="05000000000000000000" pitchFamily="2" charset="2"/>
              </a:rPr>
              <a:t>(</a:t>
            </a:r>
            <a:r>
              <a:rPr lang="en-US" sz="1800" err="1">
                <a:sym typeface="Wingdings" panose="05000000000000000000" pitchFamily="2" charset="2"/>
              </a:rPr>
              <a:t>List.of</a:t>
            </a:r>
            <a:r>
              <a:rPr lang="en-US" sz="1800">
                <a:sym typeface="Wingdings" panose="05000000000000000000" pitchFamily="2" charset="2"/>
              </a:rPr>
              <a:t>(1, 2, 3));	             // Integer safe</a:t>
            </a:r>
          </a:p>
          <a:p>
            <a:pPr marL="0" indent="0">
              <a:buNone/>
            </a:pPr>
            <a:r>
              <a:rPr lang="en-US" sz="1800" err="1">
                <a:sym typeface="Wingdings" panose="05000000000000000000" pitchFamily="2" charset="2"/>
              </a:rPr>
              <a:t>sumList</a:t>
            </a:r>
            <a:r>
              <a:rPr lang="en-US" sz="1800">
                <a:sym typeface="Wingdings" panose="05000000000000000000" pitchFamily="2" charset="2"/>
              </a:rPr>
              <a:t>(</a:t>
            </a:r>
            <a:r>
              <a:rPr lang="en-US" sz="1800" err="1">
                <a:sym typeface="Wingdings" panose="05000000000000000000" pitchFamily="2" charset="2"/>
              </a:rPr>
              <a:t>List.of</a:t>
            </a:r>
            <a:r>
              <a:rPr lang="en-US" sz="1800">
                <a:sym typeface="Wingdings" panose="05000000000000000000" pitchFamily="2" charset="2"/>
              </a:rPr>
              <a:t>(“A”, “B”, “C”));      // String NOT SAFE</a:t>
            </a:r>
          </a:p>
          <a:p>
            <a:pPr marL="0" indent="0">
              <a:buNone/>
            </a:pPr>
            <a:endParaRPr lang="en-US" sz="180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03610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D3D9-7091-E1FF-3A56-79609FCC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065D0-2EB6-BBEB-5238-C6FF82D33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lower bounded wildcard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78B2B-8A27-DBBB-C87E-7B1C71658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94560"/>
            <a:ext cx="5410200" cy="4024125"/>
          </a:xfrm>
        </p:spPr>
        <p:txBody>
          <a:bodyPr>
            <a:normAutofit/>
          </a:bodyPr>
          <a:lstStyle/>
          <a:p>
            <a:r>
              <a:rPr lang="en-CA">
                <a:sym typeface="Wingdings" panose="05000000000000000000" pitchFamily="2" charset="2"/>
              </a:rPr>
              <a:t>Declared with &lt;? super T&gt;</a:t>
            </a:r>
          </a:p>
          <a:p>
            <a:r>
              <a:rPr lang="en-CA">
                <a:sym typeface="Wingdings" panose="05000000000000000000" pitchFamily="2" charset="2"/>
              </a:rPr>
              <a:t>Means the type can be T or any </a:t>
            </a:r>
            <a:r>
              <a:rPr lang="en-CA" b="1" u="sng">
                <a:sym typeface="Wingdings" panose="05000000000000000000" pitchFamily="2" charset="2"/>
              </a:rPr>
              <a:t>superclass</a:t>
            </a:r>
            <a:r>
              <a:rPr lang="en-CA">
                <a:sym typeface="Wingdings" panose="05000000000000000000" pitchFamily="2" charset="2"/>
              </a:rPr>
              <a:t> of T</a:t>
            </a:r>
          </a:p>
          <a:p>
            <a:r>
              <a:rPr lang="en-CA">
                <a:sym typeface="Wingdings" panose="05000000000000000000" pitchFamily="2" charset="2"/>
              </a:rPr>
              <a:t>This is used when you want to </a:t>
            </a:r>
            <a:r>
              <a:rPr lang="en-CA" b="1">
                <a:sym typeface="Wingdings" panose="05000000000000000000" pitchFamily="2" charset="2"/>
              </a:rPr>
              <a:t>write/add </a:t>
            </a:r>
            <a:r>
              <a:rPr lang="en-CA">
                <a:sym typeface="Wingdings" panose="05000000000000000000" pitchFamily="2" charset="2"/>
              </a:rPr>
              <a:t>to a list</a:t>
            </a:r>
          </a:p>
          <a:p>
            <a:r>
              <a:rPr lang="en-US">
                <a:sym typeface="Wingdings" panose="05000000000000000000" pitchFamily="2" charset="2"/>
              </a:rPr>
              <a:t>BUT can only be read as List&lt;Object&gt;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A302B-27B5-56C1-D70E-DBDDD9ADF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865BF-4D0C-3FD3-1616-4EE02F1F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6DBB0A-6A9A-9514-319F-F126505BEEFE}"/>
              </a:ext>
            </a:extLst>
          </p:cNvPr>
          <p:cNvSpPr txBox="1">
            <a:spLocks/>
          </p:cNvSpPr>
          <p:nvPr/>
        </p:nvSpPr>
        <p:spPr>
          <a:xfrm>
            <a:off x="685800" y="1907628"/>
            <a:ext cx="5410200" cy="43110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ym typeface="Wingdings" panose="05000000000000000000" pitchFamily="2" charset="2"/>
              </a:rPr>
              <a:t>public void </a:t>
            </a:r>
            <a:r>
              <a:rPr lang="en-US" sz="1800" err="1">
                <a:sym typeface="Wingdings" panose="05000000000000000000" pitchFamily="2" charset="2"/>
              </a:rPr>
              <a:t>addNumbers</a:t>
            </a:r>
            <a:r>
              <a:rPr lang="en-US" sz="1800">
                <a:sym typeface="Wingdings" panose="05000000000000000000" pitchFamily="2" charset="2"/>
              </a:rPr>
              <a:t>(List&lt;? super Integer&gt; list)</a:t>
            </a:r>
            <a:br>
              <a:rPr lang="en-US" sz="1800">
                <a:sym typeface="Wingdings" panose="05000000000000000000" pitchFamily="2" charset="2"/>
              </a:rPr>
            </a:br>
            <a:r>
              <a:rPr lang="en-US" sz="1800">
                <a:sym typeface="Wingdings" panose="05000000000000000000" pitchFamily="2" charset="2"/>
              </a:rPr>
              <a:t>{</a:t>
            </a:r>
            <a:br>
              <a:rPr lang="en-US" sz="1800">
                <a:sym typeface="Wingdings" panose="05000000000000000000" pitchFamily="2" charset="2"/>
              </a:rPr>
            </a:br>
            <a:r>
              <a:rPr lang="en-US" sz="1800">
                <a:sym typeface="Wingdings" panose="05000000000000000000" pitchFamily="2" charset="2"/>
              </a:rPr>
              <a:t>    list.add(1);</a:t>
            </a:r>
            <a:br>
              <a:rPr lang="en-US" sz="1800">
                <a:sym typeface="Wingdings" panose="05000000000000000000" pitchFamily="2" charset="2"/>
              </a:rPr>
            </a:br>
            <a:r>
              <a:rPr lang="en-US" sz="1800">
                <a:sym typeface="Wingdings" panose="05000000000000000000" pitchFamily="2" charset="2"/>
              </a:rPr>
              <a:t>    list.add(2);</a:t>
            </a:r>
            <a:br>
              <a:rPr lang="en-US" sz="1800">
                <a:sym typeface="Wingdings" panose="05000000000000000000" pitchFamily="2" charset="2"/>
              </a:rPr>
            </a:br>
            <a:r>
              <a:rPr lang="en-US" sz="1800">
                <a:sym typeface="Wingdings" panose="05000000000000000000" pitchFamily="2" charset="2"/>
              </a:rPr>
              <a:t>}</a:t>
            </a:r>
          </a:p>
          <a:p>
            <a:pPr marL="0" indent="0">
              <a:buNone/>
            </a:pPr>
            <a:r>
              <a:rPr lang="en-US" sz="1800">
                <a:sym typeface="Wingdings" panose="05000000000000000000" pitchFamily="2" charset="2"/>
              </a:rPr>
              <a:t>List&lt;Integer&gt; </a:t>
            </a:r>
            <a:r>
              <a:rPr lang="en-US" sz="1800" err="1">
                <a:sym typeface="Wingdings" panose="05000000000000000000" pitchFamily="2" charset="2"/>
              </a:rPr>
              <a:t>intList</a:t>
            </a:r>
            <a:r>
              <a:rPr lang="en-US" sz="1800">
                <a:sym typeface="Wingdings" panose="05000000000000000000" pitchFamily="2" charset="2"/>
              </a:rPr>
              <a:t>;</a:t>
            </a:r>
            <a:br>
              <a:rPr lang="en-US" sz="1800">
                <a:sym typeface="Wingdings" panose="05000000000000000000" pitchFamily="2" charset="2"/>
              </a:rPr>
            </a:br>
            <a:r>
              <a:rPr lang="en-US" sz="1800">
                <a:sym typeface="Wingdings" panose="05000000000000000000" pitchFamily="2" charset="2"/>
              </a:rPr>
              <a:t>List&lt;Number&gt; </a:t>
            </a:r>
            <a:r>
              <a:rPr lang="en-US" sz="1800" err="1">
                <a:sym typeface="Wingdings" panose="05000000000000000000" pitchFamily="2" charset="2"/>
              </a:rPr>
              <a:t>numList</a:t>
            </a:r>
            <a:r>
              <a:rPr lang="en-US" sz="1800">
                <a:sym typeface="Wingdings" panose="05000000000000000000" pitchFamily="2" charset="2"/>
              </a:rPr>
              <a:t>;</a:t>
            </a:r>
            <a:br>
              <a:rPr lang="en-US" sz="1800">
                <a:sym typeface="Wingdings" panose="05000000000000000000" pitchFamily="2" charset="2"/>
              </a:rPr>
            </a:br>
            <a:r>
              <a:rPr lang="en-US" sz="1800">
                <a:sym typeface="Wingdings" panose="05000000000000000000" pitchFamily="2" charset="2"/>
              </a:rPr>
              <a:t>List&lt;Object&gt; </a:t>
            </a:r>
            <a:r>
              <a:rPr lang="en-US" sz="1800" err="1">
                <a:sym typeface="Wingdings" panose="05000000000000000000" pitchFamily="2" charset="2"/>
              </a:rPr>
              <a:t>objList</a:t>
            </a:r>
            <a:r>
              <a:rPr lang="en-US" sz="1800">
                <a:sym typeface="Wingdings" panose="05000000000000000000" pitchFamily="2" charset="2"/>
              </a:rPr>
              <a:t>;</a:t>
            </a:r>
          </a:p>
          <a:p>
            <a:pPr marL="0" indent="0">
              <a:buNone/>
            </a:pPr>
            <a:r>
              <a:rPr lang="en-US" sz="1800" err="1">
                <a:sym typeface="Wingdings" panose="05000000000000000000" pitchFamily="2" charset="2"/>
              </a:rPr>
              <a:t>intList</a:t>
            </a:r>
            <a:r>
              <a:rPr lang="en-US" sz="1800">
                <a:sym typeface="Wingdings" panose="05000000000000000000" pitchFamily="2" charset="2"/>
              </a:rPr>
              <a:t> = new ArrayList&lt;&gt;();</a:t>
            </a:r>
            <a:br>
              <a:rPr lang="en-US" sz="1800">
                <a:sym typeface="Wingdings" panose="05000000000000000000" pitchFamily="2" charset="2"/>
              </a:rPr>
            </a:br>
            <a:r>
              <a:rPr lang="en-US" sz="1800" err="1">
                <a:sym typeface="Wingdings" panose="05000000000000000000" pitchFamily="2" charset="2"/>
              </a:rPr>
              <a:t>numList</a:t>
            </a:r>
            <a:r>
              <a:rPr lang="en-US" sz="1800">
                <a:sym typeface="Wingdings" panose="05000000000000000000" pitchFamily="2" charset="2"/>
              </a:rPr>
              <a:t> = new ArrayList&lt;&gt;();</a:t>
            </a:r>
            <a:br>
              <a:rPr lang="en-US" sz="1800">
                <a:sym typeface="Wingdings" panose="05000000000000000000" pitchFamily="2" charset="2"/>
              </a:rPr>
            </a:br>
            <a:r>
              <a:rPr lang="en-US" sz="1800" err="1">
                <a:sym typeface="Wingdings" panose="05000000000000000000" pitchFamily="2" charset="2"/>
              </a:rPr>
              <a:t>objList</a:t>
            </a:r>
            <a:r>
              <a:rPr lang="en-US" sz="1800">
                <a:sym typeface="Wingdings" panose="05000000000000000000" pitchFamily="2" charset="2"/>
              </a:rPr>
              <a:t> = new ArrayList&lt;&gt;();</a:t>
            </a:r>
          </a:p>
          <a:p>
            <a:pPr marL="0" indent="0">
              <a:buNone/>
            </a:pPr>
            <a:r>
              <a:rPr lang="en-US" sz="1800" err="1">
                <a:sym typeface="Wingdings" panose="05000000000000000000" pitchFamily="2" charset="2"/>
              </a:rPr>
              <a:t>addNumbers</a:t>
            </a:r>
            <a:r>
              <a:rPr lang="en-US" sz="1800">
                <a:sym typeface="Wingdings" panose="05000000000000000000" pitchFamily="2" charset="2"/>
              </a:rPr>
              <a:t>(</a:t>
            </a:r>
            <a:r>
              <a:rPr lang="en-US" sz="1800" err="1">
                <a:sym typeface="Wingdings" panose="05000000000000000000" pitchFamily="2" charset="2"/>
              </a:rPr>
              <a:t>intList</a:t>
            </a:r>
            <a:r>
              <a:rPr lang="en-US" sz="1800">
                <a:sym typeface="Wingdings" panose="05000000000000000000" pitchFamily="2" charset="2"/>
              </a:rPr>
              <a:t>);</a:t>
            </a:r>
            <a:br>
              <a:rPr lang="en-US" sz="1800">
                <a:sym typeface="Wingdings" panose="05000000000000000000" pitchFamily="2" charset="2"/>
              </a:rPr>
            </a:br>
            <a:r>
              <a:rPr lang="en-US" sz="1800" err="1">
                <a:sym typeface="Wingdings" panose="05000000000000000000" pitchFamily="2" charset="2"/>
              </a:rPr>
              <a:t>addNumbers</a:t>
            </a:r>
            <a:r>
              <a:rPr lang="en-US" sz="1800">
                <a:sym typeface="Wingdings" panose="05000000000000000000" pitchFamily="2" charset="2"/>
              </a:rPr>
              <a:t>(</a:t>
            </a:r>
            <a:r>
              <a:rPr lang="en-US" sz="1800" err="1">
                <a:sym typeface="Wingdings" panose="05000000000000000000" pitchFamily="2" charset="2"/>
              </a:rPr>
              <a:t>numList</a:t>
            </a:r>
            <a:r>
              <a:rPr lang="en-US" sz="1800">
                <a:sym typeface="Wingdings" panose="05000000000000000000" pitchFamily="2" charset="2"/>
              </a:rPr>
              <a:t>);</a:t>
            </a:r>
            <a:br>
              <a:rPr lang="en-US" sz="1800">
                <a:sym typeface="Wingdings" panose="05000000000000000000" pitchFamily="2" charset="2"/>
              </a:rPr>
            </a:br>
            <a:r>
              <a:rPr lang="en-US" sz="1800" err="1">
                <a:sym typeface="Wingdings" panose="05000000000000000000" pitchFamily="2" charset="2"/>
              </a:rPr>
              <a:t>addNumbers</a:t>
            </a:r>
            <a:r>
              <a:rPr lang="en-US" sz="1800">
                <a:sym typeface="Wingdings" panose="05000000000000000000" pitchFamily="2" charset="2"/>
              </a:rPr>
              <a:t>(</a:t>
            </a:r>
            <a:r>
              <a:rPr lang="en-US" sz="1800" err="1">
                <a:sym typeface="Wingdings" panose="05000000000000000000" pitchFamily="2" charset="2"/>
              </a:rPr>
              <a:t>objList</a:t>
            </a:r>
            <a:r>
              <a:rPr lang="en-US" sz="1800">
                <a:sym typeface="Wingdings" panose="05000000000000000000" pitchFamily="2" charset="2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11130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BD5B0-7C1D-57D0-8620-E9280D94B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96CD-7279-61EA-9926-6CB47C4B7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Bounds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CBA6E-7EFC-DFF2-FA2C-86ACF14E7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>
            <a:normAutofit/>
          </a:bodyPr>
          <a:lstStyle/>
          <a:p>
            <a:r>
              <a:rPr lang="en-US"/>
              <a:t>Declared with &lt;T extends A &amp; B&gt;</a:t>
            </a:r>
          </a:p>
          <a:p>
            <a:r>
              <a:rPr lang="en-US">
                <a:sym typeface="Wingdings" panose="05000000000000000000" pitchFamily="2" charset="2"/>
              </a:rPr>
              <a:t>You can require that T follows more than one restriction at once </a:t>
            </a:r>
          </a:p>
          <a:p>
            <a:pPr marL="0" indent="0">
              <a:buNone/>
            </a:pPr>
            <a:br>
              <a:rPr lang="en-US">
                <a:sym typeface="Wingdings" panose="05000000000000000000" pitchFamily="2" charset="2"/>
              </a:rPr>
            </a:br>
            <a:r>
              <a:rPr lang="en-US">
                <a:sym typeface="Wingdings" panose="05000000000000000000" pitchFamily="2" charset="2"/>
              </a:rPr>
              <a:t>public &lt;T extends Comparable&lt;T&gt; &amp; Serializable&gt; T </a:t>
            </a:r>
            <a:r>
              <a:rPr lang="en-US" err="1">
                <a:sym typeface="Wingdings" panose="05000000000000000000" pitchFamily="2" charset="2"/>
              </a:rPr>
              <a:t>getMax</a:t>
            </a:r>
            <a:r>
              <a:rPr lang="en-US">
                <a:sym typeface="Wingdings" panose="05000000000000000000" pitchFamily="2" charset="2"/>
              </a:rPr>
              <a:t>(T a, T b) {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    return </a:t>
            </a:r>
            <a:r>
              <a:rPr lang="en-US" err="1">
                <a:sym typeface="Wingdings" panose="05000000000000000000" pitchFamily="2" charset="2"/>
              </a:rPr>
              <a:t>a.compareTo</a:t>
            </a:r>
            <a:r>
              <a:rPr lang="en-US">
                <a:sym typeface="Wingdings" panose="05000000000000000000" pitchFamily="2" charset="2"/>
              </a:rPr>
              <a:t>(b) &gt; 0 ? a : b;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}</a:t>
            </a:r>
          </a:p>
          <a:p>
            <a:r>
              <a:rPr lang="en-US">
                <a:sym typeface="Wingdings" panose="05000000000000000000" pitchFamily="2" charset="2"/>
              </a:rPr>
              <a:t>This says T must be </a:t>
            </a:r>
            <a:r>
              <a:rPr lang="en-US" b="1">
                <a:sym typeface="Wingdings" panose="05000000000000000000" pitchFamily="2" charset="2"/>
              </a:rPr>
              <a:t>Comparable AND Serializable</a:t>
            </a:r>
            <a:r>
              <a:rPr lang="en-US">
                <a:sym typeface="Wingdings" panose="05000000000000000000" pitchFamily="2" charset="2"/>
              </a:rPr>
              <a:t>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Compiler guarantees access to methods from both </a:t>
            </a:r>
          </a:p>
          <a:p>
            <a:r>
              <a:rPr lang="en-US">
                <a:sym typeface="Wingdings" panose="05000000000000000000" pitchFamily="2" charset="2"/>
              </a:rPr>
              <a:t>The first bound can be a class OR interface, an additional bounds </a:t>
            </a:r>
            <a:r>
              <a:rPr lang="en-US" b="1">
                <a:sym typeface="Wingdings" panose="05000000000000000000" pitchFamily="2" charset="2"/>
              </a:rPr>
              <a:t>must be interfaces</a:t>
            </a: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50552-9F61-FACD-F07D-7B15ECF1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75FC6-A27C-C763-7AD8-C78D1E753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96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5C164-4F27-0C86-4945-A06D9663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C931-00C8-7CE9-2A5E-FEF558EDB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Generics and inheritance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CC80B-35FC-28BD-3F0C-4A93A7490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>
            <a:normAutofit/>
          </a:bodyPr>
          <a:lstStyle/>
          <a:p>
            <a:r>
              <a:rPr lang="en-CA">
                <a:sym typeface="Wingdings" panose="05000000000000000000" pitchFamily="2" charset="2"/>
              </a:rPr>
              <a:t>In Java, generics are invariant, meaning List&lt;Object&gt; does </a:t>
            </a:r>
            <a:r>
              <a:rPr lang="en-CA" b="1" u="sng">
                <a:sym typeface="Wingdings" panose="05000000000000000000" pitchFamily="2" charset="2"/>
              </a:rPr>
              <a:t>not </a:t>
            </a:r>
            <a:r>
              <a:rPr lang="en-CA">
                <a:sym typeface="Wingdings" panose="05000000000000000000" pitchFamily="2" charset="2"/>
              </a:rPr>
              <a:t> equal List&lt;String&gt; even though String is a subclass of Object</a:t>
            </a:r>
          </a:p>
          <a:p>
            <a:r>
              <a:rPr lang="en-CA">
                <a:sym typeface="Wingdings" panose="05000000000000000000" pitchFamily="2" charset="2"/>
              </a:rPr>
              <a:t>If List&lt;Integer&gt; were treated as List&lt;Number&gt;, we could create a list like this:</a:t>
            </a:r>
            <a:br>
              <a:rPr lang="en-CA">
                <a:sym typeface="Wingdings" panose="05000000000000000000" pitchFamily="2" charset="2"/>
              </a:rPr>
            </a:br>
            <a:br>
              <a:rPr lang="en-CA">
                <a:sym typeface="Wingdings" panose="05000000000000000000" pitchFamily="2" charset="2"/>
              </a:rPr>
            </a:br>
            <a:r>
              <a:rPr lang="en-CA">
                <a:sym typeface="Wingdings" panose="05000000000000000000" pitchFamily="2" charset="2"/>
              </a:rPr>
              <a:t>List&lt;Number&gt; </a:t>
            </a:r>
            <a:r>
              <a:rPr lang="en-CA" err="1">
                <a:sym typeface="Wingdings" panose="05000000000000000000" pitchFamily="2" charset="2"/>
              </a:rPr>
              <a:t>numList</a:t>
            </a:r>
            <a:r>
              <a:rPr lang="en-CA">
                <a:sym typeface="Wingdings" panose="05000000000000000000" pitchFamily="2" charset="2"/>
              </a:rPr>
              <a:t> = new </a:t>
            </a:r>
            <a:r>
              <a:rPr lang="en-CA" err="1">
                <a:sym typeface="Wingdings" panose="05000000000000000000" pitchFamily="2" charset="2"/>
              </a:rPr>
              <a:t>ArrayList</a:t>
            </a:r>
            <a:r>
              <a:rPr lang="en-CA">
                <a:sym typeface="Wingdings" panose="05000000000000000000" pitchFamily="2" charset="2"/>
              </a:rPr>
              <a:t>&lt;Integer&gt;();</a:t>
            </a:r>
            <a:br>
              <a:rPr lang="en-CA">
                <a:sym typeface="Wingdings" panose="05000000000000000000" pitchFamily="2" charset="2"/>
              </a:rPr>
            </a:br>
            <a:r>
              <a:rPr lang="en-CA" err="1">
                <a:sym typeface="Wingdings" panose="05000000000000000000" pitchFamily="2" charset="2"/>
              </a:rPr>
              <a:t>numList.add</a:t>
            </a:r>
            <a:r>
              <a:rPr lang="en-CA">
                <a:sym typeface="Wingdings" panose="05000000000000000000" pitchFamily="2" charset="2"/>
              </a:rPr>
              <a:t>(3.14);		// trying to add a float (a Number), to an Integer list</a:t>
            </a:r>
            <a:br>
              <a:rPr lang="en-CA">
                <a:sym typeface="Wingdings" panose="05000000000000000000" pitchFamily="2" charset="2"/>
              </a:rPr>
            </a:br>
            <a:endParaRPr lang="en-CA">
              <a:sym typeface="Wingdings" panose="05000000000000000000" pitchFamily="2" charset="2"/>
            </a:endParaRPr>
          </a:p>
          <a:p>
            <a:r>
              <a:rPr lang="en-CA">
                <a:sym typeface="Wingdings" panose="05000000000000000000" pitchFamily="2" charset="2"/>
              </a:rPr>
              <a:t>This conflicts with generics and reusing the same code for multiple different types</a:t>
            </a:r>
          </a:p>
          <a:p>
            <a:r>
              <a:rPr lang="en-CA">
                <a:sym typeface="Wingdings" panose="05000000000000000000" pitchFamily="2" charset="2"/>
              </a:rPr>
              <a:t>So we use Covariance and Contravariance  (? extends Number) and </a:t>
            </a:r>
          </a:p>
          <a:p>
            <a:pPr marL="0" indent="0">
              <a:buNone/>
            </a:pPr>
            <a:r>
              <a:rPr lang="en-CA">
                <a:sym typeface="Wingdings" panose="05000000000000000000" pitchFamily="2" charset="2"/>
              </a:rPr>
              <a:t>   (? super Integer)</a:t>
            </a:r>
          </a:p>
          <a:p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A76A1-8097-C278-0AA4-F54F684E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65E98-09FE-1FA3-EF23-536816B3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8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944FC-6EB0-D4F8-2E79-138FDA42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176EA-8473-33EA-DB08-C167CFD2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Generics and inheritance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57744-74CB-25D7-7163-797379B54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>
            <a:normAutofit/>
          </a:bodyPr>
          <a:lstStyle/>
          <a:p>
            <a:r>
              <a:rPr lang="en-CA">
                <a:sym typeface="Wingdings" panose="05000000000000000000" pitchFamily="2" charset="2"/>
              </a:rPr>
              <a:t>Similar to how List&lt;String&gt; is not a subclass of List&lt;Object&gt;, List&lt;Dog&gt; is not a subtype of List&lt;Animal&gt;</a:t>
            </a:r>
            <a:br>
              <a:rPr lang="en-CA">
                <a:sym typeface="Wingdings" panose="05000000000000000000" pitchFamily="2" charset="2"/>
              </a:rPr>
            </a:b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Animal a = new Dog(); 	// this is allowed with inheritance</a:t>
            </a:r>
            <a:br>
              <a:rPr lang="en-US">
                <a:sym typeface="Wingdings" panose="05000000000000000000" pitchFamily="2" charset="2"/>
              </a:rPr>
            </a:br>
            <a:endParaRPr lang="en-US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CA">
                <a:sym typeface="Wingdings" panose="05000000000000000000" pitchFamily="2" charset="2"/>
              </a:rPr>
              <a:t>BUT with Lists and generics:</a:t>
            </a:r>
            <a:br>
              <a:rPr lang="en-CA">
                <a:sym typeface="Wingdings" panose="05000000000000000000" pitchFamily="2" charset="2"/>
              </a:rPr>
            </a:b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CA">
                <a:sym typeface="Wingdings" panose="05000000000000000000" pitchFamily="2" charset="2"/>
              </a:rPr>
              <a:t>List&lt;Dog&gt; dogs = new </a:t>
            </a:r>
            <a:r>
              <a:rPr lang="en-CA" err="1">
                <a:sym typeface="Wingdings" panose="05000000000000000000" pitchFamily="2" charset="2"/>
              </a:rPr>
              <a:t>ArrayList</a:t>
            </a:r>
            <a:r>
              <a:rPr lang="en-CA">
                <a:sym typeface="Wingdings" panose="05000000000000000000" pitchFamily="2" charset="2"/>
              </a:rPr>
              <a:t>&lt;&gt;();</a:t>
            </a:r>
          </a:p>
          <a:p>
            <a:pPr marL="0" indent="0">
              <a:buNone/>
            </a:pPr>
            <a:r>
              <a:rPr lang="en-CA">
                <a:sym typeface="Wingdings" panose="05000000000000000000" pitchFamily="2" charset="2"/>
              </a:rPr>
              <a:t>List&lt;Animal&gt; animals = dogs; 	// This causes a compile time error</a:t>
            </a: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DEEA2-E4D1-E2D7-C400-6129FEA0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87A1D0-9687-AFE3-79E6-8C7E0676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1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63CE0-FBD0-8529-F57A-3520680EF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C931-CCF2-F52E-8F35-AE0E6AD75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Covariance, Contravariance, and Pecs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1C867-1D44-2023-E983-2C6AB9BE9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>
            <a:normAutofit/>
          </a:bodyPr>
          <a:lstStyle/>
          <a:p>
            <a:r>
              <a:rPr lang="en-CA">
                <a:sym typeface="Wingdings" panose="05000000000000000000" pitchFamily="2" charset="2"/>
              </a:rPr>
              <a:t>Covariance, Contravariance, and PECS are all answers to the question of:</a:t>
            </a: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CA">
                <a:sym typeface="Wingdings" panose="05000000000000000000" pitchFamily="2" charset="2"/>
              </a:rPr>
              <a:t>When do you use (</a:t>
            </a:r>
            <a:r>
              <a:rPr lang="en-CA" b="1">
                <a:sym typeface="Wingdings" panose="05000000000000000000" pitchFamily="2" charset="2"/>
              </a:rPr>
              <a:t>? extends</a:t>
            </a:r>
            <a:r>
              <a:rPr lang="en-CA">
                <a:sym typeface="Wingdings" panose="05000000000000000000" pitchFamily="2" charset="2"/>
              </a:rPr>
              <a:t>)</a:t>
            </a:r>
            <a:r>
              <a:rPr lang="en-CA" b="1">
                <a:sym typeface="Wingdings" panose="05000000000000000000" pitchFamily="2" charset="2"/>
              </a:rPr>
              <a:t> </a:t>
            </a:r>
            <a:r>
              <a:rPr lang="en-CA">
                <a:sym typeface="Wingdings" panose="05000000000000000000" pitchFamily="2" charset="2"/>
              </a:rPr>
              <a:t>vs (</a:t>
            </a:r>
            <a:r>
              <a:rPr lang="en-CA" b="1">
                <a:sym typeface="Wingdings" panose="05000000000000000000" pitchFamily="2" charset="2"/>
              </a:rPr>
              <a:t>? super</a:t>
            </a:r>
            <a:r>
              <a:rPr lang="en-CA">
                <a:sym typeface="Wingdings" panose="05000000000000000000" pitchFamily="2" charset="2"/>
              </a:rPr>
              <a:t>)?</a:t>
            </a: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6FDEAF-48E1-3286-E0AC-0CC47358A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63465-13C5-184B-E1DA-A4603B5F6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73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2EC50-E0F0-8023-B833-B037EC235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AAAC-7575-86BE-412C-E8C6F1BFB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Covariance (producer)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1E78E-B51C-494A-87E2-EA54925FC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>
            <a:normAutofit/>
          </a:bodyPr>
          <a:lstStyle/>
          <a:p>
            <a:r>
              <a:rPr lang="en-CA">
                <a:sym typeface="Wingdings" panose="05000000000000000000" pitchFamily="2" charset="2"/>
              </a:rPr>
              <a:t>Covariance is (? extends T)</a:t>
            </a:r>
          </a:p>
          <a:p>
            <a:r>
              <a:rPr lang="en-CA">
                <a:sym typeface="Wingdings" panose="05000000000000000000" pitchFamily="2" charset="2"/>
              </a:rPr>
              <a:t>It means accepting type T or any </a:t>
            </a:r>
            <a:r>
              <a:rPr lang="en-CA" b="1">
                <a:sym typeface="Wingdings" panose="05000000000000000000" pitchFamily="2" charset="2"/>
              </a:rPr>
              <a:t>sub</a:t>
            </a:r>
            <a:r>
              <a:rPr lang="en-CA">
                <a:sym typeface="Wingdings" panose="05000000000000000000" pitchFamily="2" charset="2"/>
              </a:rPr>
              <a:t>type of T</a:t>
            </a:r>
          </a:p>
          <a:p>
            <a:r>
              <a:rPr lang="en-CA">
                <a:sym typeface="Wingdings" panose="05000000000000000000" pitchFamily="2" charset="2"/>
              </a:rPr>
              <a:t>Producer means it’s </a:t>
            </a:r>
            <a:r>
              <a:rPr lang="en-CA" b="1">
                <a:sym typeface="Wingdings" panose="05000000000000000000" pitchFamily="2" charset="2"/>
              </a:rPr>
              <a:t>giving</a:t>
            </a:r>
            <a:r>
              <a:rPr lang="en-CA">
                <a:sym typeface="Wingdings" panose="05000000000000000000" pitchFamily="2" charset="2"/>
              </a:rPr>
              <a:t> you data to read, producing it</a:t>
            </a:r>
          </a:p>
          <a:p>
            <a:endParaRPr lang="en-CA">
              <a:sym typeface="Wingdings" panose="05000000000000000000" pitchFamily="2" charset="2"/>
            </a:endParaRPr>
          </a:p>
          <a:p>
            <a:r>
              <a:rPr lang="en-CA">
                <a:sym typeface="Wingdings" panose="05000000000000000000" pitchFamily="2" charset="2"/>
              </a:rPr>
              <a:t>you</a:t>
            </a:r>
            <a:r>
              <a:rPr lang="en-CA" b="1">
                <a:sym typeface="Wingdings" panose="05000000000000000000" pitchFamily="2" charset="2"/>
              </a:rPr>
              <a:t> CANNOT </a:t>
            </a:r>
            <a:r>
              <a:rPr lang="en-CA">
                <a:sym typeface="Wingdings" panose="05000000000000000000" pitchFamily="2" charset="2"/>
              </a:rPr>
              <a:t>add / write to covariance Lists</a:t>
            </a: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44806-943E-A080-712F-BF310507C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756D3-364C-D609-A5A4-2F1D1046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54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B4C3E-420B-13AD-EF22-46A9A9595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8643-9900-FCE5-5A40-8453483F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ConTravariance</a:t>
            </a:r>
            <a:r>
              <a:rPr lang="en-US"/>
              <a:t> (consumer)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0DEA9-CBD3-A043-228F-5BD8512D4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>
            <a:normAutofit/>
          </a:bodyPr>
          <a:lstStyle/>
          <a:p>
            <a:r>
              <a:rPr lang="en-CA">
                <a:sym typeface="Wingdings" panose="05000000000000000000" pitchFamily="2" charset="2"/>
              </a:rPr>
              <a:t>Covariance is (? super T)</a:t>
            </a:r>
          </a:p>
          <a:p>
            <a:r>
              <a:rPr lang="en-CA">
                <a:sym typeface="Wingdings" panose="05000000000000000000" pitchFamily="2" charset="2"/>
              </a:rPr>
              <a:t>It means accepting type T or any </a:t>
            </a:r>
            <a:r>
              <a:rPr lang="en-CA" b="1">
                <a:sym typeface="Wingdings" panose="05000000000000000000" pitchFamily="2" charset="2"/>
              </a:rPr>
              <a:t>super</a:t>
            </a:r>
            <a:r>
              <a:rPr lang="en-CA">
                <a:sym typeface="Wingdings" panose="05000000000000000000" pitchFamily="2" charset="2"/>
              </a:rPr>
              <a:t>type of T</a:t>
            </a:r>
          </a:p>
          <a:p>
            <a:r>
              <a:rPr lang="en-CA">
                <a:sym typeface="Wingdings" panose="05000000000000000000" pitchFamily="2" charset="2"/>
              </a:rPr>
              <a:t>Consumer means </a:t>
            </a:r>
            <a:r>
              <a:rPr lang="en-CA" b="1">
                <a:sym typeface="Wingdings" panose="05000000000000000000" pitchFamily="2" charset="2"/>
              </a:rPr>
              <a:t>receiving</a:t>
            </a:r>
            <a:r>
              <a:rPr lang="en-CA">
                <a:sym typeface="Wingdings" panose="05000000000000000000" pitchFamily="2" charset="2"/>
              </a:rPr>
              <a:t> data, consuming and </a:t>
            </a:r>
            <a:r>
              <a:rPr lang="en-CA" b="1">
                <a:sym typeface="Wingdings" panose="05000000000000000000" pitchFamily="2" charset="2"/>
              </a:rPr>
              <a:t>writing</a:t>
            </a:r>
            <a:r>
              <a:rPr lang="en-CA">
                <a:sym typeface="Wingdings" panose="05000000000000000000" pitchFamily="2" charset="2"/>
              </a:rPr>
              <a:t> it</a:t>
            </a:r>
          </a:p>
          <a:p>
            <a:endParaRPr lang="en-CA">
              <a:sym typeface="Wingdings" panose="05000000000000000000" pitchFamily="2" charset="2"/>
            </a:endParaRPr>
          </a:p>
          <a:p>
            <a:r>
              <a:rPr lang="en-CA">
                <a:sym typeface="Wingdings" panose="05000000000000000000" pitchFamily="2" charset="2"/>
              </a:rPr>
              <a:t>You </a:t>
            </a:r>
            <a:r>
              <a:rPr lang="en-CA" b="1">
                <a:sym typeface="Wingdings" panose="05000000000000000000" pitchFamily="2" charset="2"/>
              </a:rPr>
              <a:t>add/write </a:t>
            </a:r>
            <a:r>
              <a:rPr lang="en-CA">
                <a:sym typeface="Wingdings" panose="05000000000000000000" pitchFamily="2" charset="2"/>
              </a:rPr>
              <a:t>to contravariance Lists, we try not to read from them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You can only read Objects safely from consumers</a:t>
            </a: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6360A-EB30-9954-7E14-7BE0F053E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6DE90-884F-38D8-DF03-2CF394E8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11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2B3D-C41E-7389-11EE-9726F678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0965D-7B88-68BF-5625-901D3E12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PECS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3DD6B-DE40-7C16-B500-A04BF2C21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>
            <a:normAutofit/>
          </a:bodyPr>
          <a:lstStyle/>
          <a:p>
            <a:r>
              <a:rPr lang="en-CA">
                <a:sym typeface="Wingdings" panose="05000000000000000000" pitchFamily="2" charset="2"/>
              </a:rPr>
              <a:t>PECS is how we remember covariance and contravariance and their rules</a:t>
            </a:r>
            <a:endParaRPr lang="en-CA" b="1">
              <a:sym typeface="Wingdings" panose="05000000000000000000" pitchFamily="2" charset="2"/>
            </a:endParaRPr>
          </a:p>
          <a:p>
            <a:r>
              <a:rPr lang="en-CA" b="1">
                <a:sym typeface="Wingdings" panose="05000000000000000000" pitchFamily="2" charset="2"/>
              </a:rPr>
              <a:t>Producer Extends, Consumer Super</a:t>
            </a:r>
            <a:endParaRPr lang="en-CA">
              <a:sym typeface="Wingdings" panose="05000000000000000000" pitchFamily="2" charset="2"/>
            </a:endParaRPr>
          </a:p>
          <a:p>
            <a:r>
              <a:rPr lang="en-CA">
                <a:sym typeface="Wingdings" panose="05000000000000000000" pitchFamily="2" charset="2"/>
              </a:rPr>
              <a:t>Producers </a:t>
            </a:r>
            <a:r>
              <a:rPr lang="en-CA" b="1">
                <a:sym typeface="Wingdings" panose="05000000000000000000" pitchFamily="2" charset="2"/>
              </a:rPr>
              <a:t>PRODUCE</a:t>
            </a:r>
            <a:r>
              <a:rPr lang="en-CA">
                <a:sym typeface="Wingdings" panose="05000000000000000000" pitchFamily="2" charset="2"/>
              </a:rPr>
              <a:t> data and use </a:t>
            </a:r>
            <a:r>
              <a:rPr lang="en-CA" b="1">
                <a:sym typeface="Wingdings" panose="05000000000000000000" pitchFamily="2" charset="2"/>
              </a:rPr>
              <a:t>extends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Made to read as T, and you CANNOT write</a:t>
            </a:r>
          </a:p>
          <a:p>
            <a:r>
              <a:rPr lang="en-CA">
                <a:sym typeface="Wingdings" panose="05000000000000000000" pitchFamily="2" charset="2"/>
              </a:rPr>
              <a:t>Consumers </a:t>
            </a:r>
            <a:r>
              <a:rPr lang="en-CA" b="1">
                <a:sym typeface="Wingdings" panose="05000000000000000000" pitchFamily="2" charset="2"/>
              </a:rPr>
              <a:t>CONSUME</a:t>
            </a:r>
            <a:r>
              <a:rPr lang="en-CA">
                <a:sym typeface="Wingdings" panose="05000000000000000000" pitchFamily="2" charset="2"/>
              </a:rPr>
              <a:t> data and use </a:t>
            </a:r>
            <a:r>
              <a:rPr lang="en-CA" b="1">
                <a:sym typeface="Wingdings" panose="05000000000000000000" pitchFamily="2" charset="2"/>
              </a:rPr>
              <a:t>super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Made to write data, and can be read ONLY as an Object</a:t>
            </a:r>
          </a:p>
          <a:p>
            <a:pPr lvl="1"/>
            <a:endParaRPr lang="en-CA">
              <a:sym typeface="Wingdings" panose="05000000000000000000" pitchFamily="2" charset="2"/>
            </a:endParaRPr>
          </a:p>
          <a:p>
            <a:r>
              <a:rPr lang="en-CA">
                <a:sym typeface="Wingdings" panose="05000000000000000000" pitchFamily="2" charset="2"/>
              </a:rPr>
              <a:t>Is this list giving me something, or am I giving it something?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If it gives  it’s a producer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If </a:t>
            </a:r>
            <a:r>
              <a:rPr lang="en-CA" b="1">
                <a:sym typeface="Wingdings" panose="05000000000000000000" pitchFamily="2" charset="2"/>
              </a:rPr>
              <a:t>I’m </a:t>
            </a:r>
            <a:r>
              <a:rPr lang="en-CA">
                <a:sym typeface="Wingdings" panose="05000000000000000000" pitchFamily="2" charset="2"/>
              </a:rPr>
              <a:t>giving data to the list  it’s a consumer</a:t>
            </a:r>
          </a:p>
          <a:p>
            <a:pPr marL="0" indent="0">
              <a:buNone/>
            </a:pPr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901947-1147-FA95-4BD8-1D32BD14F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DE727-9B7B-3D88-E7A7-C16ABDDF6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933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01FA5-913C-5EA4-2230-6C252B5D3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1D0BC-BC18-B36C-5D5E-4AFE562DA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Nested classes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90D6F-87BA-FBDD-DC13-171A6DDE4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>
            <a:normAutofit/>
          </a:bodyPr>
          <a:lstStyle/>
          <a:p>
            <a:r>
              <a:rPr lang="en-CA">
                <a:sym typeface="Wingdings" panose="05000000000000000000" pitchFamily="2" charset="2"/>
              </a:rPr>
              <a:t>Nested loops are when loops are inside other loops, the same applies for nested classes</a:t>
            </a:r>
          </a:p>
          <a:p>
            <a:r>
              <a:rPr lang="en-CA">
                <a:sym typeface="Wingdings" panose="05000000000000000000" pitchFamily="2" charset="2"/>
              </a:rPr>
              <a:t>Nested classes are classes inside other classes	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If the nested class is </a:t>
            </a:r>
            <a:r>
              <a:rPr lang="en-CA" b="1">
                <a:sym typeface="Wingdings" panose="05000000000000000000" pitchFamily="2" charset="2"/>
              </a:rPr>
              <a:t>not </a:t>
            </a:r>
            <a:r>
              <a:rPr lang="en-CA">
                <a:sym typeface="Wingdings" panose="05000000000000000000" pitchFamily="2" charset="2"/>
              </a:rPr>
              <a:t>static, it’s called an inner class</a:t>
            </a:r>
          </a:p>
          <a:p>
            <a:pPr lvl="1"/>
            <a:endParaRPr lang="en-CA">
              <a:sym typeface="Wingdings" panose="05000000000000000000" pitchFamily="2" charset="2"/>
            </a:endParaRPr>
          </a:p>
          <a:p>
            <a:r>
              <a:rPr lang="en-CA" b="1">
                <a:sym typeface="Wingdings" panose="05000000000000000000" pitchFamily="2" charset="2"/>
              </a:rPr>
              <a:t>There are four types of Nested Classes: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Static nested classes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Non-static inner classes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Local inner classes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Anonymous inner classes</a:t>
            </a:r>
          </a:p>
          <a:p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2E418-3357-C7D8-9927-F22D4E70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C2BCB-F8E6-C3D6-8352-51858837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957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29197-DDA9-10F7-F659-4EC49A075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A171-C722-D1FF-DC26-01A032DB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Static Nested classes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77C3C-9257-E241-DADD-8DB7C606B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94560"/>
            <a:ext cx="5410200" cy="4024125"/>
          </a:xfrm>
        </p:spPr>
        <p:txBody>
          <a:bodyPr>
            <a:normAutofit/>
          </a:bodyPr>
          <a:lstStyle/>
          <a:p>
            <a:r>
              <a:rPr lang="en-CA">
                <a:sym typeface="Wingdings" panose="05000000000000000000" pitchFamily="2" charset="2"/>
              </a:rPr>
              <a:t>A static nested class doesn’t need an instance of the outer class to exist</a:t>
            </a:r>
          </a:p>
          <a:p>
            <a:r>
              <a:rPr lang="en-CA">
                <a:sym typeface="Wingdings" panose="05000000000000000000" pitchFamily="2" charset="2"/>
              </a:rPr>
              <a:t>It’s just a normal class that is grouped inside another class for organizational purposes only</a:t>
            </a:r>
          </a:p>
          <a:p>
            <a:r>
              <a:rPr lang="en-CA">
                <a:sym typeface="Wingdings" panose="05000000000000000000" pitchFamily="2" charset="2"/>
              </a:rPr>
              <a:t>Has no access to the outer class’s instance variables </a:t>
            </a:r>
          </a:p>
          <a:p>
            <a:r>
              <a:rPr lang="en-CA">
                <a:sym typeface="Wingdings" panose="05000000000000000000" pitchFamily="2" charset="2"/>
              </a:rPr>
              <a:t>Doesn’t belong to an instance of its outer class</a:t>
            </a:r>
          </a:p>
          <a:p>
            <a:endParaRPr lang="en-CA">
              <a:sym typeface="Wingdings" panose="05000000000000000000" pitchFamily="2" charset="2"/>
            </a:endParaRPr>
          </a:p>
          <a:p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B6DC4-3043-7DED-8B0B-B1287746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C0806-538B-CB21-3A4B-9C834868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D6A9C2-C26A-36C3-9FCF-43DB4970DA08}"/>
              </a:ext>
            </a:extLst>
          </p:cNvPr>
          <p:cNvSpPr txBox="1">
            <a:spLocks/>
          </p:cNvSpPr>
          <p:nvPr/>
        </p:nvSpPr>
        <p:spPr>
          <a:xfrm>
            <a:off x="685800" y="2194559"/>
            <a:ext cx="54102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class Car {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    private final String model = “Toyota”</a:t>
            </a:r>
          </a:p>
          <a:p>
            <a:pPr marL="0" indent="0">
              <a:buNone/>
            </a:pPr>
            <a:endParaRPr lang="en-CA" sz="200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    static class </a:t>
            </a:r>
            <a:r>
              <a:rPr lang="en-CA" sz="2000" err="1">
                <a:sym typeface="Wingdings" panose="05000000000000000000" pitchFamily="2" charset="2"/>
              </a:rPr>
              <a:t>CarInfo</a:t>
            </a:r>
            <a:r>
              <a:rPr lang="en-CA" sz="2000">
                <a:sym typeface="Wingdings" panose="05000000000000000000" pitchFamily="2" charset="2"/>
              </a:rPr>
              <a:t> {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    public void </a:t>
            </a:r>
            <a:r>
              <a:rPr lang="en-CA" sz="2000" err="1">
                <a:sym typeface="Wingdings" panose="05000000000000000000" pitchFamily="2" charset="2"/>
              </a:rPr>
              <a:t>displayInfo</a:t>
            </a:r>
            <a:r>
              <a:rPr lang="en-CA" sz="2000">
                <a:sym typeface="Wingdings" panose="05000000000000000000" pitchFamily="2" charset="2"/>
              </a:rPr>
              <a:t>() {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	</a:t>
            </a:r>
            <a:r>
              <a:rPr lang="en-CA" sz="2000" err="1">
                <a:sym typeface="Wingdings" panose="05000000000000000000" pitchFamily="2" charset="2"/>
              </a:rPr>
              <a:t>System.out.println</a:t>
            </a:r>
            <a:r>
              <a:rPr lang="en-CA" sz="2000">
                <a:sym typeface="Wingdings" panose="05000000000000000000" pitchFamily="2" charset="2"/>
              </a:rPr>
              <a:t>(“This is a static 	nested class”);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	// cannot access ‘model’ here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    }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}</a:t>
            </a:r>
          </a:p>
          <a:p>
            <a:endParaRPr lang="en-CA" sz="200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24298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BD48B-741D-6FD2-E7FD-02BBB357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AB0E-5FDB-265B-3EEE-E0E76BD77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non-Static inner classes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81CAE-CE92-5AA6-FFAE-70E870AE3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94560"/>
            <a:ext cx="5410200" cy="4024125"/>
          </a:xfrm>
        </p:spPr>
        <p:txBody>
          <a:bodyPr>
            <a:normAutofit/>
          </a:bodyPr>
          <a:lstStyle/>
          <a:p>
            <a:r>
              <a:rPr lang="en-CA">
                <a:sym typeface="Wingdings" panose="05000000000000000000" pitchFamily="2" charset="2"/>
              </a:rPr>
              <a:t>A non-static inner class </a:t>
            </a:r>
            <a:r>
              <a:rPr lang="en-CA" b="1">
                <a:sym typeface="Wingdings" panose="05000000000000000000" pitchFamily="2" charset="2"/>
              </a:rPr>
              <a:t>requires</a:t>
            </a:r>
            <a:r>
              <a:rPr lang="en-CA">
                <a:sym typeface="Wingdings" panose="05000000000000000000" pitchFamily="2" charset="2"/>
              </a:rPr>
              <a:t> an instance of the outer class to exist</a:t>
            </a:r>
          </a:p>
          <a:p>
            <a:r>
              <a:rPr lang="en-CA">
                <a:sym typeface="Wingdings" panose="05000000000000000000" pitchFamily="2" charset="2"/>
              </a:rPr>
              <a:t>It has full access to the outer class’s instance variables and methods, even the private ones</a:t>
            </a:r>
          </a:p>
          <a:p>
            <a:r>
              <a:rPr lang="en-CA">
                <a:sym typeface="Wingdings" panose="05000000000000000000" pitchFamily="2" charset="2"/>
              </a:rPr>
              <a:t>The Engine is tied to a specific Car instance and can access its private variables</a:t>
            </a:r>
          </a:p>
          <a:p>
            <a:endParaRPr lang="en-CA">
              <a:sym typeface="Wingdings" panose="05000000000000000000" pitchFamily="2" charset="2"/>
            </a:endParaRPr>
          </a:p>
          <a:p>
            <a:endParaRPr lang="en-CA">
              <a:sym typeface="Wingdings" panose="05000000000000000000" pitchFamily="2" charset="2"/>
            </a:endParaRPr>
          </a:p>
          <a:p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D51C6-F572-4575-1C87-6B0E30B8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C57AC-FCBF-47EA-5FA4-8A9652D8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DD9FE11-64C1-8114-5160-7BD85175E640}"/>
              </a:ext>
            </a:extLst>
          </p:cNvPr>
          <p:cNvSpPr txBox="1">
            <a:spLocks/>
          </p:cNvSpPr>
          <p:nvPr/>
        </p:nvSpPr>
        <p:spPr>
          <a:xfrm>
            <a:off x="685800" y="2194559"/>
            <a:ext cx="54102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class Car {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    private final String model = “Toyota”</a:t>
            </a:r>
          </a:p>
          <a:p>
            <a:pPr marL="0" indent="0">
              <a:buNone/>
            </a:pPr>
            <a:endParaRPr lang="en-CA" sz="200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    class Engine {      // non-static inner class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    public void start() {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	</a:t>
            </a:r>
            <a:r>
              <a:rPr lang="en-CA" sz="2000" err="1">
                <a:sym typeface="Wingdings" panose="05000000000000000000" pitchFamily="2" charset="2"/>
              </a:rPr>
              <a:t>System.out.println</a:t>
            </a:r>
            <a:r>
              <a:rPr lang="en-CA" sz="2000">
                <a:sym typeface="Wingdings" panose="05000000000000000000" pitchFamily="2" charset="2"/>
              </a:rPr>
              <a:t>(“Engine started 	in ” + model);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	// </a:t>
            </a:r>
            <a:r>
              <a:rPr lang="en-CA" sz="2000" b="1">
                <a:sym typeface="Wingdings" panose="05000000000000000000" pitchFamily="2" charset="2"/>
              </a:rPr>
              <a:t>CAN</a:t>
            </a:r>
            <a:r>
              <a:rPr lang="en-CA" sz="2000">
                <a:sym typeface="Wingdings" panose="05000000000000000000" pitchFamily="2" charset="2"/>
              </a:rPr>
              <a:t> access ‘model’ here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    }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}</a:t>
            </a:r>
          </a:p>
          <a:p>
            <a:endParaRPr lang="en-CA" sz="200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64736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6F631-F5D2-7136-44F0-626E2046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D9995-E3DC-078E-520C-68CADCD82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 inner classes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295C7-E8BA-F839-2EF0-60E94AAD3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94560"/>
            <a:ext cx="5410200" cy="4161282"/>
          </a:xfrm>
        </p:spPr>
        <p:txBody>
          <a:bodyPr>
            <a:normAutofit/>
          </a:bodyPr>
          <a:lstStyle/>
          <a:p>
            <a:r>
              <a:rPr lang="en-CA">
                <a:sym typeface="Wingdings" panose="05000000000000000000" pitchFamily="2" charset="2"/>
              </a:rPr>
              <a:t>A local inner class is defined in the outer class’s </a:t>
            </a:r>
            <a:r>
              <a:rPr lang="en-CA" b="1">
                <a:sym typeface="Wingdings" panose="05000000000000000000" pitchFamily="2" charset="2"/>
              </a:rPr>
              <a:t>method</a:t>
            </a:r>
            <a:endParaRPr lang="en-CA">
              <a:sym typeface="Wingdings" panose="05000000000000000000" pitchFamily="2" charset="2"/>
            </a:endParaRPr>
          </a:p>
          <a:p>
            <a:r>
              <a:rPr lang="en-CA">
                <a:sym typeface="Wingdings" panose="05000000000000000000" pitchFamily="2" charset="2"/>
              </a:rPr>
              <a:t>It can </a:t>
            </a:r>
            <a:r>
              <a:rPr lang="en-CA" b="1">
                <a:sym typeface="Wingdings" panose="05000000000000000000" pitchFamily="2" charset="2"/>
              </a:rPr>
              <a:t>only </a:t>
            </a:r>
            <a:r>
              <a:rPr lang="en-CA">
                <a:sym typeface="Wingdings" panose="05000000000000000000" pitchFamily="2" charset="2"/>
              </a:rPr>
              <a:t>be used within that method </a:t>
            </a:r>
          </a:p>
          <a:p>
            <a:r>
              <a:rPr lang="en-CA">
                <a:sym typeface="Wingdings" panose="05000000000000000000" pitchFamily="2" charset="2"/>
              </a:rPr>
              <a:t>Has access to the method’s local variables if they’re </a:t>
            </a:r>
            <a:r>
              <a:rPr lang="en-CA" b="1">
                <a:sym typeface="Wingdings" panose="05000000000000000000" pitchFamily="2" charset="2"/>
              </a:rPr>
              <a:t>final </a:t>
            </a:r>
            <a:r>
              <a:rPr lang="en-CA">
                <a:sym typeface="Wingdings" panose="05000000000000000000" pitchFamily="2" charset="2"/>
              </a:rPr>
              <a:t>or </a:t>
            </a:r>
            <a:r>
              <a:rPr lang="en-CA" b="1">
                <a:sym typeface="Wingdings" panose="05000000000000000000" pitchFamily="2" charset="2"/>
              </a:rPr>
              <a:t>effectively final</a:t>
            </a:r>
            <a:r>
              <a:rPr lang="en-CA">
                <a:sym typeface="Wingdings" panose="05000000000000000000" pitchFamily="2" charset="2"/>
              </a:rPr>
              <a:t> (never modified)</a:t>
            </a:r>
          </a:p>
          <a:p>
            <a:r>
              <a:rPr lang="en-CA">
                <a:sym typeface="Wingdings" panose="05000000000000000000" pitchFamily="2" charset="2"/>
              </a:rPr>
              <a:t>Variables must be final because the inner class can </a:t>
            </a:r>
            <a:r>
              <a:rPr lang="en-CA" b="1">
                <a:sym typeface="Wingdings" panose="05000000000000000000" pitchFamily="2" charset="2"/>
              </a:rPr>
              <a:t>outlive</a:t>
            </a:r>
            <a:r>
              <a:rPr lang="en-CA">
                <a:sym typeface="Wingdings" panose="05000000000000000000" pitchFamily="2" charset="2"/>
              </a:rPr>
              <a:t> the method</a:t>
            </a:r>
          </a:p>
          <a:p>
            <a:pPr lvl="1"/>
            <a:r>
              <a:rPr lang="en-CA">
                <a:sym typeface="Wingdings" panose="05000000000000000000" pitchFamily="2" charset="2"/>
              </a:rPr>
              <a:t>Variable changing after the inner class takes it, you’ll have inconsistencies</a:t>
            </a:r>
          </a:p>
          <a:p>
            <a:endParaRPr lang="en-CA">
              <a:sym typeface="Wingdings" panose="05000000000000000000" pitchFamily="2" charset="2"/>
            </a:endParaRPr>
          </a:p>
          <a:p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417C09-8228-71A3-CD0E-ADECE7273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F4611-0AEB-34B5-A74C-95841B7CE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A9830F-B236-AC2D-9FFD-CE56293AA612}"/>
              </a:ext>
            </a:extLst>
          </p:cNvPr>
          <p:cNvSpPr txBox="1">
            <a:spLocks/>
          </p:cNvSpPr>
          <p:nvPr/>
        </p:nvSpPr>
        <p:spPr>
          <a:xfrm>
            <a:off x="685800" y="2057401"/>
            <a:ext cx="5410200" cy="416128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class </a:t>
            </a:r>
            <a:r>
              <a:rPr lang="en-CA" sz="2000" err="1">
                <a:sym typeface="Wingdings" panose="05000000000000000000" pitchFamily="2" charset="2"/>
              </a:rPr>
              <a:t>BankAccount</a:t>
            </a:r>
            <a:r>
              <a:rPr lang="en-CA" sz="2000">
                <a:sym typeface="Wingdings" panose="05000000000000000000" pitchFamily="2" charset="2"/>
              </a:rPr>
              <a:t> {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    private String accountholder;</a:t>
            </a:r>
            <a:br>
              <a:rPr lang="en-CA" sz="2000">
                <a:sym typeface="Wingdings" panose="05000000000000000000" pitchFamily="2" charset="2"/>
              </a:rPr>
            </a:br>
            <a:r>
              <a:rPr lang="en-CA" sz="2000">
                <a:sym typeface="Wingdings" panose="05000000000000000000" pitchFamily="2" charset="2"/>
              </a:rPr>
              <a:t>    private double </a:t>
            </a:r>
            <a:r>
              <a:rPr lang="en-CA" sz="2000" err="1">
                <a:sym typeface="Wingdings" panose="05000000000000000000" pitchFamily="2" charset="2"/>
              </a:rPr>
              <a:t>balanceCad</a:t>
            </a:r>
            <a:r>
              <a:rPr lang="en-CA" sz="2000">
                <a:sym typeface="Wingdings" panose="05000000000000000000" pitchFamily="2" charset="2"/>
              </a:rPr>
              <a:t>;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    class </a:t>
            </a:r>
            <a:r>
              <a:rPr lang="en-CA" sz="2000" err="1">
                <a:sym typeface="Wingdings" panose="05000000000000000000" pitchFamily="2" charset="2"/>
              </a:rPr>
              <a:t>TransactionLogger</a:t>
            </a:r>
            <a:r>
              <a:rPr lang="en-CA" sz="2000">
                <a:sym typeface="Wingdings" panose="05000000000000000000" pitchFamily="2" charset="2"/>
              </a:rPr>
              <a:t> {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	public void </a:t>
            </a:r>
            <a:r>
              <a:rPr lang="en-CA" sz="2000" err="1">
                <a:sym typeface="Wingdings" panose="05000000000000000000" pitchFamily="2" charset="2"/>
              </a:rPr>
              <a:t>logUser</a:t>
            </a:r>
            <a:r>
              <a:rPr lang="en-CA" sz="2000">
                <a:sym typeface="Wingdings" panose="05000000000000000000" pitchFamily="2" charset="2"/>
              </a:rPr>
              <a:t>() {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	    </a:t>
            </a:r>
            <a:r>
              <a:rPr lang="en-CA" sz="2000" err="1">
                <a:sym typeface="Wingdings" panose="05000000000000000000" pitchFamily="2" charset="2"/>
              </a:rPr>
              <a:t>System.out.println</a:t>
            </a:r>
            <a:r>
              <a:rPr lang="en-CA" sz="2000">
                <a:sym typeface="Wingdings" panose="05000000000000000000" pitchFamily="2" charset="2"/>
              </a:rPr>
              <a:t>(“Account: “ + 	    accountholder);</a:t>
            </a:r>
            <a:br>
              <a:rPr lang="en-CA" sz="2000">
                <a:sym typeface="Wingdings" panose="05000000000000000000" pitchFamily="2" charset="2"/>
              </a:rPr>
            </a:br>
            <a:r>
              <a:rPr lang="en-CA" sz="2000">
                <a:sym typeface="Wingdings" panose="05000000000000000000" pitchFamily="2" charset="2"/>
              </a:rPr>
              <a:t>	    </a:t>
            </a:r>
            <a:r>
              <a:rPr lang="en-CA" sz="2000" err="1">
                <a:sym typeface="Wingdings" panose="05000000000000000000" pitchFamily="2" charset="2"/>
              </a:rPr>
              <a:t>System.out.println</a:t>
            </a:r>
            <a:r>
              <a:rPr lang="en-CA" sz="2000">
                <a:sym typeface="Wingdings" panose="05000000000000000000" pitchFamily="2" charset="2"/>
              </a:rPr>
              <a:t>(“Balance: “ + 	    </a:t>
            </a:r>
            <a:r>
              <a:rPr lang="en-CA" sz="2000" err="1">
                <a:sym typeface="Wingdings" panose="05000000000000000000" pitchFamily="2" charset="2"/>
              </a:rPr>
              <a:t>balanceCad</a:t>
            </a:r>
            <a:r>
              <a:rPr lang="en-CA" sz="2000">
                <a:sym typeface="Wingdings" panose="05000000000000000000" pitchFamily="2" charset="2"/>
              </a:rPr>
              <a:t>);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	}      // you can access the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    }	       // instance variables directly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}</a:t>
            </a:r>
          </a:p>
          <a:p>
            <a:pPr marL="0" indent="0">
              <a:buNone/>
            </a:pPr>
            <a:endParaRPr lang="en-CA" sz="200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CA" sz="200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7922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DAA8C-BDAB-D6E3-66AF-645A3506B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02941-FCA9-11C2-DEF5-81435FCF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Anonymous Inner class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05412-1001-F1E0-93C0-ACC6AC3F8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94563"/>
            <a:ext cx="5410200" cy="4161282"/>
          </a:xfrm>
        </p:spPr>
        <p:txBody>
          <a:bodyPr>
            <a:normAutofit/>
          </a:bodyPr>
          <a:lstStyle/>
          <a:p>
            <a:r>
              <a:rPr lang="en-CA">
                <a:sym typeface="Wingdings" panose="05000000000000000000" pitchFamily="2" charset="2"/>
              </a:rPr>
              <a:t>An anonymous inner class is a one-time-use class with </a:t>
            </a:r>
            <a:r>
              <a:rPr lang="en-CA" b="1">
                <a:sym typeface="Wingdings" panose="05000000000000000000" pitchFamily="2" charset="2"/>
              </a:rPr>
              <a:t>no name</a:t>
            </a:r>
            <a:endParaRPr lang="en-CA">
              <a:sym typeface="Wingdings" panose="05000000000000000000" pitchFamily="2" charset="2"/>
            </a:endParaRPr>
          </a:p>
          <a:p>
            <a:r>
              <a:rPr lang="en-CA">
                <a:sym typeface="Wingdings" panose="05000000000000000000" pitchFamily="2" charset="2"/>
              </a:rPr>
              <a:t>You define and instantiate it in one step, used to implement an interface or extend a class as you go</a:t>
            </a:r>
          </a:p>
          <a:p>
            <a:r>
              <a:rPr lang="en-CA">
                <a:sym typeface="Wingdings" panose="05000000000000000000" pitchFamily="2" charset="2"/>
              </a:rPr>
              <a:t>Used in event handling, threading, or small scenarios where a full class is overkill</a:t>
            </a:r>
          </a:p>
          <a:p>
            <a:r>
              <a:rPr lang="en-CA">
                <a:sym typeface="Wingdings" panose="05000000000000000000" pitchFamily="2" charset="2"/>
              </a:rPr>
              <a:t>Creating a comparator for the example</a:t>
            </a:r>
          </a:p>
          <a:p>
            <a:endParaRPr lang="en-CA">
              <a:sym typeface="Wingdings" panose="05000000000000000000" pitchFamily="2" charset="2"/>
            </a:endParaRPr>
          </a:p>
          <a:p>
            <a:endParaRPr lang="en-CA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95F07-0176-11AF-08AE-BD56735F2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 2522 L7: Generics &amp; Nested Classes 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35EBF-6766-48F4-BE21-931A356CA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3F284E9-D27E-11A2-11BD-440AC2956CF0}"/>
              </a:ext>
            </a:extLst>
          </p:cNvPr>
          <p:cNvSpPr txBox="1">
            <a:spLocks/>
          </p:cNvSpPr>
          <p:nvPr/>
        </p:nvSpPr>
        <p:spPr>
          <a:xfrm>
            <a:off x="685800" y="2057401"/>
            <a:ext cx="5410200" cy="4161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List&lt;Integer&gt; numbers = new </a:t>
            </a:r>
            <a:r>
              <a:rPr lang="en-CA" sz="2000" err="1">
                <a:sym typeface="Wingdings" panose="05000000000000000000" pitchFamily="2" charset="2"/>
              </a:rPr>
              <a:t>ArrayList</a:t>
            </a:r>
            <a:r>
              <a:rPr lang="en-CA" sz="2000">
                <a:sym typeface="Wingdings" panose="05000000000000000000" pitchFamily="2" charset="2"/>
              </a:rPr>
              <a:t>&lt;&gt;();</a:t>
            </a:r>
          </a:p>
          <a:p>
            <a:pPr marL="0" indent="0">
              <a:buNone/>
            </a:pPr>
            <a:r>
              <a:rPr lang="en-CA" sz="2000" err="1">
                <a:sym typeface="Wingdings" panose="05000000000000000000" pitchFamily="2" charset="2"/>
              </a:rPr>
              <a:t>numbers.add</a:t>
            </a:r>
            <a:r>
              <a:rPr lang="en-CA" sz="2000">
                <a:sym typeface="Wingdings" panose="05000000000000000000" pitchFamily="2" charset="2"/>
              </a:rPr>
              <a:t>(996);</a:t>
            </a:r>
            <a:br>
              <a:rPr lang="en-CA" sz="2000">
                <a:sym typeface="Wingdings" panose="05000000000000000000" pitchFamily="2" charset="2"/>
              </a:rPr>
            </a:br>
            <a:r>
              <a:rPr lang="en-CA" sz="2000" err="1">
                <a:sym typeface="Wingdings" panose="05000000000000000000" pitchFamily="2" charset="2"/>
              </a:rPr>
              <a:t>numbers.add</a:t>
            </a:r>
            <a:r>
              <a:rPr lang="en-CA" sz="2000">
                <a:sym typeface="Wingdings" panose="05000000000000000000" pitchFamily="2" charset="2"/>
              </a:rPr>
              <a:t>(666);</a:t>
            </a:r>
            <a:br>
              <a:rPr lang="en-CA" sz="2000">
                <a:sym typeface="Wingdings" panose="05000000000000000000" pitchFamily="2" charset="2"/>
              </a:rPr>
            </a:br>
            <a:r>
              <a:rPr lang="en-CA" sz="2000" err="1">
                <a:sym typeface="Wingdings" panose="05000000000000000000" pitchFamily="2" charset="2"/>
              </a:rPr>
              <a:t>numbers.add</a:t>
            </a:r>
            <a:r>
              <a:rPr lang="en-CA" sz="2000">
                <a:sym typeface="Wingdings" panose="05000000000000000000" pitchFamily="2" charset="2"/>
              </a:rPr>
              <a:t>(49);</a:t>
            </a:r>
          </a:p>
          <a:p>
            <a:pPr marL="0" indent="0">
              <a:buNone/>
            </a:pPr>
            <a:r>
              <a:rPr lang="en-CA" sz="2000" err="1">
                <a:sym typeface="Wingdings" panose="05000000000000000000" pitchFamily="2" charset="2"/>
              </a:rPr>
              <a:t>Collections.sort</a:t>
            </a:r>
            <a:r>
              <a:rPr lang="en-CA" sz="2000">
                <a:sym typeface="Wingdings" panose="05000000000000000000" pitchFamily="2" charset="2"/>
              </a:rPr>
              <a:t>(numbers, new Comparator&lt;Integer&gt;() {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   @Override</a:t>
            </a:r>
            <a:br>
              <a:rPr lang="en-CA" sz="2000">
                <a:sym typeface="Wingdings" panose="05000000000000000000" pitchFamily="2" charset="2"/>
              </a:rPr>
            </a:br>
            <a:r>
              <a:rPr lang="en-CA" sz="2000">
                <a:sym typeface="Wingdings" panose="05000000000000000000" pitchFamily="2" charset="2"/>
              </a:rPr>
              <a:t>   public int compare(Integer a, Integer b){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       return </a:t>
            </a:r>
            <a:r>
              <a:rPr lang="en-CA" sz="2000" err="1">
                <a:sym typeface="Wingdings" panose="05000000000000000000" pitchFamily="2" charset="2"/>
              </a:rPr>
              <a:t>Integer.compare</a:t>
            </a:r>
            <a:r>
              <a:rPr lang="en-CA" sz="2000">
                <a:sym typeface="Wingdings" panose="05000000000000000000" pitchFamily="2" charset="2"/>
              </a:rPr>
              <a:t>(b, a);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   }</a:t>
            </a:r>
          </a:p>
          <a:p>
            <a:pPr marL="0" indent="0">
              <a:buNone/>
            </a:pPr>
            <a:r>
              <a:rPr lang="en-CA" sz="2000">
                <a:sym typeface="Wingdings" panose="05000000000000000000" pitchFamily="2" charset="2"/>
              </a:rPr>
              <a:t>});</a:t>
            </a:r>
          </a:p>
          <a:p>
            <a:pPr marL="0" indent="0">
              <a:buNone/>
            </a:pPr>
            <a:endParaRPr lang="en-CA" sz="200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CA" sz="200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0704912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53454D3728344382CDE2F8BE0EE242" ma:contentTypeVersion="5" ma:contentTypeDescription="Create a new document." ma:contentTypeScope="" ma:versionID="fccc214ab4b121c3c7e97640ff1ca7ab">
  <xsd:schema xmlns:xsd="http://www.w3.org/2001/XMLSchema" xmlns:xs="http://www.w3.org/2001/XMLSchema" xmlns:p="http://schemas.microsoft.com/office/2006/metadata/properties" xmlns:ns3="f9e21280-e7fb-48d6-b788-1acc2191a99b" targetNamespace="http://schemas.microsoft.com/office/2006/metadata/properties" ma:root="true" ma:fieldsID="68a2b8e3863d01c1738987755d6ea1cd" ns3:_="">
    <xsd:import namespace="f9e21280-e7fb-48d6-b788-1acc2191a99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e21280-e7fb-48d6-b788-1acc2191a99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e21280-e7fb-48d6-b788-1acc2191a99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FDA27C-9C11-42ED-8358-96DCFA275442}">
  <ds:schemaRefs>
    <ds:schemaRef ds:uri="f9e21280-e7fb-48d6-b788-1acc2191a9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2B176FE-6FA7-47A2-ACF4-3C1BC29D9440}">
  <ds:schemaRefs>
    <ds:schemaRef ds:uri="http://schemas.microsoft.com/office/2006/documentManagement/types"/>
    <ds:schemaRef ds:uri="http://schemas.microsoft.com/office/2006/metadata/properties"/>
    <ds:schemaRef ds:uri="f9e21280-e7fb-48d6-b788-1acc2191a99b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6523ED1-C26C-4E55-AA14-28B9610258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0</TotalTime>
  <Words>2801</Words>
  <Application>Microsoft Office PowerPoint</Application>
  <PresentationFormat>Widescreen</PresentationFormat>
  <Paragraphs>406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Century Gothic</vt:lpstr>
      <vt:lpstr>Wingdings</vt:lpstr>
      <vt:lpstr>Vapor Trail</vt:lpstr>
      <vt:lpstr>COMP2522</vt:lpstr>
      <vt:lpstr>Generics</vt:lpstr>
      <vt:lpstr>Generics</vt:lpstr>
      <vt:lpstr>WHY GENERICS?</vt:lpstr>
      <vt:lpstr>Eliminating unnecessary casting</vt:lpstr>
      <vt:lpstr>TYPE Safety</vt:lpstr>
      <vt:lpstr>Reusing code</vt:lpstr>
      <vt:lpstr>Generics: multiple parameters</vt:lpstr>
      <vt:lpstr>Generics: multiple parameters</vt:lpstr>
      <vt:lpstr>Generic Methods</vt:lpstr>
      <vt:lpstr>bounded types in generics</vt:lpstr>
      <vt:lpstr>GENERICS: Upper bounds</vt:lpstr>
      <vt:lpstr>GENERICS: BOUNDS WITH METHODS</vt:lpstr>
      <vt:lpstr>GENERICS: WILDCARDS</vt:lpstr>
      <vt:lpstr>Unbounded wildcard</vt:lpstr>
      <vt:lpstr>Unbounded wildcard vs object</vt:lpstr>
      <vt:lpstr>Upper bounded wildcard</vt:lpstr>
      <vt:lpstr>lower bounded wildcard</vt:lpstr>
      <vt:lpstr>Multiple Bounds</vt:lpstr>
      <vt:lpstr>Generics and inheritance</vt:lpstr>
      <vt:lpstr>Generics and inheritance</vt:lpstr>
      <vt:lpstr>Covariance, Contravariance, and Pecs</vt:lpstr>
      <vt:lpstr>Covariance (producer)</vt:lpstr>
      <vt:lpstr>ConTravariance (consumer)</vt:lpstr>
      <vt:lpstr>PECS</vt:lpstr>
      <vt:lpstr>Nested classes</vt:lpstr>
      <vt:lpstr>Static Nested classes</vt:lpstr>
      <vt:lpstr>non-Static inner classes</vt:lpstr>
      <vt:lpstr>Local inner classes</vt:lpstr>
      <vt:lpstr>Anonymous Inner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COMP2601: Programming fundamentals  part 3 (objects)</dc:title>
  <dc:creator>jason harrison</dc:creator>
  <cp:lastModifiedBy>GRACE YANG</cp:lastModifiedBy>
  <cp:revision>2</cp:revision>
  <cp:lastPrinted>2025-11-20T23:00:16Z</cp:lastPrinted>
  <dcterms:created xsi:type="dcterms:W3CDTF">2021-04-13T23:09:01Z</dcterms:created>
  <dcterms:modified xsi:type="dcterms:W3CDTF">2026-02-19T11:17:22Z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0x0101001653454D3728344382CDE2F8BE0EE242</vt:lpwstr>
  </property>
</Properties>
</file>