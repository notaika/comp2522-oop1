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57"/>
  </p:notesMasterIdLst>
  <p:sldIdLst>
    <p:sldId id="256" r:id="rId2"/>
    <p:sldId id="607" r:id="rId3"/>
    <p:sldId id="636" r:id="rId4"/>
    <p:sldId id="637" r:id="rId5"/>
    <p:sldId id="638" r:id="rId6"/>
    <p:sldId id="639" r:id="rId7"/>
    <p:sldId id="640" r:id="rId8"/>
    <p:sldId id="582" r:id="rId9"/>
    <p:sldId id="275" r:id="rId10"/>
    <p:sldId id="583" r:id="rId11"/>
    <p:sldId id="584" r:id="rId12"/>
    <p:sldId id="273" r:id="rId13"/>
    <p:sldId id="274" r:id="rId14"/>
    <p:sldId id="585" r:id="rId15"/>
    <p:sldId id="586" r:id="rId16"/>
    <p:sldId id="587" r:id="rId17"/>
    <p:sldId id="588" r:id="rId18"/>
    <p:sldId id="589" r:id="rId19"/>
    <p:sldId id="590" r:id="rId20"/>
    <p:sldId id="591" r:id="rId21"/>
    <p:sldId id="592" r:id="rId22"/>
    <p:sldId id="593" r:id="rId23"/>
    <p:sldId id="594" r:id="rId24"/>
    <p:sldId id="595" r:id="rId25"/>
    <p:sldId id="596" r:id="rId26"/>
    <p:sldId id="597" r:id="rId27"/>
    <p:sldId id="598" r:id="rId28"/>
    <p:sldId id="600" r:id="rId29"/>
    <p:sldId id="602" r:id="rId30"/>
    <p:sldId id="635" r:id="rId31"/>
    <p:sldId id="604" r:id="rId32"/>
    <p:sldId id="605" r:id="rId33"/>
    <p:sldId id="606" r:id="rId34"/>
    <p:sldId id="608" r:id="rId35"/>
    <p:sldId id="616" r:id="rId36"/>
    <p:sldId id="623" r:id="rId37"/>
    <p:sldId id="624" r:id="rId38"/>
    <p:sldId id="625" r:id="rId39"/>
    <p:sldId id="626" r:id="rId40"/>
    <p:sldId id="628" r:id="rId41"/>
    <p:sldId id="627" r:id="rId42"/>
    <p:sldId id="629" r:id="rId43"/>
    <p:sldId id="633" r:id="rId44"/>
    <p:sldId id="617" r:id="rId45"/>
    <p:sldId id="618" r:id="rId46"/>
    <p:sldId id="619" r:id="rId47"/>
    <p:sldId id="620" r:id="rId48"/>
    <p:sldId id="621" r:id="rId49"/>
    <p:sldId id="599" r:id="rId50"/>
    <p:sldId id="634" r:id="rId51"/>
    <p:sldId id="601" r:id="rId52"/>
    <p:sldId id="603" r:id="rId53"/>
    <p:sldId id="630" r:id="rId54"/>
    <p:sldId id="631" r:id="rId55"/>
    <p:sldId id="632" r:id="rId5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680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108" y="1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BE7D35-97FD-43AA-9845-88D336E1E2C8}" type="datetimeFigureOut">
              <a:rPr lang="en-CA" smtClean="0"/>
              <a:t>2026-01-08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FCF80A-91D4-413F-BA5D-4E5D3480E36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720402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815C7-AFD1-4D8B-96CE-C2A2B7E8CE53}" type="datetime1">
              <a:rPr lang="en-CA" smtClean="0"/>
              <a:t>2026-01-08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Lesson 9: Streaming</a:t>
            </a:r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57D78-6BD8-4B20-85EE-78057F342A6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301719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DAA5F-1BA6-4264-8D9A-37978C80B987}" type="datetime1">
              <a:rPr lang="en-CA" smtClean="0"/>
              <a:t>2026-01-08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Lesson 9: Streaming</a:t>
            </a:r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57D78-6BD8-4B20-85EE-78057F342A6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955001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2D8BB-1E40-433B-8A07-DAD623D644F1}" type="datetime1">
              <a:rPr lang="en-CA" smtClean="0"/>
              <a:t>2026-01-08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Lesson 9: Streaming</a:t>
            </a:r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57D78-6BD8-4B20-85EE-78057F342A6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362568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A6877-8097-4F36-8C36-652DF8A78B40}" type="datetime1">
              <a:rPr lang="en-CA" smtClean="0"/>
              <a:t>2026-01-08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Lesson 9: Streaming</a:t>
            </a:r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57D78-6BD8-4B20-85EE-78057F342A6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631532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2367D4-C8E8-4437-AB65-749903FCFEB0}" type="datetime1">
              <a:rPr lang="en-CA" smtClean="0"/>
              <a:t>2026-01-08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Lesson 9: Streaming</a:t>
            </a:r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57D78-6BD8-4B20-85EE-78057F342A6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589216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E671B-7B48-4196-85F9-D232D0C28247}" type="datetime1">
              <a:rPr lang="en-CA" smtClean="0"/>
              <a:t>2026-01-08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Lesson 9: Streaming</a:t>
            </a:r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57D78-6BD8-4B20-85EE-78057F342A6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193249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79561-A22C-4844-9BF0-07E8A20AAB01}" type="datetime1">
              <a:rPr lang="en-CA" smtClean="0"/>
              <a:t>2026-01-08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Lesson 9: Streaming</a:t>
            </a:r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57D78-6BD8-4B20-85EE-78057F342A6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598834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DF9BE-F6A8-428B-AE45-F851C6432580}" type="datetime1">
              <a:rPr lang="en-CA" smtClean="0"/>
              <a:t>2026-01-08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Lesson 9: Streaming</a:t>
            </a:r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57D78-6BD8-4B20-85EE-78057F342A6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437072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53315-01C7-4252-A525-F00E71302260}" type="datetime1">
              <a:rPr lang="en-CA" smtClean="0"/>
              <a:t>2026-01-08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Lesson 9: Streaming</a:t>
            </a:r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57D78-6BD8-4B20-85EE-78057F342A6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545099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36988-56A9-44B3-ADDD-13A8706DDB7C}" type="datetime1">
              <a:rPr lang="en-CA" smtClean="0"/>
              <a:t>2026-01-08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Lesson 9: Streaming</a:t>
            </a:r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57D78-6BD8-4B20-85EE-78057F342A6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485231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45BFD-1556-44A6-A611-71ECE245CD01}" type="datetime1">
              <a:rPr lang="en-CA" smtClean="0"/>
              <a:t>2026-01-08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Lesson 9: Streaming</a:t>
            </a:r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57D78-6BD8-4B20-85EE-78057F342A6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83019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AE3EED50-3BB7-42EE-B165-E60D57D33BCF}" type="datetime1">
              <a:rPr lang="en-CA" smtClean="0"/>
              <a:t>2026-01-08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r>
              <a:rPr lang="it-IT"/>
              <a:t>Lesson 9: Streaming</a:t>
            </a:r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89C57D78-6BD8-4B20-85EE-78057F342A6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4156002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5BB508-B290-BB04-0005-CB92DE920DC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COMP2522</a:t>
            </a:r>
            <a:br>
              <a:rPr lang="en-US" dirty="0"/>
            </a:br>
            <a:r>
              <a:rPr lang="en-US" dirty="0"/>
              <a:t>Lesson 9</a:t>
            </a:r>
            <a:endParaRPr lang="en-C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DE91ED-42AB-EFD3-D974-113D420E802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Streaming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5313578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439FA-DB84-599C-4526-9538E4C767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Next Quiz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B63459-DDD0-5051-1203-8A982A98D1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Note: you </a:t>
            </a:r>
            <a:r>
              <a:rPr lang="en-US"/>
              <a:t>can bring </a:t>
            </a:r>
            <a:r>
              <a:rPr lang="en-US" dirty="0"/>
              <a:t>a </a:t>
            </a:r>
            <a:r>
              <a:rPr lang="en-US" dirty="0" err="1"/>
              <a:t>cheatsheet</a:t>
            </a:r>
            <a:r>
              <a:rPr lang="en-US" dirty="0"/>
              <a:t>: 1 sided, hand written</a:t>
            </a:r>
          </a:p>
          <a:p>
            <a:endParaRPr lang="en-CA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ABE2EF-35D3-0F5A-E119-8D2D31F5C2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Lesson 9: Streaming</a:t>
            </a:r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1B3955-21DB-3BE4-33F4-0F6673AD2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57D78-6BD8-4B20-85EE-78057F342A6D}" type="slidenum">
              <a:rPr lang="en-CA" smtClean="0"/>
              <a:t>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013475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8491C-B160-1BF9-EAFB-89D446A22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Stream as a Factory Assembly Line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A57723-6E43-AD4C-83B1-1ACD4AC524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6755" y="1825625"/>
            <a:ext cx="11800114" cy="4351338"/>
          </a:xfrm>
        </p:spPr>
        <p:txBody>
          <a:bodyPr>
            <a:normAutofit/>
          </a:bodyPr>
          <a:lstStyle/>
          <a:p>
            <a:r>
              <a:rPr lang="en-US" sz="1400" dirty="0"/>
              <a:t>Imagine you have a factory conveyor belt moving objects (your data) through a series of stations (the stream operations).</a:t>
            </a:r>
          </a:p>
          <a:p>
            <a:endParaRPr lang="en-US" sz="1400" dirty="0"/>
          </a:p>
          <a:p>
            <a:r>
              <a:rPr lang="en-US" sz="1400" dirty="0"/>
              <a:t>Each station performs a specific task:</a:t>
            </a:r>
          </a:p>
          <a:p>
            <a:endParaRPr lang="en-US" sz="1400" dirty="0"/>
          </a:p>
          <a:p>
            <a:r>
              <a:rPr lang="en-US" sz="1400" dirty="0"/>
              <a:t>| Java Stream Step 	 | Factory Analogy              	| Example                                                                                               </a:t>
            </a:r>
          </a:p>
          <a:p>
            <a:r>
              <a:rPr lang="en-US" sz="1400" dirty="0"/>
              <a:t>| -------------------- 	| ---------------------------- 		| ----------------------------------------------------------------------------------------------------- </a:t>
            </a:r>
          </a:p>
          <a:p>
            <a:r>
              <a:rPr lang="en-US" sz="1400" dirty="0"/>
              <a:t>| stream()           	| Turning on the conveyor belt 	| Start moving items down the line                                                                      </a:t>
            </a:r>
          </a:p>
          <a:p>
            <a:r>
              <a:rPr lang="en-US" sz="1400" dirty="0"/>
              <a:t>| filter()           	| A quality-check station  	| Only let through items that pass inspection (e.g., only even numbers)                                 </a:t>
            </a:r>
          </a:p>
          <a:p>
            <a:r>
              <a:rPr lang="en-US" sz="1400" dirty="0"/>
              <a:t>| map()              	| A transformation station 	| Convert into something new (e.g., double each number; turn objects into their names) </a:t>
            </a:r>
          </a:p>
          <a:p>
            <a:r>
              <a:rPr lang="en-US" sz="1400" dirty="0"/>
              <a:t>| sorted()           	| A sorting station        		| Arrange items neatly on the belt before final packaging                                               </a:t>
            </a:r>
          </a:p>
          <a:p>
            <a:r>
              <a:rPr lang="en-US" sz="1400" dirty="0"/>
              <a:t>| distinct()         	| A duplicate remover      	| Toss out duplicate products                                                                           </a:t>
            </a:r>
          </a:p>
          <a:p>
            <a:r>
              <a:rPr lang="en-US" sz="1400" dirty="0"/>
              <a:t>| limit() / skip() 	| A cutoff gate            		| Only take the first N items or skip the first few                                                     </a:t>
            </a:r>
          </a:p>
          <a:p>
            <a:r>
              <a:rPr lang="en-US" sz="1400" dirty="0"/>
              <a:t>| collect()          	| The packing station      		| Gather all finished products into a box (e.g., a List, Set, or Map)                             </a:t>
            </a:r>
            <a:endParaRPr lang="en-CA" sz="14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43F8D6-9C90-1908-8E4B-15A4A5CFAD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Lesson 9: Streaming</a:t>
            </a:r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D692FC-331A-3211-5591-B920076F0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57D78-6BD8-4B20-85EE-78057F342A6D}" type="slidenum">
              <a:rPr lang="en-CA" smtClean="0"/>
              <a:t>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903766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1E1B5A-6CC1-D371-41C6-A63950A5B5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0BDB23-C613-3D34-B82D-AC95A70A4A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/>
              <a:t>final List&lt;Integer&gt; numbers = </a:t>
            </a:r>
            <a:r>
              <a:rPr lang="en-US" dirty="0" err="1"/>
              <a:t>List.of</a:t>
            </a:r>
            <a:r>
              <a:rPr lang="en-US" dirty="0"/>
              <a:t>(1, 2, 3, 4, 5, 6);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final List&lt;Integer&gt; result = numbers	.stream()</a:t>
            </a:r>
          </a:p>
          <a:p>
            <a:pPr marL="0" indent="0">
              <a:buNone/>
            </a:pPr>
            <a:r>
              <a:rPr lang="en-US" dirty="0"/>
              <a:t>    				.filter(n -&gt; n % 2 == 0)     	// Only even numbers pass the filter</a:t>
            </a:r>
          </a:p>
          <a:p>
            <a:pPr marL="0" indent="0">
              <a:buNone/>
            </a:pPr>
            <a:r>
              <a:rPr lang="en-US" dirty="0"/>
              <a:t>    				.map(n -&gt; n * n)             	// Each even number gets squared</a:t>
            </a:r>
          </a:p>
          <a:p>
            <a:pPr marL="0" indent="0">
              <a:buNone/>
            </a:pPr>
            <a:r>
              <a:rPr lang="en-US" dirty="0"/>
              <a:t>    				.collect(</a:t>
            </a:r>
            <a:r>
              <a:rPr lang="en-US" dirty="0" err="1"/>
              <a:t>Collectors.toList</a:t>
            </a:r>
            <a:r>
              <a:rPr lang="en-US" dirty="0"/>
              <a:t>()); // Box up the final products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In words:</a:t>
            </a:r>
          </a:p>
          <a:p>
            <a:r>
              <a:rPr lang="en-US" dirty="0"/>
              <a:t>You start a conveyor belt with raw materials (1–6).</a:t>
            </a:r>
          </a:p>
          <a:p>
            <a:r>
              <a:rPr lang="en-US" dirty="0"/>
              <a:t>A filter worker removes odd numbers.</a:t>
            </a:r>
          </a:p>
          <a:p>
            <a:r>
              <a:rPr lang="en-US" dirty="0"/>
              <a:t>A transformer worker squares each remaining number.</a:t>
            </a:r>
          </a:p>
          <a:p>
            <a:r>
              <a:rPr lang="en-US" dirty="0"/>
              <a:t>Finally, a packer collects the finished goods into a box.</a:t>
            </a:r>
          </a:p>
          <a:p>
            <a:endParaRPr lang="en-CA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B614D8-2D37-59B4-20A6-6749FD99A6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Lesson 9: Streaming</a:t>
            </a:r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23F0E9-1EF4-3084-AC13-D8D60A5F25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57D78-6BD8-4B20-85EE-78057F342A6D}" type="slidenum">
              <a:rPr lang="en-CA" smtClean="0"/>
              <a:t>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543157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E4DEBE-CA97-BE12-8635-25A3CC880B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Analogy</a:t>
            </a:r>
            <a:endParaRPr lang="en-CA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D51384-5EF5-E18F-5DCF-4AB2395F12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Lesson 9: Streaming</a:t>
            </a:r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01E432-524C-8735-CB84-D1E5447EC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57D78-6BD8-4B20-85EE-78057F342A6D}" type="slidenum">
              <a:rPr lang="en-CA" smtClean="0"/>
              <a:t>5</a:t>
            </a:fld>
            <a:endParaRPr lang="en-CA"/>
          </a:p>
        </p:txBody>
      </p:sp>
      <p:sp>
        <p:nvSpPr>
          <p:cNvPr id="6" name="AutoShape 2" descr="Generated image">
            <a:extLst>
              <a:ext uri="{FF2B5EF4-FFF2-40B4-BE49-F238E27FC236}">
                <a16:creationId xmlns:a16="http://schemas.microsoft.com/office/drawing/2014/main" id="{DE45B7C7-557C-B6F2-7E64-63C01BF4401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CA"/>
          </a:p>
        </p:txBody>
      </p:sp>
      <p:pic>
        <p:nvPicPr>
          <p:cNvPr id="10" name="Content Placeholder 9" descr="Diagram of a diagram of a warehouse production process&#10;&#10;AI-generated content may be incorrect.">
            <a:extLst>
              <a:ext uri="{FF2B5EF4-FFF2-40B4-BE49-F238E27FC236}">
                <a16:creationId xmlns:a16="http://schemas.microsoft.com/office/drawing/2014/main" id="{546D4DB2-8AF2-51BF-4B0C-6F2828B542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832496" y="1825625"/>
            <a:ext cx="6527007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171615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9A0B56-9581-5FA3-55CA-FCDDC0458C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Intermediate and Terminal Operations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118A41-62EF-F80D-6237-8005C99E05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2217" y="1271451"/>
            <a:ext cx="11031583" cy="5450024"/>
          </a:xfrm>
        </p:spPr>
        <p:txBody>
          <a:bodyPr>
            <a:normAutofit fontScale="47500" lnSpcReduction="20000"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dirty="0"/>
              <a:t>Extend the factory conveyor belt analogy to include </a:t>
            </a:r>
            <a:r>
              <a:rPr lang="en-US" u="sng" dirty="0"/>
              <a:t>intermediate</a:t>
            </a:r>
            <a:r>
              <a:rPr lang="en-US" dirty="0"/>
              <a:t> and </a:t>
            </a:r>
            <a:r>
              <a:rPr lang="en-US" u="sng" dirty="0"/>
              <a:t>terminal</a:t>
            </a:r>
            <a:r>
              <a:rPr lang="en-US" dirty="0"/>
              <a:t> operations.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US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dirty="0"/>
              <a:t>1. Raw Materials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dirty="0"/>
              <a:t>Your collection (e.g., List, Set) is a warehouse full of raw materials waiting to be processed.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dirty="0"/>
              <a:t>When you call .stream(), you start the conveyor belt — items begin to move down the line, one by one.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US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dirty="0"/>
              <a:t>2. Intermediate Operations → The Workstations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US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dirty="0"/>
              <a:t>Each intermediate operation is a workstation on the assembly line.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dirty="0"/>
              <a:t>They transform or filter the items but don’t produce the final box yet — the belt keeps moving.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US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dirty="0"/>
              <a:t>These operations are "</a:t>
            </a:r>
            <a:r>
              <a:rPr lang="en-US" b="1" dirty="0"/>
              <a:t>lazy</a:t>
            </a:r>
            <a:r>
              <a:rPr lang="en-US" dirty="0"/>
              <a:t>": they set up the stations but don’t actually run until the belt is told to deliver the final goods.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US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dirty="0"/>
              <a:t>| Operation	| Analogy                        		| Description                                                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dirty="0"/>
              <a:t>| ------------	| ------------------------------ 		| ---------------------------------------------------------- 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dirty="0"/>
              <a:t>| filter()   	| Quality control station        		| Only lets certain items pass (e.g., even numbers only)     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dirty="0"/>
              <a:t>| map()      	| Transformation station         	| Changes each item (e.g., doubles the number)               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dirty="0"/>
              <a:t>| sorted()   	| Sorting station                		| Reorders items before packaging                            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dirty="0"/>
              <a:t>| distinct() 	| Duplicate removal station      	| Tosses out any duplicates                                  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dirty="0"/>
              <a:t>| peek()     	| Inspector’s observation window 	| Lets you look at items passing by, but doesn’t change them 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US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dirty="0"/>
              <a:t>These stations are set up in sequence, but nothing actually happens yet — the machines are idle until someone at the end says, “Start the line!”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US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dirty="0"/>
              <a:t>3. Terminal Operation → The Packaging Department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dirty="0"/>
              <a:t>A terminal operation is the final step — it says,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dirty="0"/>
              <a:t>“Now run the belt, process everything, and hand me the results!”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dirty="0"/>
              <a:t>It’s what triggers the whole assembly line to start working.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CA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0723DF-F97B-30F3-FAE2-280C9E6704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Lesson 9: Streaming</a:t>
            </a:r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0D2F25-25A4-E80A-A1EC-9150647C4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57D78-6BD8-4B20-85EE-78057F342A6D}" type="slidenum">
              <a:rPr lang="en-CA" smtClean="0"/>
              <a:t>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154470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DA7DA1-8D27-8788-9E1F-0417C1D9E1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777875"/>
          </a:xfrm>
        </p:spPr>
        <p:txBody>
          <a:bodyPr/>
          <a:lstStyle/>
          <a:p>
            <a:r>
              <a:rPr lang="en-US" dirty="0"/>
              <a:t>More: Intermediate and Terminal Operations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177C70-D265-CDDF-CA22-162F7E9720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14400"/>
            <a:ext cx="10515600" cy="5721531"/>
          </a:xfrm>
        </p:spPr>
        <p:txBody>
          <a:bodyPr>
            <a:normAutofit fontScale="55000" lnSpcReduction="20000"/>
          </a:bodyPr>
          <a:lstStyle/>
          <a:p>
            <a:r>
              <a:rPr lang="en-US" dirty="0"/>
              <a:t>| Operation		| Analogy                  		| What It Does                                                 </a:t>
            </a:r>
          </a:p>
          <a:p>
            <a:r>
              <a:rPr lang="en-US" dirty="0"/>
              <a:t>| ----------------------- 	| ------------------------ 		| ------------------------------------------------------------ </a:t>
            </a:r>
          </a:p>
          <a:p>
            <a:r>
              <a:rPr lang="en-US" dirty="0"/>
              <a:t>| collect()                 		| Packing items into boxes 	| Gathers the finished products into a List, Set, or Map </a:t>
            </a:r>
          </a:p>
          <a:p>
            <a:r>
              <a:rPr lang="en-US" dirty="0"/>
              <a:t>| </a:t>
            </a:r>
            <a:r>
              <a:rPr lang="en-US" dirty="0" err="1"/>
              <a:t>forEach</a:t>
            </a:r>
            <a:r>
              <a:rPr lang="en-US" dirty="0"/>
              <a:t>()                 		| Shipping clerk           		| Takes each product and sends it off (prints, saves, etc.)    </a:t>
            </a:r>
          </a:p>
          <a:p>
            <a:r>
              <a:rPr lang="en-US" dirty="0"/>
              <a:t>| count()                   		| Inventory counter        	| Counts how many finished products were made                  </a:t>
            </a:r>
          </a:p>
          <a:p>
            <a:r>
              <a:rPr lang="en-US" dirty="0"/>
              <a:t>| </a:t>
            </a:r>
            <a:r>
              <a:rPr lang="en-US" dirty="0" err="1"/>
              <a:t>findFirst</a:t>
            </a:r>
            <a:r>
              <a:rPr lang="en-US" dirty="0"/>
              <a:t>() / </a:t>
            </a:r>
            <a:r>
              <a:rPr lang="en-US" dirty="0" err="1"/>
              <a:t>findAny</a:t>
            </a:r>
            <a:r>
              <a:rPr lang="en-US" dirty="0"/>
              <a:t>() 	| First item inspector     	| Grabs the first acceptable product                           </a:t>
            </a:r>
          </a:p>
          <a:p>
            <a:r>
              <a:rPr lang="en-US" dirty="0"/>
              <a:t>| reduce()                  		| Combiner                 		| Merges all products into one (e.g., sum of all items)        </a:t>
            </a:r>
          </a:p>
          <a:p>
            <a:endParaRPr lang="en-US" dirty="0"/>
          </a:p>
          <a:p>
            <a:r>
              <a:rPr lang="en-US" dirty="0"/>
              <a:t>Once the terminal operation runs, the belt stops — the factory can’t reuse the same stream. You’d have to start a new one.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Summary:</a:t>
            </a:r>
          </a:p>
          <a:p>
            <a:r>
              <a:rPr lang="en-US" dirty="0"/>
              <a:t>&gt; We roll raw materials (the integers 1–6) onto the belt.</a:t>
            </a:r>
          </a:p>
          <a:p>
            <a:r>
              <a:rPr lang="en-US" dirty="0"/>
              <a:t>&gt; Odd ones fail inspection and are tossed out.</a:t>
            </a:r>
          </a:p>
          <a:p>
            <a:r>
              <a:rPr lang="en-US" dirty="0"/>
              <a:t>&gt; Even ones go through a machine that squares them.</a:t>
            </a:r>
          </a:p>
          <a:p>
            <a:r>
              <a:rPr lang="en-US" dirty="0"/>
              <a:t>&gt; The sorted results are boxed up neatly at the end.</a:t>
            </a:r>
          </a:p>
          <a:p>
            <a:r>
              <a:rPr lang="en-US" dirty="0"/>
              <a:t>&gt; Once boxed, the belt stops.</a:t>
            </a:r>
            <a:endParaRPr lang="en-CA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530527-958D-A874-8C35-3E16ABDFE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Lesson 9: Streaming</a:t>
            </a:r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B4877D-EAEF-ADC3-4DD7-7E0D07334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57D78-6BD8-4B20-85EE-78057F342A6D}" type="slidenum">
              <a:rPr lang="en-CA" smtClean="0"/>
              <a:t>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952620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3219CC-9C68-49B1-8048-5D46954022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Collection Streaming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20031E-30CE-4BBE-A117-0686EB2F71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0018"/>
            <a:ext cx="9635836" cy="4824280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Streaming makes use of the Collection interface’s </a:t>
            </a:r>
            <a:r>
              <a:rPr lang="en-US" b="1" dirty="0"/>
              <a:t>stream()</a:t>
            </a:r>
            <a:r>
              <a:rPr lang="en-US" dirty="0"/>
              <a:t> method and the Stream interface, and also lambda expressions</a:t>
            </a:r>
          </a:p>
          <a:p>
            <a:r>
              <a:rPr lang="en-US" dirty="0"/>
              <a:t>https://docs.oracle.com/en/java/javase/22/docs/api/java.base/java/util/Collection.html#stream()</a:t>
            </a:r>
          </a:p>
          <a:p>
            <a:r>
              <a:rPr lang="en-US" dirty="0"/>
              <a:t>https://docs.oracle.com/en/java/javase/22/docs/api/java.base/java/util/stream/Stream.html</a:t>
            </a:r>
          </a:p>
          <a:p>
            <a:r>
              <a:rPr lang="en-US" dirty="0"/>
              <a:t>Can greatly streamline our code…replacing sometimes long, complex loops and conditionals </a:t>
            </a:r>
          </a:p>
          <a:p>
            <a:r>
              <a:rPr lang="en-CA" dirty="0"/>
              <a:t>Example streaming: filter, map, reduce, </a:t>
            </a:r>
            <a:r>
              <a:rPr lang="en-CA" dirty="0" err="1"/>
              <a:t>forEach</a:t>
            </a:r>
            <a:endParaRPr lang="en-CA" dirty="0"/>
          </a:p>
          <a:p>
            <a:r>
              <a:rPr lang="en-CA" u="sng" dirty="0"/>
              <a:t>Filter</a:t>
            </a:r>
            <a:r>
              <a:rPr lang="en-CA" dirty="0"/>
              <a:t> allows us to use predicates (an interface, similar to a function) to filter IN data</a:t>
            </a:r>
          </a:p>
          <a:p>
            <a:r>
              <a:rPr lang="en-CA" dirty="0"/>
              <a:t>E.g. keep all Strings in the list that start with "w"</a:t>
            </a:r>
          </a:p>
          <a:p>
            <a:r>
              <a:rPr lang="en-CA" dirty="0"/>
              <a:t>E.g. keep all even numbers in the collection</a:t>
            </a:r>
          </a:p>
          <a:p>
            <a:r>
              <a:rPr lang="en-CA" u="sng" dirty="0"/>
              <a:t>Map</a:t>
            </a:r>
            <a:r>
              <a:rPr lang="en-CA" dirty="0"/>
              <a:t> allows us to convert between types</a:t>
            </a:r>
          </a:p>
          <a:p>
            <a:r>
              <a:rPr lang="en-CA" dirty="0"/>
              <a:t>E.g. map an integer to a String; map a Person to a String</a:t>
            </a:r>
          </a:p>
          <a:p>
            <a:r>
              <a:rPr lang="en-CA" u="sng" dirty="0"/>
              <a:t>Reduce</a:t>
            </a:r>
            <a:r>
              <a:rPr lang="en-CA" dirty="0"/>
              <a:t> allows us to reduce a larger amount of data to a smaller amount</a:t>
            </a:r>
          </a:p>
          <a:p>
            <a:r>
              <a:rPr lang="en-CA" dirty="0"/>
              <a:t>E.g. reduce a list of numbers to their sum</a:t>
            </a:r>
          </a:p>
          <a:p>
            <a:r>
              <a:rPr lang="en-CA" u="sng" dirty="0" err="1"/>
              <a:t>forEach</a:t>
            </a:r>
            <a:r>
              <a:rPr lang="en-CA" dirty="0"/>
              <a:t> allows us to process a collection of data, via a lambda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3A2052-47FD-4AA6-8BDC-C88945F656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Lesson 9: Streaming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ECF161-C282-4C82-8204-288980FDE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23027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F01B8-472E-BDA2-1AC5-3A031679C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5611" y="0"/>
            <a:ext cx="2495026" cy="738231"/>
          </a:xfrm>
        </p:spPr>
        <p:txBody>
          <a:bodyPr/>
          <a:lstStyle/>
          <a:p>
            <a:pPr algn="r"/>
            <a:r>
              <a:rPr lang="en-US"/>
              <a:t>stream()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0F0823-B889-5EEE-FAAE-3280330FBA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4557"/>
            <a:ext cx="9807429" cy="6526635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1200"/>
              <a:t>Streaming and filtering can be used to replace for loops and if statements, with data from array or collections.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1200"/>
              <a:t>Process, transform and compute data from collections using functional programming techniques 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1200"/>
              <a:t>The stream() method works on </a:t>
            </a:r>
            <a:r>
              <a:rPr lang="en-US" sz="1200" u="sng"/>
              <a:t>arrays and collections</a:t>
            </a:r>
            <a:r>
              <a:rPr lang="en-US" sz="1200"/>
              <a:t>. it's a SEQUENCE of operations on the data, one after another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1200"/>
              <a:t>Process data collections and create subcollections or do "data mining"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1200"/>
              <a:t>Streams do not affect their original source (those are immutable)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20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1200"/>
              <a:t>without streaming: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1200"/>
              <a:t>List&lt;String&gt; words = Arrays.asList("abc", "def", "ghi", "axe", "after", "whatever");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1200"/>
              <a:t>List&lt;String&gt; words_with_a = new ArrayList();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1200"/>
              <a:t>for(final String word: words){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1200"/>
              <a:t>	if(word != null &amp;&amp; word.startsWith("a")){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1200"/>
              <a:t>		words_with_a.add(word.toUpperCase());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1200"/>
              <a:t>	}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1200"/>
              <a:t>}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US" sz="120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1200"/>
              <a:t>with streaming: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1200"/>
              <a:t>List&lt;String&gt; words = Arrays.asList("abc", "def", "ghi", "axe", "after", "whatever");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1200"/>
              <a:t>List&lt;String&gt; words_with_a = words.stream()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1200"/>
              <a:t>				.filter(word-&gt;word != null)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1200"/>
              <a:t>				.filter(word-&gt;word.startsWith("a"))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1200"/>
              <a:t>				.map(String::toUpperCase)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1200"/>
              <a:t>				.toList();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US" sz="120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1200"/>
              <a:t>1. there is a data source (a collection or array), whose .stream() method we execute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1200"/>
              <a:t>2. there are intermediate operations such as filtering, mapping, and sorting. these operations are "lazy" which means they don't execute until a terminal operation is called (remember this; it affects the code)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1200"/>
              <a:t>3. there are terminal operations that produce a result (e.g. sum(), count(), average(), min(), max(), toList()) or a side effect (e.g. printed). 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1200"/>
              <a:t>The result of streaming and filtering is code that clean, efficient, short and readable. it is measured as lower complexity than having loops and decisions.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309EF7-4B81-734D-E6CF-0E3F40F671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Lesson 9: Streaming</a:t>
            </a:r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5B658E-873A-C76F-7E2D-316D0837D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57D78-6BD8-4B20-85EE-78057F342A6D}" type="slidenum">
              <a:rPr lang="en-CA" smtClean="0"/>
              <a:t>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796918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EE55D-EDF8-40D0-A518-6FA60339D3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Foreach with Lambda Expression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7A09E7-F3CD-49B2-A339-B91117F151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061" y="1825625"/>
            <a:ext cx="10942739" cy="4351338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CA" dirty="0"/>
              <a:t>List&lt;String&gt; notes;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CA" dirty="0"/>
              <a:t>notes = new </a:t>
            </a:r>
            <a:r>
              <a:rPr lang="en-CA" dirty="0" err="1"/>
              <a:t>ArrayList</a:t>
            </a:r>
            <a:r>
              <a:rPr lang="en-CA" dirty="0"/>
              <a:t>&lt;&gt;();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CA" dirty="0" err="1"/>
              <a:t>notes.add</a:t>
            </a:r>
            <a:r>
              <a:rPr lang="en-CA" dirty="0"/>
              <a:t>("buy groceries");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CA" dirty="0" err="1"/>
              <a:t>notes.add</a:t>
            </a:r>
            <a:r>
              <a:rPr lang="en-CA" dirty="0"/>
              <a:t>("get enough sleep");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CA" dirty="0" err="1"/>
              <a:t>notes.add</a:t>
            </a:r>
            <a:r>
              <a:rPr lang="en-CA" dirty="0"/>
              <a:t>("have fun");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CA" dirty="0" err="1"/>
              <a:t>notes.add</a:t>
            </a:r>
            <a:r>
              <a:rPr lang="en-CA" dirty="0"/>
              <a:t>("work harder");</a:t>
            </a:r>
          </a:p>
          <a:p>
            <a:pPr marL="0" indent="0">
              <a:spcBef>
                <a:spcPts val="0"/>
              </a:spcBef>
              <a:buNone/>
            </a:pPr>
            <a:endParaRPr lang="en-CA" dirty="0"/>
          </a:p>
          <a:p>
            <a:pPr marL="0" indent="0">
              <a:spcBef>
                <a:spcPts val="0"/>
              </a:spcBef>
              <a:buNone/>
            </a:pPr>
            <a:r>
              <a:rPr lang="en-CA" dirty="0" err="1"/>
              <a:t>notes.forEach</a:t>
            </a:r>
            <a:r>
              <a:rPr lang="en-CA" dirty="0"/>
              <a:t>(n -&gt; </a:t>
            </a:r>
            <a:r>
              <a:rPr lang="en-CA" dirty="0" err="1"/>
              <a:t>System.out.println</a:t>
            </a:r>
            <a:r>
              <a:rPr lang="en-CA" dirty="0"/>
              <a:t>("note is " + </a:t>
            </a:r>
            <a:r>
              <a:rPr lang="en-CA" dirty="0" err="1"/>
              <a:t>n.toUpperCase</a:t>
            </a:r>
            <a:r>
              <a:rPr lang="en-CA" dirty="0"/>
              <a:t>()));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AE9438-D76C-44A5-B5B9-81E0843E2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Lesson 9: Streaming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D6CF02-4390-4A05-8CEC-1082EEE3B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997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EE55D-EDF8-40D0-A518-6FA60339D3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Foreach improved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7A09E7-F3CD-49B2-A339-B91117F151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009" y="1690688"/>
            <a:ext cx="10369673" cy="4049339"/>
          </a:xfrm>
        </p:spPr>
        <p:txBody>
          <a:bodyPr>
            <a:normAutofit fontScale="92500" lnSpcReduction="20000"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CA" dirty="0"/>
              <a:t>List&lt;String&gt; notes;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CA" dirty="0"/>
              <a:t>Consumer&lt;String&gt; consumer;	// this variable will “contain” a function</a:t>
            </a:r>
          </a:p>
          <a:p>
            <a:pPr marL="0" indent="0">
              <a:spcBef>
                <a:spcPts val="0"/>
              </a:spcBef>
              <a:buNone/>
            </a:pPr>
            <a:endParaRPr lang="en-CA" dirty="0"/>
          </a:p>
          <a:p>
            <a:pPr marL="0" indent="0">
              <a:spcBef>
                <a:spcPts val="0"/>
              </a:spcBef>
              <a:buNone/>
            </a:pPr>
            <a:r>
              <a:rPr lang="en-CA" dirty="0"/>
              <a:t>notes = new </a:t>
            </a:r>
            <a:r>
              <a:rPr lang="en-CA" dirty="0" err="1"/>
              <a:t>ArrayList</a:t>
            </a:r>
            <a:r>
              <a:rPr lang="en-CA" dirty="0"/>
              <a:t>&lt;&gt;();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CA" dirty="0" err="1"/>
              <a:t>notes.add</a:t>
            </a:r>
            <a:r>
              <a:rPr lang="en-CA" dirty="0"/>
              <a:t>("buy groceries");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CA" dirty="0" err="1"/>
              <a:t>notes.add</a:t>
            </a:r>
            <a:r>
              <a:rPr lang="en-CA" dirty="0"/>
              <a:t>("get enough sleep");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CA" dirty="0" err="1"/>
              <a:t>notes.add</a:t>
            </a:r>
            <a:r>
              <a:rPr lang="en-CA" dirty="0"/>
              <a:t>("have fun");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CA" dirty="0" err="1"/>
              <a:t>notes.add</a:t>
            </a:r>
            <a:r>
              <a:rPr lang="en-CA" dirty="0"/>
              <a:t>("work harder");</a:t>
            </a:r>
          </a:p>
          <a:p>
            <a:pPr marL="0" indent="0">
              <a:spcBef>
                <a:spcPts val="0"/>
              </a:spcBef>
              <a:buNone/>
            </a:pPr>
            <a:endParaRPr lang="en-CA" dirty="0"/>
          </a:p>
          <a:p>
            <a:pPr marL="0" indent="0">
              <a:spcBef>
                <a:spcPts val="0"/>
              </a:spcBef>
              <a:buNone/>
            </a:pPr>
            <a:r>
              <a:rPr lang="en-CA" dirty="0">
                <a:solidFill>
                  <a:schemeClr val="bg1"/>
                </a:solidFill>
                <a:highlight>
                  <a:srgbClr val="FFFF00"/>
                </a:highlight>
              </a:rPr>
              <a:t>consumer = n -&gt; </a:t>
            </a:r>
            <a:r>
              <a:rPr lang="en-CA" dirty="0" err="1">
                <a:solidFill>
                  <a:schemeClr val="bg1"/>
                </a:solidFill>
                <a:highlight>
                  <a:srgbClr val="FFFF00"/>
                </a:highlight>
              </a:rPr>
              <a:t>System.out.println</a:t>
            </a:r>
            <a:r>
              <a:rPr lang="en-CA" dirty="0">
                <a:solidFill>
                  <a:schemeClr val="bg1"/>
                </a:solidFill>
                <a:highlight>
                  <a:srgbClr val="FFFF00"/>
                </a:highlight>
              </a:rPr>
              <a:t>(</a:t>
            </a:r>
            <a:r>
              <a:rPr lang="en-CA" dirty="0" err="1">
                <a:solidFill>
                  <a:schemeClr val="bg1"/>
                </a:solidFill>
                <a:highlight>
                  <a:srgbClr val="FFFF00"/>
                </a:highlight>
              </a:rPr>
              <a:t>n.toUpperCase</a:t>
            </a:r>
            <a:r>
              <a:rPr lang="en-CA" dirty="0">
                <a:solidFill>
                  <a:schemeClr val="bg1"/>
                </a:solidFill>
                <a:highlight>
                  <a:srgbClr val="FFFF00"/>
                </a:highlight>
              </a:rPr>
              <a:t>() + "!!")</a:t>
            </a:r>
            <a:r>
              <a:rPr lang="en-CA" dirty="0">
                <a:highlight>
                  <a:srgbClr val="FFFF00"/>
                </a:highlight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endParaRPr lang="en-CA" dirty="0"/>
          </a:p>
          <a:p>
            <a:pPr marL="0" indent="0">
              <a:spcBef>
                <a:spcPts val="0"/>
              </a:spcBef>
              <a:buNone/>
            </a:pPr>
            <a:r>
              <a:rPr lang="en-CA" dirty="0" err="1"/>
              <a:t>notes.forEach</a:t>
            </a:r>
            <a:r>
              <a:rPr lang="en-CA" dirty="0"/>
              <a:t>(consumer); // apply the </a:t>
            </a:r>
            <a:r>
              <a:rPr lang="en-CA" dirty="0">
                <a:solidFill>
                  <a:schemeClr val="bg1"/>
                </a:solidFill>
                <a:highlight>
                  <a:srgbClr val="FFFF00"/>
                </a:highlight>
              </a:rPr>
              <a:t>above function</a:t>
            </a:r>
            <a:r>
              <a:rPr lang="en-CA" dirty="0">
                <a:solidFill>
                  <a:schemeClr val="bg1"/>
                </a:solidFill>
              </a:rPr>
              <a:t> </a:t>
            </a:r>
            <a:r>
              <a:rPr lang="en-CA" dirty="0"/>
              <a:t>to this collection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CA" dirty="0"/>
              <a:t>// or </a:t>
            </a:r>
            <a:r>
              <a:rPr lang="en-CA" dirty="0" err="1"/>
              <a:t>notes.stream</a:t>
            </a:r>
            <a:r>
              <a:rPr lang="en-CA" dirty="0"/>
              <a:t>().</a:t>
            </a:r>
            <a:r>
              <a:rPr lang="en-CA" dirty="0" err="1"/>
              <a:t>forEach</a:t>
            </a:r>
            <a:r>
              <a:rPr lang="en-CA" dirty="0"/>
              <a:t>(consumer);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AE9438-D76C-44A5-B5B9-81E0843E2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Lesson 9: Streaming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D6CF02-4390-4A05-8CEC-1082EEE3B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86373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FE8232-20C7-3217-0B8C-24957E8329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939943" cy="1325563"/>
          </a:xfrm>
        </p:spPr>
        <p:txBody>
          <a:bodyPr/>
          <a:lstStyle/>
          <a:p>
            <a:r>
              <a:rPr lang="en-US"/>
              <a:t>stream(), filter(), etc….Intermediate Operations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2C7E0E-501E-9C7E-146F-96D30370C4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/>
              <a:t>Intermediate Operations (Zero or more operations):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/>
              <a:t>These operations do not consume the stream and can be chained. They return another stream, allowing for more transformations.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US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/>
              <a:t>1. filter(Predicate&lt;T&gt; predicate): 		Filters elements based on a condition.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/>
              <a:t>2. map(Function&lt;T, R&gt; mapper): 		Transforms elements.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/>
              <a:t>3. flatMap(Function&lt;T, Stream&lt;R&gt;&gt; mapper): 	Transforms and flattens streams.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/>
              <a:t>4. distinct(): 			Removes duplicate elements.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/>
              <a:t>5. sorted(): 				Sorts elements in natural order.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/>
              <a:t>6. sorted(Comparator&lt;? super T&gt; comparator): 	Sorts using a custom comparator.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/>
              <a:t>7. limit(long maxSize): 			Limits the stream to a given number of elements.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/>
              <a:t>8. skip(long n): 			Skips the first n elements.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/>
              <a:t>9. peek(Consumer&lt;? super T&gt; action): 		Allows peeking into elements.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/>
              <a:t>10. takeWhile(Predicate&lt;T&gt; predicate): 		Takes elements while the condition is true.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/>
              <a:t>11. dropWhile(Predicate&lt;T&gt; predicate): 		Drops elements while the condition is true.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/>
              <a:t>12. parallel(): 			Converts the stream into a parallel stream.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/>
              <a:t>13. sequential(): 			Converts a parallel stream back into sequential.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/>
              <a:t>14. unordered(): 			Makes the stream unordered (useful for parallel performance).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/>
              <a:t>15. flatMapToInt(Function&lt;? super T, ? extends IntStream&gt; mapper): 		Maps to IntStream.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/>
              <a:t>16. flatMapToLong(Function&lt;? super T, ? extends LongStream&gt; mapper): 	Maps to LongStream.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/>
              <a:t>17. flatMapToDouble(Function&lt;? super T, ? extends DoubleStream&gt; mapper): 	Maps to DoubleStream.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/>
              <a:t>18. mapToInt(ToIntFunction&lt;? super T&gt; mapper): 			Maps to IntStream.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/>
              <a:t>19. mapToLong(ToLongFunction&lt;? super T&gt; mapper): 			Maps to LongStream.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/>
              <a:t>20. mapToDouble(ToDoubleFunction&lt;? super T&gt; mapper): 		Maps to DoubleStream.</a:t>
            </a:r>
            <a:endParaRPr lang="en-CA"/>
          </a:p>
          <a:p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008372-C95B-95E2-7BF6-AAD7342AEA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Lesson 9: Streaming</a:t>
            </a:r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9D83D5-8FC8-19D1-7ABD-147C98FB8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57D78-6BD8-4B20-85EE-78057F342A6D}" type="slidenum">
              <a:rPr lang="en-CA" smtClean="0"/>
              <a:t>12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391095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FE8232-20C7-3217-0B8C-24957E8329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939943" cy="1325563"/>
          </a:xfrm>
        </p:spPr>
        <p:txBody>
          <a:bodyPr/>
          <a:lstStyle/>
          <a:p>
            <a:r>
              <a:rPr lang="en-US"/>
              <a:t>stream(), filter(), etc….Terminal Operations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2C7E0E-501E-9C7E-146F-96D30370C4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839275" cy="4351338"/>
          </a:xfrm>
        </p:spPr>
        <p:txBody>
          <a:bodyPr>
            <a:normAutofit fontScale="47500" lnSpcReduction="20000"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/>
              <a:t>Terminal Operations (One per stream):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/>
              <a:t>These consume the stream and produce a result or a side-effect.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US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/>
              <a:t>1. forEach(Consumer&lt;? super T&gt; action): 		Performs an action on each element.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/>
              <a:t>2. forEachOrdered(Consumer&lt;? super T&gt; action): 	Like forEach(), but maintains order in parallel streams.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/>
              <a:t>3. toArray(): 				Converts the stream to an array.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/>
              <a:t>4. reduce(T identity, BinaryOperator&lt;T&gt; accumulator): 	Reduces elements to a single value using an identity value and accumulator.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/>
              <a:t>5. reduce(BinaryOperator&lt;T&gt; accumulator): 		Reduces elements using an accumulator.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/>
              <a:t>6. collect(Collector&lt;? super T, A, R&gt; collector): 		Collects the elements into a collection or structure.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/>
              <a:t>7. collect(Supplier&lt;R&gt; supplier, BiConsumer&lt;R, ? super T&gt; accumulator, BiConsumer&lt;R, R&gt; combiner): 	Alternative custom collection.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/>
              <a:t>8. min(Comparator&lt;? super T&gt; comparator): 		Returns the minimum element according to a comparator.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/>
              <a:t>9. max(Comparator&lt;? super T&gt; comparator): 		Returns the maximum element according to a comparator.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/>
              <a:t>10. count(): 				Counts the elements in the stream.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/>
              <a:t>11. anyMatch(Predicate&lt;? super T&gt; predicate): 		Returns true if any element matches the condition.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/>
              <a:t>12. allMatch(Predicate&lt;? super T&gt; predicate): 		Returns true if all elements match the condition.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/>
              <a:t>13. noneMatch(Predicate&lt;? super T&gt; predicate): 	Returns true if no elements match the condition.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/>
              <a:t>14. findFirst(): 				Returns the first element, if present.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/>
              <a:t>15. findAny(): 				Returns any element, typically used with parallel streams.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/>
              <a:t>16. iterator(): 				Returns an iterator for the stream.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/>
              <a:t>17. spliterator(): 				Returns a spliterator for the stream.</a:t>
            </a:r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A4AA25-10F6-7E80-765C-A5A7B481BF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Lesson 9: Streaming</a:t>
            </a:r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7F1A41-DB2F-F028-BA37-64683CD00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57D78-6BD8-4B20-85EE-78057F342A6D}" type="slidenum">
              <a:rPr lang="en-CA" smtClean="0"/>
              <a:t>13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152627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B80C5-95ED-D9DF-0D8B-12371A6BD3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Streams as Data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062D88-AA04-FF2F-7BD7-3233C21900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675" y="1442906"/>
            <a:ext cx="11241247" cy="4734057"/>
          </a:xfrm>
        </p:spPr>
        <p:txBody>
          <a:bodyPr>
            <a:normAutofit fontScale="62500" lnSpcReduction="20000"/>
          </a:bodyPr>
          <a:lstStyle/>
          <a:p>
            <a:r>
              <a:rPr lang="en-CA" sz="2400" dirty="0"/>
              <a:t>Instead of repeating patterns of streams, create methods to contain that code </a:t>
            </a:r>
          </a:p>
          <a:p>
            <a:r>
              <a:rPr lang="en-CA" sz="2400" dirty="0"/>
              <a:t>For example if we had a Collection of Province references, we could create a sub-list of them, filtering out null provinces and null province names using the "</a:t>
            </a:r>
            <a:r>
              <a:rPr lang="en-CA" sz="2400" dirty="0" err="1"/>
              <a:t>filteredStream</a:t>
            </a:r>
            <a:r>
              <a:rPr lang="en-CA" sz="2400" dirty="0"/>
              <a:t>" method below</a:t>
            </a:r>
          </a:p>
          <a:p>
            <a:r>
              <a:rPr lang="en-CA" sz="2400" dirty="0"/>
              <a:t>This example prints all the provinces whose names aren't blank, in descending ("reversed") alphabetical order</a:t>
            </a:r>
          </a:p>
          <a:p>
            <a:pPr marL="0" indent="0">
              <a:buNone/>
            </a:pPr>
            <a:endParaRPr lang="en-CA" sz="2400" dirty="0"/>
          </a:p>
          <a:p>
            <a:pPr marL="0" indent="0">
              <a:buNone/>
            </a:pPr>
            <a:r>
              <a:rPr lang="en-CA" sz="2400" dirty="0"/>
              <a:t>final List&lt;Province&gt; all = </a:t>
            </a:r>
            <a:r>
              <a:rPr lang="en-CA" sz="2400" b="1" dirty="0" err="1"/>
              <a:t>filteredStream</a:t>
            </a:r>
            <a:r>
              <a:rPr lang="en-CA" sz="2400" dirty="0"/>
              <a:t>(provinces)</a:t>
            </a:r>
          </a:p>
          <a:p>
            <a:pPr marL="0" indent="0">
              <a:buNone/>
            </a:pPr>
            <a:r>
              <a:rPr lang="en-CA" sz="2400" dirty="0"/>
              <a:t>                .filter(p-&gt;!</a:t>
            </a:r>
            <a:r>
              <a:rPr lang="en-CA" sz="2400" dirty="0" err="1"/>
              <a:t>p.getName</a:t>
            </a:r>
            <a:r>
              <a:rPr lang="en-CA" sz="2400" dirty="0"/>
              <a:t>().</a:t>
            </a:r>
            <a:r>
              <a:rPr lang="en-CA" sz="2400" dirty="0" err="1"/>
              <a:t>isBlank</a:t>
            </a:r>
            <a:r>
              <a:rPr lang="en-CA" sz="2400" dirty="0"/>
              <a:t>())</a:t>
            </a:r>
          </a:p>
          <a:p>
            <a:pPr marL="0" indent="0">
              <a:buNone/>
            </a:pPr>
            <a:r>
              <a:rPr lang="en-CA" sz="2400" dirty="0"/>
              <a:t>                .sorted(</a:t>
            </a:r>
            <a:r>
              <a:rPr lang="en-CA" sz="2400" dirty="0" err="1"/>
              <a:t>Comparator.comparing</a:t>
            </a:r>
            <a:r>
              <a:rPr lang="en-CA" sz="2400" dirty="0"/>
              <a:t>(Province::</a:t>
            </a:r>
            <a:r>
              <a:rPr lang="en-CA" sz="2400" dirty="0" err="1"/>
              <a:t>getName</a:t>
            </a:r>
            <a:r>
              <a:rPr lang="en-CA" sz="2400" dirty="0"/>
              <a:t>).reversed())</a:t>
            </a:r>
          </a:p>
          <a:p>
            <a:pPr marL="0" indent="0">
              <a:buNone/>
            </a:pPr>
            <a:r>
              <a:rPr lang="en-CA" sz="2400" dirty="0"/>
              <a:t>                .</a:t>
            </a:r>
            <a:r>
              <a:rPr lang="en-CA" sz="2400" dirty="0" err="1"/>
              <a:t>toList</a:t>
            </a:r>
            <a:r>
              <a:rPr lang="en-CA" sz="2400" dirty="0"/>
              <a:t>();</a:t>
            </a:r>
          </a:p>
          <a:p>
            <a:pPr marL="0" indent="0">
              <a:buNone/>
            </a:pPr>
            <a:r>
              <a:rPr lang="en-CA" sz="2400" dirty="0"/>
              <a:t>        </a:t>
            </a:r>
            <a:r>
              <a:rPr lang="en-CA" sz="2400" dirty="0" err="1"/>
              <a:t>all.forEach</a:t>
            </a:r>
            <a:r>
              <a:rPr lang="en-CA" sz="2400" dirty="0"/>
              <a:t>(</a:t>
            </a:r>
            <a:r>
              <a:rPr lang="en-CA" sz="2400" dirty="0" err="1"/>
              <a:t>System.out</a:t>
            </a:r>
            <a:r>
              <a:rPr lang="en-CA" sz="2400" dirty="0"/>
              <a:t>::</a:t>
            </a:r>
            <a:r>
              <a:rPr lang="en-CA" sz="2400" dirty="0" err="1"/>
              <a:t>println</a:t>
            </a:r>
            <a:r>
              <a:rPr lang="en-CA" sz="2400" dirty="0"/>
              <a:t>);</a:t>
            </a:r>
          </a:p>
          <a:p>
            <a:pPr marL="0" indent="0">
              <a:buNone/>
            </a:pPr>
            <a:endParaRPr lang="en-CA" sz="2400" dirty="0"/>
          </a:p>
          <a:p>
            <a:pPr marL="0" indent="0">
              <a:buNone/>
            </a:pPr>
            <a:r>
              <a:rPr lang="en-CA" sz="2400" dirty="0"/>
              <a:t>    // reusable method to get non-null province stream</a:t>
            </a:r>
            <a:br>
              <a:rPr lang="en-CA" sz="2400" dirty="0"/>
            </a:br>
            <a:r>
              <a:rPr lang="en-CA" sz="2400" dirty="0"/>
              <a:t>    private static Stream&lt;Province&gt; </a:t>
            </a:r>
            <a:r>
              <a:rPr lang="en-CA" sz="2400" b="1" dirty="0" err="1"/>
              <a:t>filteredStream</a:t>
            </a:r>
            <a:r>
              <a:rPr lang="en-CA" sz="2400" dirty="0"/>
              <a:t>(final List&lt;Province&gt; provinces)</a:t>
            </a:r>
            <a:br>
              <a:rPr lang="en-CA" sz="2400" dirty="0"/>
            </a:br>
            <a:r>
              <a:rPr lang="en-CA" sz="2400" dirty="0"/>
              <a:t>    {</a:t>
            </a:r>
            <a:br>
              <a:rPr lang="en-CA" sz="2400" dirty="0"/>
            </a:br>
            <a:r>
              <a:rPr lang="en-CA" sz="2400" dirty="0"/>
              <a:t>        return </a:t>
            </a:r>
            <a:r>
              <a:rPr lang="en-CA" sz="2400" dirty="0" err="1"/>
              <a:t>provinces.stream</a:t>
            </a:r>
            <a:r>
              <a:rPr lang="en-CA" sz="2400" dirty="0"/>
              <a:t>().filter(p-&gt; p != null &amp;&amp; </a:t>
            </a:r>
            <a:r>
              <a:rPr lang="en-CA" sz="2400" dirty="0" err="1"/>
              <a:t>p.getName</a:t>
            </a:r>
            <a:r>
              <a:rPr lang="en-CA" sz="2400" dirty="0"/>
              <a:t>() != null);</a:t>
            </a:r>
            <a:br>
              <a:rPr lang="en-CA" sz="2400" dirty="0"/>
            </a:br>
            <a:r>
              <a:rPr lang="en-CA" sz="2400" dirty="0"/>
              <a:t>    }</a:t>
            </a:r>
          </a:p>
          <a:p>
            <a:pPr marL="0" indent="0">
              <a:buNone/>
            </a:pPr>
            <a:endParaRPr lang="en-CA" sz="2400" dirty="0"/>
          </a:p>
          <a:p>
            <a:pPr marL="0" indent="0">
              <a:buNone/>
            </a:pPr>
            <a:r>
              <a:rPr lang="en-CA" sz="2400" dirty="0"/>
              <a:t>Let's look at all of the major methods, starting with the terminal operations.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814CEC-158C-BC7B-133A-69974BA7C7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Lesson 9: Streaming</a:t>
            </a:r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B5C9B1-6AA2-A51B-59B4-D95D3A043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57D78-6BD8-4B20-85EE-78057F342A6D}" type="slidenum">
              <a:rPr lang="en-CA" smtClean="0"/>
              <a:t>14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398772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DBD975-30F8-BB2B-6FA4-5F0A33EBA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forEach(Consumer&lt;? super T&gt; action)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481F34-8252-8480-EA3F-730D693624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CA"/>
              <a:t>Performs an action on each element in the stream; commonly used for printing or modifying each element.</a:t>
            </a:r>
          </a:p>
          <a:p>
            <a:endParaRPr lang="en-CA"/>
          </a:p>
          <a:p>
            <a:r>
              <a:rPr lang="en-CA"/>
              <a:t>// Printing each element in a list.</a:t>
            </a:r>
          </a:p>
          <a:p>
            <a:r>
              <a:rPr lang="en-CA"/>
              <a:t>List&lt;String&gt; names = List.of("Alice", "Bob", "Charlie");</a:t>
            </a:r>
          </a:p>
          <a:p>
            <a:r>
              <a:rPr lang="en-CA"/>
              <a:t>names.stream().forEach(System.out::println);</a:t>
            </a:r>
          </a:p>
          <a:p>
            <a:endParaRPr lang="en-CA"/>
          </a:p>
          <a:p>
            <a:r>
              <a:rPr lang="en-CA"/>
              <a:t>// Adding each element to another list.</a:t>
            </a:r>
          </a:p>
          <a:p>
            <a:r>
              <a:rPr lang="en-CA"/>
              <a:t>List&lt;String&gt; copy = new ArrayList&lt;&gt;();</a:t>
            </a:r>
          </a:p>
          <a:p>
            <a:r>
              <a:rPr lang="en-CA"/>
              <a:t>names.stream().forEach(copy::add);</a:t>
            </a:r>
          </a:p>
          <a:p>
            <a:endParaRPr lang="en-CA"/>
          </a:p>
          <a:p>
            <a:r>
              <a:rPr lang="en-CA"/>
              <a:t>Note: forEachOrdered is s</a:t>
            </a:r>
            <a:r>
              <a:rPr lang="en-US"/>
              <a:t>imilar, but in a parallel stream, it ensures the elements are processed in the encounter order (the order they appear in the stream source).</a:t>
            </a:r>
          </a:p>
          <a:p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C0D120-760B-2AF9-A9CC-A4FCDAE82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Lesson 9: Streaming</a:t>
            </a:r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202151-9D79-D549-9D99-495311663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57D78-6BD8-4B20-85EE-78057F342A6D}" type="slidenum">
              <a:rPr lang="en-CA" smtClean="0"/>
              <a:t>15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602140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5FF60-3AFA-E722-1B40-0F9FBF9DAA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956721" cy="1325563"/>
          </a:xfrm>
        </p:spPr>
        <p:txBody>
          <a:bodyPr>
            <a:normAutofit/>
          </a:bodyPr>
          <a:lstStyle/>
          <a:p>
            <a:r>
              <a:rPr lang="en-US"/>
              <a:t>toArray()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C17A0A-6633-6808-D4E9-728EE075F3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Converts the elements in the stream to an array, which is useful when you need a fixed-size, indexed collection of elements.</a:t>
            </a:r>
          </a:p>
          <a:p>
            <a:endParaRPr lang="en-US"/>
          </a:p>
          <a:p>
            <a:r>
              <a:rPr lang="en-US"/>
              <a:t>// Converting a list of strings to an array.</a:t>
            </a:r>
          </a:p>
          <a:p>
            <a:r>
              <a:rPr lang="en-US"/>
              <a:t>List&lt;String&gt; names = List.of("Alice", "Bob", "Charlie");</a:t>
            </a:r>
          </a:p>
          <a:p>
            <a:r>
              <a:rPr lang="en-US"/>
              <a:t>String[] array = names.stream().toArray(String[]::new); </a:t>
            </a:r>
          </a:p>
          <a:p>
            <a:endParaRPr lang="en-US"/>
          </a:p>
          <a:p>
            <a:r>
              <a:rPr lang="en-US"/>
              <a:t>// Converting a stream of integers to an integer array.</a:t>
            </a:r>
          </a:p>
          <a:p>
            <a:r>
              <a:rPr lang="en-US"/>
              <a:t>int[] array = IntStream.range(1, 4).toArray(); // [1, 2, 3]</a:t>
            </a:r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4DEE94-D72C-E6DA-7716-9338D6D725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Lesson 9: Streaming</a:t>
            </a:r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4A105A-879E-8C77-BF2E-D3B1468313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57D78-6BD8-4B20-85EE-78057F342A6D}" type="slidenum">
              <a:rPr lang="en-CA" smtClean="0"/>
              <a:t>16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532005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E5C8F-0ABE-6AB1-2C62-467DF399CF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283" y="365125"/>
            <a:ext cx="11601973" cy="1325563"/>
          </a:xfrm>
        </p:spPr>
        <p:txBody>
          <a:bodyPr/>
          <a:lstStyle/>
          <a:p>
            <a:r>
              <a:rPr lang="en-US"/>
              <a:t>reduce(T identity, BinaryOperator&lt;T&gt; accumulator)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70FEB2-D5D3-94E9-70E3-AF3AA5C52E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283" y="1825625"/>
            <a:ext cx="11501305" cy="4351338"/>
          </a:xfrm>
        </p:spPr>
        <p:txBody>
          <a:bodyPr>
            <a:normAutofit lnSpcReduction="10000"/>
          </a:bodyPr>
          <a:lstStyle/>
          <a:p>
            <a:r>
              <a:rPr lang="en-US" sz="2400"/>
              <a:t>This operation combines all elements into a single result, starting with an initial value ("identity") and using an accumulator function to combine them</a:t>
            </a:r>
          </a:p>
          <a:p>
            <a:endParaRPr lang="en-US" sz="2400"/>
          </a:p>
          <a:p>
            <a:r>
              <a:rPr lang="en-US" sz="2400"/>
              <a:t>// Summing integers with an initial value: 16</a:t>
            </a:r>
          </a:p>
          <a:p>
            <a:r>
              <a:rPr lang="en-US" sz="2400"/>
              <a:t>int sum = Stream.of(1, 2, 3).reduce(10, Integer::sum); </a:t>
            </a:r>
          </a:p>
          <a:p>
            <a:endParaRPr lang="en-US" sz="2400"/>
          </a:p>
          <a:p>
            <a:r>
              <a:rPr lang="en-US" sz="2400"/>
              <a:t>// Concatenating strings with an initial prefix: Names: AliceBob</a:t>
            </a:r>
          </a:p>
          <a:p>
            <a:r>
              <a:rPr lang="en-US" sz="2400"/>
              <a:t>String result = Stream.of("Alice", "Bob").reduce("Names: ", String::concat);</a:t>
            </a:r>
          </a:p>
          <a:p>
            <a:r>
              <a:rPr lang="en-US" sz="2400"/>
              <a:t>or</a:t>
            </a:r>
          </a:p>
          <a:p>
            <a:r>
              <a:rPr lang="en-US" sz="2400"/>
              <a:t>String result = Stream.of("Alice", "Bob").reduce("Names:\n ", (acc, name)-&gt;acc + name + System.lineSeparator()); // each name on its own new line</a:t>
            </a:r>
            <a:endParaRPr lang="en-CA" sz="2400"/>
          </a:p>
          <a:p>
            <a:endParaRPr lang="en-US" sz="2400"/>
          </a:p>
          <a:p>
            <a:endParaRPr lang="en-CA" sz="240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4385D4-BC10-D8AC-60C9-7E13A6670F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Lesson 9: Streaming</a:t>
            </a:r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91C6CA-73CB-AB6C-3DEB-DB5CD4055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57D78-6BD8-4B20-85EE-78057F342A6D}" type="slidenum">
              <a:rPr lang="en-CA" smtClean="0"/>
              <a:t>17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226411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45279-2BF1-DD2D-2639-F3F5F61DA5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reduce(BinaryOperator&lt;T&gt; accumulator)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D63939-B578-9805-06D0-38174D30E4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617" y="1825625"/>
            <a:ext cx="11434193" cy="4351338"/>
          </a:xfrm>
        </p:spPr>
        <p:txBody>
          <a:bodyPr>
            <a:noAutofit/>
          </a:bodyPr>
          <a:lstStyle/>
          <a:p>
            <a:r>
              <a:rPr lang="en-US" sz="1800"/>
              <a:t>Similar to the previous example, but with no initial value</a:t>
            </a:r>
          </a:p>
          <a:p>
            <a:r>
              <a:rPr lang="en-CA" sz="1800"/>
              <a:t>// Summing integers: sum.get() is 6; sum is Optional[6]</a:t>
            </a:r>
          </a:p>
          <a:p>
            <a:r>
              <a:rPr lang="en-CA" sz="1800"/>
              <a:t>Optional&lt;Integer&gt; sum = Stream.of(1, 2, 3).reduce(Integer::sum);</a:t>
            </a:r>
          </a:p>
          <a:p>
            <a:r>
              <a:rPr lang="en-CA" sz="1800"/>
              <a:t>or</a:t>
            </a:r>
          </a:p>
          <a:p>
            <a:r>
              <a:rPr lang="en-US" sz="1800"/>
              <a:t>List&lt;Integer&gt; numbers = List.of(1, 2, 3);</a:t>
            </a:r>
          </a:p>
          <a:p>
            <a:r>
              <a:rPr lang="en-US" sz="1800"/>
              <a:t>Optional&lt;Integer&gt; sum = numbers.stream().reduce(Integer::sum);</a:t>
            </a:r>
            <a:endParaRPr lang="en-CA" sz="1800"/>
          </a:p>
          <a:p>
            <a:endParaRPr lang="en-CA" sz="1800"/>
          </a:p>
          <a:p>
            <a:r>
              <a:rPr lang="en-CA" sz="1800"/>
              <a:t>// Finding the longest string: Charlie</a:t>
            </a:r>
          </a:p>
          <a:p>
            <a:r>
              <a:rPr lang="en-CA" sz="1800"/>
              <a:t>Optional&lt;String&gt; longest = Stream.of("Alice", "Bob", "Charlie" ).reduce((a, b) -&gt; a.length() &gt; b.length() ? a : b);</a:t>
            </a:r>
          </a:p>
          <a:p>
            <a:r>
              <a:rPr lang="en-CA" sz="1800"/>
              <a:t>or</a:t>
            </a:r>
          </a:p>
          <a:p>
            <a:r>
              <a:rPr lang="en-US" sz="1800"/>
              <a:t>List&lt;String&gt; names = List.of("Alice", "Bob", "Charlie");</a:t>
            </a:r>
          </a:p>
          <a:p>
            <a:r>
              <a:rPr lang="en-US" sz="1800"/>
              <a:t>Optional&lt;String&gt; longest = names.stream().reduce((a, b) -&gt; a.length() &gt; b.length() ? a : b);</a:t>
            </a:r>
          </a:p>
          <a:p>
            <a:endParaRPr lang="en-CA" sz="180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37DDAC-2EE0-9DEB-95C2-A1CB8DD5E0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Lesson 9: Streaming</a:t>
            </a:r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B4411C-1C25-F3EC-EDC4-207B48980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57D78-6BD8-4B20-85EE-78057F342A6D}" type="slidenum">
              <a:rPr lang="en-CA" smtClean="0"/>
              <a:t>18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462777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4DA928-8239-919D-8A2E-F603E5DF41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/>
              <a:t>Optionals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4444B4-4195-4E60-2E42-FD80404314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65125"/>
            <a:ext cx="10515600" cy="5811838"/>
          </a:xfrm>
        </p:spPr>
        <p:txBody>
          <a:bodyPr>
            <a:normAutofit fontScale="55000" lnSpcReduction="20000"/>
          </a:bodyPr>
          <a:lstStyle/>
          <a:p>
            <a:r>
              <a:rPr lang="en-US" b="1" dirty="0"/>
              <a:t>Optional</a:t>
            </a:r>
            <a:r>
              <a:rPr lang="en-US" dirty="0"/>
              <a:t> is a container that might or might not hold a value</a:t>
            </a:r>
          </a:p>
          <a:p>
            <a:r>
              <a:rPr lang="en-US" dirty="0"/>
              <a:t>Used to avoid </a:t>
            </a:r>
            <a:r>
              <a:rPr lang="en-US" b="1" dirty="0"/>
              <a:t>null</a:t>
            </a:r>
            <a:r>
              <a:rPr lang="en-US" dirty="0"/>
              <a:t> and </a:t>
            </a:r>
            <a:r>
              <a:rPr lang="en-US" b="1" dirty="0" err="1"/>
              <a:t>NullPointerException</a:t>
            </a:r>
            <a:endParaRPr lang="en-US" b="1" dirty="0"/>
          </a:p>
          <a:p>
            <a:r>
              <a:rPr lang="en-US" dirty="0"/>
              <a:t>When using methods like </a:t>
            </a:r>
            <a:r>
              <a:rPr lang="en-US" b="1" dirty="0"/>
              <a:t>reduce()</a:t>
            </a:r>
            <a:r>
              <a:rPr lang="en-US" dirty="0"/>
              <a:t> with no initial value, the result may be absent if the </a:t>
            </a:r>
            <a:br>
              <a:rPr lang="en-US" dirty="0"/>
            </a:br>
            <a:r>
              <a:rPr lang="en-US" dirty="0"/>
              <a:t>stream is empty. Optional lets us </a:t>
            </a:r>
            <a:r>
              <a:rPr lang="en-US" u="sng" dirty="0"/>
              <a:t>safely </a:t>
            </a:r>
            <a:r>
              <a:rPr lang="en-US" dirty="0"/>
              <a:t>check for a value.</a:t>
            </a:r>
          </a:p>
          <a:p>
            <a:endParaRPr lang="en-US" dirty="0"/>
          </a:p>
          <a:p>
            <a:r>
              <a:rPr lang="en-US" b="1" dirty="0"/>
              <a:t>List&lt;Integer&gt; numbers = </a:t>
            </a:r>
            <a:r>
              <a:rPr lang="en-US" b="1" dirty="0" err="1"/>
              <a:t>List.of</a:t>
            </a:r>
            <a:r>
              <a:rPr lang="en-US" b="1" dirty="0"/>
              <a:t>(); // Empty list, or possibly-empty list</a:t>
            </a:r>
          </a:p>
          <a:p>
            <a:r>
              <a:rPr lang="en-US" b="1" dirty="0"/>
              <a:t>Optional&lt;Integer&gt; sum = </a:t>
            </a:r>
            <a:r>
              <a:rPr lang="en-US" b="1" dirty="0" err="1"/>
              <a:t>numbers.stream</a:t>
            </a:r>
            <a:r>
              <a:rPr lang="en-US" b="1" dirty="0"/>
              <a:t>().reduce(Integer::sum);</a:t>
            </a:r>
          </a:p>
          <a:p>
            <a:endParaRPr lang="en-US" b="1" dirty="0"/>
          </a:p>
          <a:p>
            <a:r>
              <a:rPr lang="en-US" b="1" dirty="0"/>
              <a:t>if (</a:t>
            </a:r>
            <a:r>
              <a:rPr lang="en-US" b="1" dirty="0" err="1"/>
              <a:t>sum.isPresent</a:t>
            </a:r>
            <a:r>
              <a:rPr lang="en-US" b="1" dirty="0"/>
              <a:t>()) {</a:t>
            </a:r>
          </a:p>
          <a:p>
            <a:r>
              <a:rPr lang="en-US" b="1" dirty="0"/>
              <a:t>    </a:t>
            </a:r>
            <a:r>
              <a:rPr lang="en-US" b="1" dirty="0" err="1"/>
              <a:t>System.out.println</a:t>
            </a:r>
            <a:r>
              <a:rPr lang="en-US" b="1" dirty="0"/>
              <a:t>("Sum: " + </a:t>
            </a:r>
            <a:r>
              <a:rPr lang="en-US" b="1" dirty="0" err="1"/>
              <a:t>sum.get</a:t>
            </a:r>
            <a:r>
              <a:rPr lang="en-US" b="1" dirty="0"/>
              <a:t>());</a:t>
            </a:r>
          </a:p>
          <a:p>
            <a:r>
              <a:rPr lang="en-US" b="1" dirty="0"/>
              <a:t>} else {</a:t>
            </a:r>
          </a:p>
          <a:p>
            <a:r>
              <a:rPr lang="en-US" b="1" dirty="0"/>
              <a:t>    </a:t>
            </a:r>
            <a:r>
              <a:rPr lang="en-US" b="1" dirty="0" err="1"/>
              <a:t>System.out.println</a:t>
            </a:r>
            <a:r>
              <a:rPr lang="en-US" b="1" dirty="0"/>
              <a:t>("No result, stream was empty.");</a:t>
            </a:r>
          </a:p>
          <a:p>
            <a:r>
              <a:rPr lang="en-US" b="1" dirty="0"/>
              <a:t>}</a:t>
            </a:r>
          </a:p>
          <a:p>
            <a:endParaRPr lang="en-US" dirty="0"/>
          </a:p>
          <a:p>
            <a:r>
              <a:rPr lang="en-US" dirty="0" err="1"/>
              <a:t>isPresent</a:t>
            </a:r>
            <a:r>
              <a:rPr lang="en-US" dirty="0"/>
              <a:t>() 	checks if there’s a value.</a:t>
            </a:r>
          </a:p>
          <a:p>
            <a:r>
              <a:rPr lang="en-US" dirty="0"/>
              <a:t>get()		retrieves the value if present.</a:t>
            </a:r>
          </a:p>
          <a:p>
            <a:endParaRPr lang="en-US" dirty="0"/>
          </a:p>
          <a:p>
            <a:r>
              <a:rPr lang="en-US" dirty="0"/>
              <a:t>In this example, sum is empty because the list has no elements, so </a:t>
            </a:r>
            <a:r>
              <a:rPr lang="en-US" dirty="0" err="1"/>
              <a:t>isPresent</a:t>
            </a:r>
            <a:r>
              <a:rPr lang="en-US" dirty="0"/>
              <a:t>() is false and we avoided null issues.</a:t>
            </a:r>
          </a:p>
          <a:p>
            <a:r>
              <a:rPr lang="en-US" dirty="0"/>
              <a:t>Use </a:t>
            </a:r>
            <a:r>
              <a:rPr lang="en-US" b="1" dirty="0"/>
              <a:t>Optional</a:t>
            </a:r>
            <a:r>
              <a:rPr lang="en-US" dirty="0"/>
              <a:t> as a return type for methods that might return a value but could also be empty, to explicitly indicate "no result" instead of returning null; however, do not use Optional for fields in classes or as parameters to methods, as it is designed specifically for return values to signal the potential absence of a result.</a:t>
            </a:r>
            <a:endParaRPr lang="en-CA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D7F7D9-8767-DE4E-6A2E-39D67C3C3A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Lesson 9: Streaming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295460-CA8E-01E3-4646-74B77DFBA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57D78-6BD8-4B20-85EE-78057F342A6D}" type="slidenum">
              <a:rPr lang="en-CA" smtClean="0"/>
              <a:t>19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438547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76869-F0B1-021A-F4C0-48ED68AECB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collect(Collector&lt;? super T, A, R&gt; collector)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6409DE-B23A-6DDD-2A79-A0A69A396E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061" y="1825625"/>
            <a:ext cx="11450972" cy="4351338"/>
          </a:xfrm>
        </p:spPr>
        <p:txBody>
          <a:bodyPr>
            <a:normAutofit/>
          </a:bodyPr>
          <a:lstStyle/>
          <a:p>
            <a:r>
              <a:rPr lang="en-US" sz="2000" dirty="0"/>
              <a:t>Collects the elements of the stream into a collection or other data structure like a List, Set, or Map</a:t>
            </a:r>
          </a:p>
          <a:p>
            <a:endParaRPr lang="en-US" sz="2000" dirty="0"/>
          </a:p>
          <a:p>
            <a:r>
              <a:rPr lang="en-US" sz="2000" dirty="0"/>
              <a:t>// Collecting to a list</a:t>
            </a:r>
          </a:p>
          <a:p>
            <a:r>
              <a:rPr lang="en-US" sz="2000" dirty="0"/>
              <a:t>List&lt;String&gt; names = </a:t>
            </a:r>
            <a:r>
              <a:rPr lang="en-US" sz="2000" dirty="0" err="1"/>
              <a:t>Stream.of</a:t>
            </a:r>
            <a:r>
              <a:rPr lang="en-US" sz="2000" dirty="0"/>
              <a:t>("Alice", "Bob").collect(</a:t>
            </a:r>
            <a:r>
              <a:rPr lang="en-US" sz="2000" dirty="0" err="1"/>
              <a:t>Collectors.toList</a:t>
            </a:r>
            <a:r>
              <a:rPr lang="en-US" sz="2000" dirty="0"/>
              <a:t>());</a:t>
            </a:r>
          </a:p>
          <a:p>
            <a:endParaRPr lang="en-US" sz="2000" dirty="0"/>
          </a:p>
          <a:p>
            <a:r>
              <a:rPr lang="en-US" sz="2000" dirty="0"/>
              <a:t>// Collecting to a set.</a:t>
            </a:r>
          </a:p>
          <a:p>
            <a:r>
              <a:rPr lang="en-US" sz="2000" dirty="0"/>
              <a:t>Set&lt;String&gt; </a:t>
            </a:r>
            <a:r>
              <a:rPr lang="en-US" sz="2000" dirty="0" err="1"/>
              <a:t>uniqueNames</a:t>
            </a:r>
            <a:r>
              <a:rPr lang="en-US" sz="2000" dirty="0"/>
              <a:t> = </a:t>
            </a:r>
            <a:r>
              <a:rPr lang="en-US" sz="2000" dirty="0" err="1"/>
              <a:t>Stream.of</a:t>
            </a:r>
            <a:r>
              <a:rPr lang="en-US" sz="2000" dirty="0"/>
              <a:t>("Alice", "Alice", "Bob").collect(</a:t>
            </a:r>
            <a:r>
              <a:rPr lang="en-US" sz="2000" dirty="0" err="1"/>
              <a:t>Collectors.toSet</a:t>
            </a:r>
            <a:r>
              <a:rPr lang="en-US" sz="2000" dirty="0"/>
              <a:t>());</a:t>
            </a:r>
            <a:endParaRPr lang="en-CA" sz="20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E756AD-E85D-D5C1-59CD-F70C1D858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Lesson 9: Streaming</a:t>
            </a:r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BDFF62-D9C2-0ADB-3C1B-AEB336614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57D78-6BD8-4B20-85EE-78057F342A6D}" type="slidenum">
              <a:rPr lang="en-CA" smtClean="0"/>
              <a:t>20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70375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AE6863-AF52-2967-9812-B314224937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066092" cy="1325563"/>
          </a:xfrm>
        </p:spPr>
        <p:txBody>
          <a:bodyPr>
            <a:normAutofit/>
          </a:bodyPr>
          <a:lstStyle/>
          <a:p>
            <a:r>
              <a:rPr lang="en-CA" sz="2000" b="1"/>
              <a:t>collect(Supplier&lt;R&gt; supplier, BiConsumer&lt;R, ? super T&gt; accumulator, BiConsumer&lt;R, R&gt; combiner)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A36391-CB1E-CB14-31D8-9FD3ADA507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CA" sz="2000"/>
              <a:t>A more customizable way of collecting elements by specifying how to create, accumulate, and combine the results</a:t>
            </a:r>
          </a:p>
          <a:p>
            <a:endParaRPr lang="en-CA" sz="2000"/>
          </a:p>
          <a:p>
            <a:r>
              <a:rPr lang="en-CA" sz="2000"/>
              <a:t>// Collecting to a custom list</a:t>
            </a:r>
          </a:p>
          <a:p>
            <a:r>
              <a:rPr lang="en-CA" sz="2000"/>
              <a:t>List&lt;String&gt; names = Stream.of("Alice", "Bob").collect(ArrayList::new, List::add, List::addAll);</a:t>
            </a:r>
          </a:p>
          <a:p>
            <a:endParaRPr lang="en-CA" sz="2000"/>
          </a:p>
          <a:p>
            <a:r>
              <a:rPr lang="en-CA" sz="2000"/>
              <a:t>// Collecting to a map with custom logic     </a:t>
            </a:r>
          </a:p>
          <a:p>
            <a:r>
              <a:rPr lang="en-CA" sz="2000"/>
              <a:t>Map&lt;String, Integer&gt; nameLengths = Stream.of("Alice", "Bob").collect(HashMap :: new, (map, name) -&gt; map.put(name, name.length()), Map :: putAll);</a:t>
            </a:r>
          </a:p>
          <a:p>
            <a:r>
              <a:rPr lang="en-CA" sz="2000"/>
              <a:t>        for(final Map.Entry&lt;String, Integer&gt; entry : nameLengths.entrySet()){</a:t>
            </a:r>
          </a:p>
          <a:p>
            <a:r>
              <a:rPr lang="en-CA" sz="2000"/>
              <a:t>            System.out.println("Name: " + entry.getKey() + ", Length: " + entry.getValue());</a:t>
            </a:r>
          </a:p>
          <a:p>
            <a:r>
              <a:rPr lang="en-CA" sz="2000"/>
              <a:t>        }</a:t>
            </a:r>
          </a:p>
          <a:p>
            <a:r>
              <a:rPr lang="en-CA" sz="2000"/>
              <a:t>// Name: Bob, Length: 3</a:t>
            </a:r>
            <a:br>
              <a:rPr lang="en-CA" sz="2000"/>
            </a:br>
            <a:r>
              <a:rPr lang="en-CA" sz="2000"/>
              <a:t>// Name: Alice, Length: 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AD632A-1C51-ADDD-5C3D-8188ABA5BE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Lesson 9: Streaming</a:t>
            </a:r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3A1380-9819-A85C-648F-87EC45353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57D78-6BD8-4B20-85EE-78057F342A6D}" type="slidenum">
              <a:rPr lang="en-CA" smtClean="0"/>
              <a:t>21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125353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250FA4-BE1E-9E97-15E0-6158EF1FE2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min(Comparator&lt;? super T&gt; comparator)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76AD3E-DB78-E985-5D64-D98B34A388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CA" dirty="0"/>
              <a:t>Finds the minimum element in the stream based on a specified comparator.</a:t>
            </a:r>
          </a:p>
          <a:p>
            <a:endParaRPr lang="en-CA" dirty="0"/>
          </a:p>
          <a:p>
            <a:r>
              <a:rPr lang="en-CA" dirty="0"/>
              <a:t>// Finding the minimum integer: 1</a:t>
            </a:r>
          </a:p>
          <a:p>
            <a:r>
              <a:rPr lang="en-CA" dirty="0"/>
              <a:t>Optional&lt;Integer&gt; min = </a:t>
            </a:r>
            <a:r>
              <a:rPr lang="en-CA" dirty="0" err="1"/>
              <a:t>Stream.of</a:t>
            </a:r>
            <a:r>
              <a:rPr lang="en-CA" dirty="0"/>
              <a:t>(3, 1, 4).min(Integer::compare);</a:t>
            </a:r>
          </a:p>
          <a:p>
            <a:endParaRPr lang="en-CA" dirty="0"/>
          </a:p>
          <a:p>
            <a:r>
              <a:rPr lang="en-CA" dirty="0"/>
              <a:t>// Finding the shortest string: Bob</a:t>
            </a:r>
          </a:p>
          <a:p>
            <a:r>
              <a:rPr lang="en-CA" dirty="0"/>
              <a:t>Optional&lt;String&gt; shortest = </a:t>
            </a:r>
            <a:r>
              <a:rPr lang="en-CA" dirty="0" err="1"/>
              <a:t>Stream.of</a:t>
            </a:r>
            <a:r>
              <a:rPr lang="en-CA" dirty="0"/>
              <a:t>("Alice", "Bob", "Charlie")</a:t>
            </a:r>
          </a:p>
          <a:p>
            <a:r>
              <a:rPr lang="en-CA" dirty="0"/>
              <a:t>.min(</a:t>
            </a:r>
            <a:r>
              <a:rPr lang="en-CA" dirty="0" err="1"/>
              <a:t>Comparator.comparingInt</a:t>
            </a:r>
            <a:r>
              <a:rPr lang="en-CA" dirty="0"/>
              <a:t>(String::length));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695A35-AA56-EBA7-EA69-CA4C39CB92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Lesson 9: Streaming</a:t>
            </a:r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6A3253-87D6-6A64-B26A-D8B15AAA4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57D78-6BD8-4B20-85EE-78057F342A6D}" type="slidenum">
              <a:rPr lang="en-CA" smtClean="0"/>
              <a:t>22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2442374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15CEBE-B7DD-E62B-5C3D-10B2EFE173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max(Comparator&lt;? super T&gt; comparator)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5223E7-91D3-10E1-8C53-6BC540AB36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A" sz="2400" dirty="0"/>
              <a:t>Finds the maximum element in the stream based on a specified comparator.</a:t>
            </a:r>
          </a:p>
          <a:p>
            <a:endParaRPr lang="en-CA" sz="2400" dirty="0"/>
          </a:p>
          <a:p>
            <a:r>
              <a:rPr lang="en-CA" sz="2400" dirty="0"/>
              <a:t>// Finding the maximum integer: 4</a:t>
            </a:r>
          </a:p>
          <a:p>
            <a:r>
              <a:rPr lang="en-CA" sz="2400" dirty="0"/>
              <a:t>Optional&lt;Integer&gt; max = </a:t>
            </a:r>
            <a:r>
              <a:rPr lang="en-CA" sz="2400" dirty="0" err="1"/>
              <a:t>Stream.of</a:t>
            </a:r>
            <a:r>
              <a:rPr lang="en-CA" sz="2400" dirty="0"/>
              <a:t>(3, 1, 4).max(Integer::compare);</a:t>
            </a:r>
          </a:p>
          <a:p>
            <a:endParaRPr lang="en-CA" sz="2400" dirty="0"/>
          </a:p>
          <a:p>
            <a:r>
              <a:rPr lang="en-CA" sz="2400" dirty="0"/>
              <a:t>// Finding the longest string: Charlie</a:t>
            </a:r>
          </a:p>
          <a:p>
            <a:r>
              <a:rPr lang="en-CA" sz="2400" dirty="0"/>
              <a:t>Optional&lt;String&gt; longest = </a:t>
            </a:r>
            <a:r>
              <a:rPr lang="en-CA" sz="2400" dirty="0" err="1"/>
              <a:t>Stream.of</a:t>
            </a:r>
            <a:r>
              <a:rPr lang="en-CA" sz="2400" dirty="0"/>
              <a:t>("Alice", "Bob", "Charlie")</a:t>
            </a:r>
          </a:p>
          <a:p>
            <a:r>
              <a:rPr lang="en-CA" sz="2400" dirty="0"/>
              <a:t>.max(</a:t>
            </a:r>
            <a:r>
              <a:rPr lang="en-CA" sz="2400" dirty="0" err="1"/>
              <a:t>Comparator.comparingInt</a:t>
            </a:r>
            <a:r>
              <a:rPr lang="en-CA" sz="2400" dirty="0"/>
              <a:t>(String::length));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FC322C-7C30-823D-F697-F877304770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Lesson 9: Streaming</a:t>
            </a:r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10B3EF-B800-8728-9BFE-D8E40390A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57D78-6BD8-4B20-85EE-78057F342A6D}" type="slidenum">
              <a:rPr lang="en-CA" smtClean="0"/>
              <a:t>23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777685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7B8B96-F3E5-8311-E028-FDD218101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count()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ADAB8C-25F3-AE64-E127-A6488AA0C0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Counts the number of elements in the stream</a:t>
            </a:r>
          </a:p>
          <a:p>
            <a:endParaRPr lang="en-US" sz="2000" dirty="0"/>
          </a:p>
          <a:p>
            <a:r>
              <a:rPr lang="en-US" sz="2000" dirty="0"/>
              <a:t>// Counting elements in a stream: 3</a:t>
            </a:r>
          </a:p>
          <a:p>
            <a:r>
              <a:rPr lang="en-US" sz="2000" dirty="0"/>
              <a:t>long count = </a:t>
            </a:r>
            <a:r>
              <a:rPr lang="en-US" sz="2000" dirty="0" err="1"/>
              <a:t>Stream.of</a:t>
            </a:r>
            <a:r>
              <a:rPr lang="en-US" sz="2000" dirty="0"/>
              <a:t>(1, 26, 3).count();</a:t>
            </a:r>
          </a:p>
          <a:p>
            <a:endParaRPr lang="en-US" sz="2000" dirty="0"/>
          </a:p>
          <a:p>
            <a:r>
              <a:rPr lang="en-US" sz="2000" dirty="0"/>
              <a:t>// Counting words with more than 3 letters: 2</a:t>
            </a:r>
          </a:p>
          <a:p>
            <a:r>
              <a:rPr lang="en-US" sz="2000" dirty="0"/>
              <a:t>long count = </a:t>
            </a:r>
            <a:r>
              <a:rPr lang="en-US" sz="2000" dirty="0" err="1"/>
              <a:t>Stream.of</a:t>
            </a:r>
            <a:r>
              <a:rPr lang="en-US" sz="2000" dirty="0"/>
              <a:t>("Alice", "Bob", "Charlie").filter(name -&gt; </a:t>
            </a:r>
            <a:r>
              <a:rPr lang="en-US" sz="2000" dirty="0" err="1"/>
              <a:t>name.length</a:t>
            </a:r>
            <a:r>
              <a:rPr lang="en-US" sz="2000" dirty="0"/>
              <a:t>() &gt; 3).count();</a:t>
            </a:r>
            <a:endParaRPr lang="en-CA" sz="20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EBDE6E-A745-0A49-6F75-1D09CCE7C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Lesson 9: Streaming</a:t>
            </a:r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8D2239-219E-2814-7E2C-F9BF52727D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57D78-6BD8-4B20-85EE-78057F342A6D}" type="slidenum">
              <a:rPr lang="en-CA" smtClean="0"/>
              <a:t>24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0328902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A96227-92C2-1960-7193-59B269E12B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anyMatch(Predicate&lt;? super T&gt; predicate)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17B71D-FBB1-1053-7292-FA3D437672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8840" y="1825625"/>
            <a:ext cx="11308360" cy="4351338"/>
          </a:xfrm>
        </p:spPr>
        <p:txBody>
          <a:bodyPr>
            <a:normAutofit/>
          </a:bodyPr>
          <a:lstStyle/>
          <a:p>
            <a:r>
              <a:rPr lang="en-US" sz="2400" dirty="0"/>
              <a:t>Checks if any element in the stream matches the given condition</a:t>
            </a:r>
          </a:p>
          <a:p>
            <a:endParaRPr lang="en-US" sz="2400" dirty="0"/>
          </a:p>
          <a:p>
            <a:r>
              <a:rPr lang="en-US" sz="2400" dirty="0"/>
              <a:t>// Checking if any number is even: true</a:t>
            </a:r>
          </a:p>
          <a:p>
            <a:r>
              <a:rPr lang="en-US" sz="2400" dirty="0" err="1"/>
              <a:t>boolean</a:t>
            </a:r>
            <a:r>
              <a:rPr lang="en-US" sz="2400" dirty="0"/>
              <a:t> </a:t>
            </a:r>
            <a:r>
              <a:rPr lang="en-US" sz="2400" dirty="0" err="1"/>
              <a:t>hasEven</a:t>
            </a:r>
            <a:r>
              <a:rPr lang="en-US" sz="2400" dirty="0"/>
              <a:t> = </a:t>
            </a:r>
            <a:r>
              <a:rPr lang="en-US" sz="2400" dirty="0" err="1"/>
              <a:t>Stream.of</a:t>
            </a:r>
            <a:r>
              <a:rPr lang="en-US" sz="2400" dirty="0"/>
              <a:t>(1, 2, 3).</a:t>
            </a:r>
            <a:r>
              <a:rPr lang="en-US" sz="2400" dirty="0" err="1"/>
              <a:t>anyMatch</a:t>
            </a:r>
            <a:r>
              <a:rPr lang="en-US" sz="2400" dirty="0"/>
              <a:t>(n -&gt; n % 2 == 0);</a:t>
            </a:r>
          </a:p>
          <a:p>
            <a:endParaRPr lang="en-US" sz="2400" dirty="0"/>
          </a:p>
          <a:p>
            <a:r>
              <a:rPr lang="en-US" sz="2400" dirty="0"/>
              <a:t>// Checking if any name starts with "A": true</a:t>
            </a:r>
          </a:p>
          <a:p>
            <a:r>
              <a:rPr lang="en-US" sz="2400" dirty="0" err="1"/>
              <a:t>boolean</a:t>
            </a:r>
            <a:r>
              <a:rPr lang="en-US" sz="2400" dirty="0"/>
              <a:t> </a:t>
            </a:r>
            <a:r>
              <a:rPr lang="en-US" sz="2400" dirty="0" err="1"/>
              <a:t>hasA</a:t>
            </a:r>
            <a:r>
              <a:rPr lang="en-US" sz="2400" dirty="0"/>
              <a:t> = </a:t>
            </a:r>
            <a:r>
              <a:rPr lang="en-US" sz="2400" dirty="0" err="1"/>
              <a:t>Stream.of</a:t>
            </a:r>
            <a:r>
              <a:rPr lang="en-US" sz="2400" dirty="0"/>
              <a:t>("Alice", "Bob").</a:t>
            </a:r>
            <a:r>
              <a:rPr lang="en-US" sz="2400" dirty="0" err="1"/>
              <a:t>anyMatch</a:t>
            </a:r>
            <a:r>
              <a:rPr lang="en-US" sz="2400" dirty="0"/>
              <a:t>(name -&gt; </a:t>
            </a:r>
            <a:r>
              <a:rPr lang="en-US" sz="2400" dirty="0" err="1"/>
              <a:t>name.startsWith</a:t>
            </a:r>
            <a:r>
              <a:rPr lang="en-US" sz="2400" dirty="0"/>
              <a:t>("A"));</a:t>
            </a:r>
            <a:endParaRPr lang="en-CA" sz="24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0A1B22-124F-5C84-ACA7-3943153707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Lesson 9: Streaming</a:t>
            </a:r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7DB0CB-C961-D7F0-7249-B522E78AD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57D78-6BD8-4B20-85EE-78057F342A6D}" type="slidenum">
              <a:rPr lang="en-CA" smtClean="0"/>
              <a:t>25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7256577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3C086B-1348-8073-947D-68C9C9FEA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allMatch(Predicate&lt;? super T&gt; predicate)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19F115-D489-0BA3-2C65-0A607668E0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948332" cy="4351338"/>
          </a:xfrm>
        </p:spPr>
        <p:txBody>
          <a:bodyPr>
            <a:normAutofit/>
          </a:bodyPr>
          <a:lstStyle/>
          <a:p>
            <a:r>
              <a:rPr lang="en-US" sz="2200"/>
              <a:t>Checks if all elements in the stream match the given condition</a:t>
            </a:r>
          </a:p>
          <a:p>
            <a:endParaRPr lang="en-US" sz="2200"/>
          </a:p>
          <a:p>
            <a:r>
              <a:rPr lang="en-US" sz="2200"/>
              <a:t>// Checking if all numbers are even: true</a:t>
            </a:r>
          </a:p>
          <a:p>
            <a:r>
              <a:rPr lang="en-US" sz="2200"/>
              <a:t>boolean allEven = Stream.of(2, 4, 6).allMatch(n -&gt; n % 2 == 0);</a:t>
            </a:r>
          </a:p>
          <a:p>
            <a:r>
              <a:rPr lang="en-US" sz="2200"/>
              <a:t> </a:t>
            </a:r>
          </a:p>
          <a:p>
            <a:r>
              <a:rPr lang="en-US" sz="2200"/>
              <a:t> //  Checking if all names are non-empty: true</a:t>
            </a:r>
          </a:p>
          <a:p>
            <a:r>
              <a:rPr lang="en-US" sz="2200"/>
              <a:t>boolean allNonEmpty = Stream.of("Alice", "Bob").allMatch(name -&gt; !name.isEmpty());</a:t>
            </a:r>
            <a:endParaRPr lang="en-CA" sz="220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A84DBE-3BAE-DBCF-485F-150EC5640B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Lesson 9: Streaming</a:t>
            </a:r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EA733B-113A-918E-B6AA-3922AE53A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57D78-6BD8-4B20-85EE-78057F342A6D}" type="slidenum">
              <a:rPr lang="en-CA" smtClean="0"/>
              <a:t>26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8149482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034A1-8D57-C7E2-1D93-A071A59AD2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noneMatch(Predicate&lt;? super T&gt; predicate)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E01950-11E5-A348-39CE-E7A4DDD3A4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200" dirty="0"/>
              <a:t>Checks if no elements in the stream match the given condition</a:t>
            </a:r>
          </a:p>
          <a:p>
            <a:endParaRPr lang="en-US" sz="2200" dirty="0"/>
          </a:p>
          <a:p>
            <a:r>
              <a:rPr lang="en-US" sz="2200" dirty="0"/>
              <a:t>// Checking if no numbers are negative: true</a:t>
            </a:r>
          </a:p>
          <a:p>
            <a:r>
              <a:rPr lang="en-US" sz="2200" dirty="0" err="1"/>
              <a:t>boolean</a:t>
            </a:r>
            <a:r>
              <a:rPr lang="en-US" sz="2200" dirty="0"/>
              <a:t> </a:t>
            </a:r>
            <a:r>
              <a:rPr lang="en-US" sz="2200" dirty="0" err="1"/>
              <a:t>noNegative</a:t>
            </a:r>
            <a:r>
              <a:rPr lang="en-US" sz="2200" dirty="0"/>
              <a:t> = </a:t>
            </a:r>
            <a:r>
              <a:rPr lang="en-US" sz="2200" dirty="0" err="1"/>
              <a:t>Stream.of</a:t>
            </a:r>
            <a:r>
              <a:rPr lang="en-US" sz="2200" dirty="0"/>
              <a:t>(1, 2, 3).</a:t>
            </a:r>
            <a:r>
              <a:rPr lang="en-US" sz="2200" dirty="0" err="1"/>
              <a:t>noneMatch</a:t>
            </a:r>
            <a:r>
              <a:rPr lang="en-US" sz="2200" dirty="0"/>
              <a:t>(n -&gt; n &lt; 0);</a:t>
            </a:r>
          </a:p>
          <a:p>
            <a:endParaRPr lang="en-US" sz="2200" dirty="0"/>
          </a:p>
          <a:p>
            <a:r>
              <a:rPr lang="en-US" sz="2200" dirty="0"/>
              <a:t>// Checking if no name starts with "Z": true</a:t>
            </a:r>
          </a:p>
          <a:p>
            <a:r>
              <a:rPr lang="en-US" sz="2200" dirty="0" err="1"/>
              <a:t>boolean</a:t>
            </a:r>
            <a:r>
              <a:rPr lang="en-US" sz="2200" dirty="0"/>
              <a:t> </a:t>
            </a:r>
            <a:r>
              <a:rPr lang="en-US" sz="2200" dirty="0" err="1"/>
              <a:t>noZ</a:t>
            </a:r>
            <a:r>
              <a:rPr lang="en-US" sz="2200" dirty="0"/>
              <a:t> = </a:t>
            </a:r>
            <a:r>
              <a:rPr lang="en-US" sz="2200" dirty="0" err="1"/>
              <a:t>Stream.of</a:t>
            </a:r>
            <a:r>
              <a:rPr lang="en-US" sz="2200" dirty="0"/>
              <a:t>("Alice", "Bob").</a:t>
            </a:r>
            <a:r>
              <a:rPr lang="en-US" sz="2200" dirty="0" err="1"/>
              <a:t>noneMatch</a:t>
            </a:r>
            <a:r>
              <a:rPr lang="en-US" sz="2200" dirty="0"/>
              <a:t>(name -&gt; </a:t>
            </a:r>
            <a:r>
              <a:rPr lang="en-US" sz="2200" dirty="0" err="1"/>
              <a:t>name.startsWith</a:t>
            </a:r>
            <a:r>
              <a:rPr lang="en-US" sz="2200" dirty="0"/>
              <a:t>("Z"));</a:t>
            </a:r>
            <a:endParaRPr lang="en-CA" sz="22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0E7CCD7-517E-04F3-8902-9C7AF94ED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Lesson 9: Streaming</a:t>
            </a:r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58FE6B-EF71-CDD6-6E16-5CFAE960E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57D78-6BD8-4B20-85EE-78057F342A6D}" type="slidenum">
              <a:rPr lang="en-CA" smtClean="0"/>
              <a:t>27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8085127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371A5C-8A65-E40B-8B76-AEF12289EB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findFirst()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D5B3CD-F82E-22E6-8FBA-4C9DB369F3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Returns the first element in the stream, if it exists</a:t>
            </a:r>
          </a:p>
          <a:p>
            <a:r>
              <a:rPr lang="en-US" dirty="0"/>
              <a:t>Useful in ordered streams</a:t>
            </a:r>
          </a:p>
          <a:p>
            <a:endParaRPr lang="en-US" dirty="0"/>
          </a:p>
          <a:p>
            <a:r>
              <a:rPr lang="en-US" dirty="0"/>
              <a:t>// Finding the first element in a list: 6</a:t>
            </a:r>
          </a:p>
          <a:p>
            <a:r>
              <a:rPr lang="en-US" dirty="0"/>
              <a:t>Optional&lt;Integer&gt; first = </a:t>
            </a:r>
            <a:r>
              <a:rPr lang="en-US" dirty="0" err="1"/>
              <a:t>Stream.of</a:t>
            </a:r>
            <a:r>
              <a:rPr lang="en-US" dirty="0"/>
              <a:t>(6, 1, 2, 3).</a:t>
            </a:r>
            <a:r>
              <a:rPr lang="en-US" dirty="0" err="1"/>
              <a:t>findFirst</a:t>
            </a:r>
            <a:r>
              <a:rPr lang="en-US" dirty="0"/>
              <a:t>();</a:t>
            </a:r>
          </a:p>
          <a:p>
            <a:endParaRPr lang="en-US" dirty="0"/>
          </a:p>
          <a:p>
            <a:r>
              <a:rPr lang="en-US" dirty="0"/>
              <a:t>// Finding the first name that starts with "B": Bob</a:t>
            </a:r>
          </a:p>
          <a:p>
            <a:r>
              <a:rPr lang="en-US" dirty="0"/>
              <a:t>Optional&lt;String&gt; </a:t>
            </a:r>
            <a:r>
              <a:rPr lang="en-US" dirty="0" err="1"/>
              <a:t>firstB</a:t>
            </a:r>
            <a:r>
              <a:rPr lang="en-US" dirty="0"/>
              <a:t> = </a:t>
            </a:r>
            <a:r>
              <a:rPr lang="en-US" dirty="0" err="1"/>
              <a:t>Stream.of</a:t>
            </a:r>
            <a:r>
              <a:rPr lang="en-US" dirty="0"/>
              <a:t>("Alice", "Bob", "Charlie")</a:t>
            </a:r>
          </a:p>
          <a:p>
            <a:r>
              <a:rPr lang="en-US" dirty="0"/>
              <a:t>.filter(name -&gt; </a:t>
            </a:r>
            <a:r>
              <a:rPr lang="en-US" dirty="0" err="1"/>
              <a:t>name.startsWith</a:t>
            </a:r>
            <a:r>
              <a:rPr lang="en-US" dirty="0"/>
              <a:t>("B"))</a:t>
            </a:r>
          </a:p>
          <a:p>
            <a:r>
              <a:rPr lang="en-US" dirty="0"/>
              <a:t>.</a:t>
            </a:r>
            <a:r>
              <a:rPr lang="en-US" dirty="0" err="1"/>
              <a:t>findFirst</a:t>
            </a:r>
            <a:r>
              <a:rPr lang="en-US" dirty="0"/>
              <a:t>();</a:t>
            </a:r>
            <a:endParaRPr lang="en-CA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FF6E21-2A31-660E-3FC7-D3FA739B4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Lesson 9: Streaming</a:t>
            </a:r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CB9C5B-351B-C0A4-2040-7D6FBA814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57D78-6BD8-4B20-85EE-78057F342A6D}" type="slidenum">
              <a:rPr lang="en-CA" smtClean="0"/>
              <a:t>28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4493547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4917FE-B044-FA8A-099A-4585F74461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iterator()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C5E237-961D-292F-D2A3-71B4D1610F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CA" dirty="0"/>
              <a:t>Returns an iterator for the stream, allowing elements to be processed one by one manually</a:t>
            </a:r>
          </a:p>
          <a:p>
            <a:endParaRPr lang="en-CA" dirty="0"/>
          </a:p>
          <a:p>
            <a:r>
              <a:rPr lang="en-CA" dirty="0"/>
              <a:t>// Getting an iterator from a stream</a:t>
            </a:r>
          </a:p>
          <a:p>
            <a:r>
              <a:rPr lang="en-CA" dirty="0"/>
              <a:t>Iterator&lt;String&gt; iterator = </a:t>
            </a:r>
            <a:r>
              <a:rPr lang="en-CA" dirty="0" err="1"/>
              <a:t>Stream.of</a:t>
            </a:r>
            <a:r>
              <a:rPr lang="en-CA" dirty="0"/>
              <a:t>("Alice", "Bob").iterator();</a:t>
            </a:r>
          </a:p>
          <a:p>
            <a:r>
              <a:rPr lang="en-CA" dirty="0"/>
              <a:t>while (</a:t>
            </a:r>
            <a:r>
              <a:rPr lang="en-CA" dirty="0" err="1"/>
              <a:t>iterator.hasNext</a:t>
            </a:r>
            <a:r>
              <a:rPr lang="en-CA" dirty="0"/>
              <a:t>()) {</a:t>
            </a:r>
          </a:p>
          <a:p>
            <a:r>
              <a:rPr lang="en-CA" dirty="0"/>
              <a:t>    </a:t>
            </a:r>
            <a:r>
              <a:rPr lang="en-CA" dirty="0" err="1"/>
              <a:t>System.out.println</a:t>
            </a:r>
            <a:r>
              <a:rPr lang="en-CA" dirty="0"/>
              <a:t>(</a:t>
            </a:r>
            <a:r>
              <a:rPr lang="en-CA" dirty="0" err="1"/>
              <a:t>iterator.next</a:t>
            </a:r>
            <a:r>
              <a:rPr lang="en-CA" dirty="0"/>
              <a:t>());</a:t>
            </a:r>
          </a:p>
          <a:p>
            <a:r>
              <a:rPr lang="en-CA" dirty="0"/>
              <a:t>}</a:t>
            </a:r>
          </a:p>
          <a:p>
            <a:endParaRPr lang="en-CA" dirty="0"/>
          </a:p>
          <a:p>
            <a:r>
              <a:rPr lang="en-CA" dirty="0"/>
              <a:t>// Using iterator to manually process elements</a:t>
            </a:r>
          </a:p>
          <a:p>
            <a:r>
              <a:rPr lang="en-CA" dirty="0"/>
              <a:t>Iterator&lt;Integer&gt; iterator = </a:t>
            </a:r>
            <a:r>
              <a:rPr lang="en-CA" dirty="0" err="1"/>
              <a:t>Stream.of</a:t>
            </a:r>
            <a:r>
              <a:rPr lang="en-CA" dirty="0"/>
              <a:t>(1, 2, 3).iterator();</a:t>
            </a:r>
          </a:p>
          <a:p>
            <a:r>
              <a:rPr lang="en-CA" dirty="0" err="1"/>
              <a:t>iterator.forEachRemaining</a:t>
            </a:r>
            <a:r>
              <a:rPr lang="en-CA" dirty="0"/>
              <a:t>(</a:t>
            </a:r>
            <a:r>
              <a:rPr lang="en-CA" dirty="0" err="1"/>
              <a:t>System.out</a:t>
            </a:r>
            <a:r>
              <a:rPr lang="en-CA" dirty="0"/>
              <a:t>::</a:t>
            </a:r>
            <a:r>
              <a:rPr lang="en-CA" dirty="0" err="1"/>
              <a:t>println</a:t>
            </a:r>
            <a:r>
              <a:rPr lang="en-CA" dirty="0"/>
              <a:t>);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29EFE3-5717-C7A6-79E0-6F05429A9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Lesson 9: Streaming</a:t>
            </a:r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64D7D2-9B6E-9408-DB0E-E8FCF45D0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57D78-6BD8-4B20-85EE-78057F342A6D}" type="slidenum">
              <a:rPr lang="en-CA" smtClean="0"/>
              <a:t>29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7753336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D0DD28-BD74-FAF0-3D7D-37DEE0E489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Iterate through a text file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FEA1DE-4E74-4602-1BB7-97CB1C711E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1014817" cy="4351338"/>
          </a:xfrm>
        </p:spPr>
        <p:txBody>
          <a:bodyPr/>
          <a:lstStyle/>
          <a:p>
            <a:r>
              <a:rPr lang="en-US" dirty="0"/>
              <a:t>List&lt;String&gt; countries = </a:t>
            </a:r>
            <a:r>
              <a:rPr lang="en-US" dirty="0" err="1"/>
              <a:t>Files.readAllLines</a:t>
            </a:r>
            <a:r>
              <a:rPr lang="en-US" dirty="0"/>
              <a:t>(</a:t>
            </a:r>
            <a:r>
              <a:rPr lang="en-US" dirty="0" err="1"/>
              <a:t>Paths.get</a:t>
            </a:r>
            <a:r>
              <a:rPr lang="en-US" dirty="0"/>
              <a:t>("countries.txt"));</a:t>
            </a:r>
          </a:p>
          <a:p>
            <a:r>
              <a:rPr lang="en-US" dirty="0" err="1"/>
              <a:t>countries.stream</a:t>
            </a:r>
            <a:r>
              <a:rPr lang="en-US" dirty="0"/>
              <a:t>().iterator().</a:t>
            </a:r>
            <a:r>
              <a:rPr lang="en-US" dirty="0" err="1"/>
              <a:t>forEachRemaining</a:t>
            </a:r>
            <a:r>
              <a:rPr lang="en-US" dirty="0"/>
              <a:t>(</a:t>
            </a:r>
            <a:r>
              <a:rPr lang="en-US" dirty="0" err="1"/>
              <a:t>System.out</a:t>
            </a:r>
            <a:r>
              <a:rPr lang="en-US" dirty="0"/>
              <a:t>::</a:t>
            </a:r>
            <a:r>
              <a:rPr lang="en-US" dirty="0" err="1"/>
              <a:t>println</a:t>
            </a:r>
            <a:r>
              <a:rPr lang="en-US" dirty="0"/>
              <a:t>);</a:t>
            </a:r>
            <a:endParaRPr lang="en-CA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C2209C-8B8C-5D40-0E51-F20CB7DE11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Lesson 9: Streaming</a:t>
            </a:r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1B9851-8867-81FF-8507-EFFB0BEC0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57D78-6BD8-4B20-85EE-78057F342A6D}" type="slidenum">
              <a:rPr lang="en-CA" smtClean="0"/>
              <a:t>30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1344100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CF4779-EA16-1DFC-1651-61C63D6A15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Intermediate Operations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D7FD69-D3DD-FF3A-DAF0-D0DAC345CE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Now that we know all the possible ways a stream can </a:t>
            </a:r>
            <a:r>
              <a:rPr lang="en-US" u="sng" dirty="0"/>
              <a:t>terminate</a:t>
            </a:r>
            <a:r>
              <a:rPr lang="en-US" dirty="0"/>
              <a:t>, let's look at how the streams can first be processed</a:t>
            </a:r>
          </a:p>
          <a:p>
            <a:r>
              <a:rPr lang="en-US" dirty="0"/>
              <a:t>In Java's Stream API, intermediate operations (like those we are about to study) are </a:t>
            </a:r>
            <a:r>
              <a:rPr lang="en-US" u="sng" dirty="0"/>
              <a:t>lazy</a:t>
            </a:r>
            <a:r>
              <a:rPr lang="en-US" dirty="0"/>
              <a:t>, meaning they don’t process data immediately; instead, they set up a pipeline that is </a:t>
            </a:r>
            <a:r>
              <a:rPr lang="en-US" u="sng" dirty="0"/>
              <a:t>activated only when a terminal operation is called</a:t>
            </a:r>
          </a:p>
          <a:p>
            <a:r>
              <a:rPr lang="en-US" dirty="0"/>
              <a:t>Terminal operations trigger the entire pipeline, producing a final result or side effect and consuming the stream</a:t>
            </a:r>
            <a:endParaRPr lang="en-CA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49F9FE-69FA-E499-2A7E-5C1F99FAB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Lesson 9: Streaming</a:t>
            </a:r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E606DC-EC24-F211-D80C-AEB4A9B5F7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57D78-6BD8-4B20-85EE-78057F342A6D}" type="slidenum">
              <a:rPr lang="en-CA" smtClean="0"/>
              <a:t>31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4877364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EA2FD-EAC9-6821-5B09-6BA6AC0E0A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filter(Predicate&lt;T&gt; predicate)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531BC1-595F-03A4-AB3F-D2BC76DF86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1729" y="1825625"/>
            <a:ext cx="11383860" cy="4351338"/>
          </a:xfrm>
        </p:spPr>
        <p:txBody>
          <a:bodyPr>
            <a:normAutofit lnSpcReduction="10000"/>
          </a:bodyPr>
          <a:lstStyle/>
          <a:p>
            <a:r>
              <a:rPr lang="en-CA" dirty="0"/>
              <a:t>Filters elements in the stream based on a given condition, </a:t>
            </a:r>
            <a:r>
              <a:rPr lang="en-CA" b="1" dirty="0"/>
              <a:t>keeping</a:t>
            </a:r>
            <a:r>
              <a:rPr lang="en-CA" dirty="0"/>
              <a:t> only those that match the condition</a:t>
            </a:r>
          </a:p>
          <a:p>
            <a:r>
              <a:rPr lang="en-CA" dirty="0"/>
              <a:t>// Filtering even numbers: 2, 4</a:t>
            </a:r>
          </a:p>
          <a:p>
            <a:r>
              <a:rPr lang="en-CA" dirty="0" err="1"/>
              <a:t>Stream.of</a:t>
            </a:r>
            <a:r>
              <a:rPr lang="en-CA" dirty="0"/>
              <a:t>(1, 2, 3, 4).filter(n -&gt; n % 2 == 0).</a:t>
            </a:r>
            <a:r>
              <a:rPr lang="en-CA" dirty="0" err="1"/>
              <a:t>forEach</a:t>
            </a:r>
            <a:r>
              <a:rPr lang="en-CA" dirty="0"/>
              <a:t>(</a:t>
            </a:r>
            <a:r>
              <a:rPr lang="en-CA" dirty="0" err="1"/>
              <a:t>System.out</a:t>
            </a:r>
            <a:r>
              <a:rPr lang="en-CA" dirty="0"/>
              <a:t>::</a:t>
            </a:r>
            <a:r>
              <a:rPr lang="en-CA" dirty="0" err="1"/>
              <a:t>println</a:t>
            </a:r>
            <a:r>
              <a:rPr lang="en-CA" dirty="0"/>
              <a:t>); </a:t>
            </a:r>
          </a:p>
          <a:p>
            <a:endParaRPr lang="en-CA" dirty="0"/>
          </a:p>
          <a:p>
            <a:r>
              <a:rPr lang="en-CA" dirty="0"/>
              <a:t>// Filtering (i.e. keeping) strings with more than 3 letters: apple, banana</a:t>
            </a:r>
          </a:p>
          <a:p>
            <a:r>
              <a:rPr lang="en-CA" dirty="0" err="1"/>
              <a:t>Stream.of</a:t>
            </a:r>
            <a:r>
              <a:rPr lang="en-CA" dirty="0"/>
              <a:t>("apple", "pie", "banana")</a:t>
            </a:r>
          </a:p>
          <a:p>
            <a:r>
              <a:rPr lang="en-CA" dirty="0"/>
              <a:t>.filter(s -&gt; </a:t>
            </a:r>
            <a:r>
              <a:rPr lang="en-CA" dirty="0" err="1"/>
              <a:t>s.length</a:t>
            </a:r>
            <a:r>
              <a:rPr lang="en-CA" dirty="0"/>
              <a:t>() &gt; 3)</a:t>
            </a:r>
          </a:p>
          <a:p>
            <a:r>
              <a:rPr lang="en-CA" dirty="0"/>
              <a:t>.</a:t>
            </a:r>
            <a:r>
              <a:rPr lang="en-CA" dirty="0" err="1"/>
              <a:t>forEach</a:t>
            </a:r>
            <a:r>
              <a:rPr lang="en-CA" dirty="0"/>
              <a:t>(</a:t>
            </a:r>
            <a:r>
              <a:rPr lang="en-CA" dirty="0" err="1"/>
              <a:t>System.out</a:t>
            </a:r>
            <a:r>
              <a:rPr lang="en-CA" dirty="0"/>
              <a:t>::</a:t>
            </a:r>
            <a:r>
              <a:rPr lang="en-CA" dirty="0" err="1"/>
              <a:t>println</a:t>
            </a:r>
            <a:r>
              <a:rPr lang="en-CA" dirty="0"/>
              <a:t>);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7814E9-66DA-6B41-527F-AEEFF8D560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Lesson 9: Streaming</a:t>
            </a:r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03DDA0-B21A-77BF-F78D-B14BA1BBE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57D78-6BD8-4B20-85EE-78057F342A6D}" type="slidenum">
              <a:rPr lang="en-CA" smtClean="0"/>
              <a:t>32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8331063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7EB090-6AF9-D07A-03F4-D269F7253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map(Function&lt;T, R&gt; mapper)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BFE71E-B242-FA6D-8B33-B3AC5DF687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671" y="1825625"/>
            <a:ext cx="11459360" cy="4351338"/>
          </a:xfrm>
        </p:spPr>
        <p:txBody>
          <a:bodyPr>
            <a:normAutofit fontScale="92500" lnSpcReduction="20000"/>
          </a:bodyPr>
          <a:lstStyle/>
          <a:p>
            <a:r>
              <a:rPr lang="en-CA" sz="2200" dirty="0"/>
              <a:t>Transforms each element in the stream by applying a function, changing it into another form</a:t>
            </a:r>
          </a:p>
          <a:p>
            <a:endParaRPr lang="en-CA" sz="2200" dirty="0"/>
          </a:p>
          <a:p>
            <a:r>
              <a:rPr lang="en-CA" sz="2200" dirty="0"/>
              <a:t>// Converting numbers to their squares: 1, 4, 9</a:t>
            </a:r>
          </a:p>
          <a:p>
            <a:r>
              <a:rPr lang="en-CA" sz="2200" dirty="0" err="1"/>
              <a:t>Stream.of</a:t>
            </a:r>
            <a:r>
              <a:rPr lang="en-CA" sz="2200" dirty="0"/>
              <a:t>(1, 2, 3).map(n -&gt; n * n).</a:t>
            </a:r>
            <a:r>
              <a:rPr lang="en-CA" sz="2200" dirty="0" err="1"/>
              <a:t>forEach</a:t>
            </a:r>
            <a:r>
              <a:rPr lang="en-CA" sz="2200" dirty="0"/>
              <a:t>(</a:t>
            </a:r>
            <a:r>
              <a:rPr lang="en-CA" sz="2200" dirty="0" err="1"/>
              <a:t>System.out</a:t>
            </a:r>
            <a:r>
              <a:rPr lang="en-CA" sz="2200" dirty="0"/>
              <a:t>::</a:t>
            </a:r>
            <a:r>
              <a:rPr lang="en-CA" sz="2200" dirty="0" err="1"/>
              <a:t>println</a:t>
            </a:r>
            <a:r>
              <a:rPr lang="en-CA" sz="2200" dirty="0"/>
              <a:t>); // Output: 1, 4, 9</a:t>
            </a:r>
          </a:p>
          <a:p>
            <a:endParaRPr lang="en-CA" sz="2200" dirty="0"/>
          </a:p>
          <a:p>
            <a:r>
              <a:rPr lang="en-CA" sz="2200" dirty="0"/>
              <a:t>// Converting strings to uppercase: APPLE, BANANA</a:t>
            </a:r>
          </a:p>
          <a:p>
            <a:r>
              <a:rPr lang="en-CA" sz="2200" dirty="0" err="1"/>
              <a:t>Stream.of</a:t>
            </a:r>
            <a:r>
              <a:rPr lang="en-CA" sz="2200" dirty="0"/>
              <a:t>("apple", "banana").map(String::</a:t>
            </a:r>
            <a:r>
              <a:rPr lang="en-CA" sz="2200" dirty="0" err="1"/>
              <a:t>toUpperCase</a:t>
            </a:r>
            <a:r>
              <a:rPr lang="en-CA" sz="2200" dirty="0"/>
              <a:t>).</a:t>
            </a:r>
            <a:r>
              <a:rPr lang="en-CA" sz="2200" dirty="0" err="1"/>
              <a:t>forEach</a:t>
            </a:r>
            <a:r>
              <a:rPr lang="en-CA" sz="2200" dirty="0"/>
              <a:t>(</a:t>
            </a:r>
            <a:r>
              <a:rPr lang="en-CA" sz="2200" dirty="0" err="1"/>
              <a:t>System.out</a:t>
            </a:r>
            <a:r>
              <a:rPr lang="en-CA" sz="2200" dirty="0"/>
              <a:t>::</a:t>
            </a:r>
            <a:r>
              <a:rPr lang="en-CA" sz="2200" dirty="0" err="1"/>
              <a:t>println</a:t>
            </a:r>
            <a:r>
              <a:rPr lang="en-CA" sz="2200" dirty="0"/>
              <a:t>); </a:t>
            </a:r>
          </a:p>
          <a:p>
            <a:endParaRPr lang="en-CA" sz="2200" dirty="0"/>
          </a:p>
          <a:p>
            <a:r>
              <a:rPr lang="en-CA" sz="2200" dirty="0"/>
              <a:t>// Map each string to its first letter in uppercase: A, B, P, B</a:t>
            </a:r>
          </a:p>
          <a:p>
            <a:r>
              <a:rPr lang="en-CA" sz="2200" dirty="0" err="1"/>
              <a:t>Stream.of</a:t>
            </a:r>
            <a:r>
              <a:rPr lang="en-CA" sz="2200" dirty="0"/>
              <a:t>("apple", "banana", "peach", "blueberry")</a:t>
            </a:r>
          </a:p>
          <a:p>
            <a:r>
              <a:rPr lang="en-CA" sz="2200" dirty="0"/>
              <a:t>.map(word -&gt; </a:t>
            </a:r>
            <a:r>
              <a:rPr lang="en-CA" sz="2200" dirty="0" err="1"/>
              <a:t>word.substring</a:t>
            </a:r>
            <a:r>
              <a:rPr lang="en-CA" sz="2200" dirty="0"/>
              <a:t>(0, 1).</a:t>
            </a:r>
            <a:r>
              <a:rPr lang="en-CA" sz="2200" dirty="0" err="1"/>
              <a:t>toUpperCase</a:t>
            </a:r>
            <a:r>
              <a:rPr lang="en-CA" sz="2200" dirty="0"/>
              <a:t>())      </a:t>
            </a:r>
          </a:p>
          <a:p>
            <a:r>
              <a:rPr lang="en-CA" sz="2200" dirty="0"/>
              <a:t>.</a:t>
            </a:r>
            <a:r>
              <a:rPr lang="en-CA" sz="2200" dirty="0" err="1"/>
              <a:t>forEach</a:t>
            </a:r>
            <a:r>
              <a:rPr lang="en-CA" sz="2200" dirty="0"/>
              <a:t>(</a:t>
            </a:r>
            <a:r>
              <a:rPr lang="en-CA" sz="2200" dirty="0" err="1"/>
              <a:t>System.out</a:t>
            </a:r>
            <a:r>
              <a:rPr lang="en-CA" sz="2200" dirty="0"/>
              <a:t>::</a:t>
            </a:r>
            <a:r>
              <a:rPr lang="en-CA" sz="2200" dirty="0" err="1"/>
              <a:t>println</a:t>
            </a:r>
            <a:r>
              <a:rPr lang="en-CA" sz="2200" dirty="0"/>
              <a:t>);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78DA1E-029C-9313-EA1F-D354E1CAD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Lesson 9: Streaming</a:t>
            </a:r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F7D15F-48B6-CC24-CA26-2B856E2D7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57D78-6BD8-4B20-85EE-78057F342A6D}" type="slidenum">
              <a:rPr lang="en-CA" smtClean="0"/>
              <a:t>33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9276423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557042-7A21-8AAD-4A33-DCA570889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flatMap(Function&lt;T, Stream&lt;R&gt;&gt; mapper)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C0554E-E0C4-6A9F-BD1F-23899B934D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CA" dirty="0"/>
              <a:t>Maps each element to its own stream, then flattens the result into a single stream (i.e. combines all the streams)</a:t>
            </a:r>
          </a:p>
          <a:p>
            <a:endParaRPr lang="en-CA" dirty="0"/>
          </a:p>
          <a:p>
            <a:r>
              <a:rPr lang="en-CA" dirty="0"/>
              <a:t>// Splitting phrases into words: [he, , o </a:t>
            </a:r>
            <a:r>
              <a:rPr lang="en-CA" dirty="0" err="1"/>
              <a:t>wor</a:t>
            </a:r>
            <a:r>
              <a:rPr lang="en-CA" dirty="0"/>
              <a:t>, d, see you, </a:t>
            </a:r>
            <a:r>
              <a:rPr lang="en-CA" dirty="0" err="1"/>
              <a:t>ater</a:t>
            </a:r>
            <a:r>
              <a:rPr lang="en-CA" dirty="0"/>
              <a:t>]</a:t>
            </a:r>
          </a:p>
          <a:p>
            <a:r>
              <a:rPr lang="en-CA" dirty="0" err="1"/>
              <a:t>Stream.of</a:t>
            </a:r>
            <a:r>
              <a:rPr lang="en-CA" dirty="0"/>
              <a:t>("hello world", "see you later").</a:t>
            </a:r>
            <a:r>
              <a:rPr lang="en-CA" dirty="0" err="1"/>
              <a:t>flatMap</a:t>
            </a:r>
            <a:r>
              <a:rPr lang="en-CA" dirty="0"/>
              <a:t>(word -&gt; </a:t>
            </a:r>
            <a:r>
              <a:rPr lang="en-CA" dirty="0" err="1"/>
              <a:t>Stream.of</a:t>
            </a:r>
            <a:r>
              <a:rPr lang="en-CA" dirty="0"/>
              <a:t>(</a:t>
            </a:r>
            <a:r>
              <a:rPr lang="en-CA" dirty="0" err="1"/>
              <a:t>word.split</a:t>
            </a:r>
            <a:r>
              <a:rPr lang="en-CA" dirty="0"/>
              <a:t>("l"))).</a:t>
            </a:r>
            <a:r>
              <a:rPr lang="en-CA" dirty="0" err="1"/>
              <a:t>forEach</a:t>
            </a:r>
            <a:r>
              <a:rPr lang="en-CA" dirty="0"/>
              <a:t>(</a:t>
            </a:r>
            <a:r>
              <a:rPr lang="en-CA" dirty="0" err="1"/>
              <a:t>System.out</a:t>
            </a:r>
            <a:r>
              <a:rPr lang="en-CA" dirty="0"/>
              <a:t>::</a:t>
            </a:r>
            <a:r>
              <a:rPr lang="en-CA" dirty="0" err="1"/>
              <a:t>println</a:t>
            </a:r>
            <a:r>
              <a:rPr lang="en-CA" dirty="0"/>
              <a:t>); </a:t>
            </a:r>
          </a:p>
          <a:p>
            <a:endParaRPr lang="en-CA" dirty="0"/>
          </a:p>
          <a:p>
            <a:r>
              <a:rPr lang="en-CA" dirty="0"/>
              <a:t>// Flattening a list of lists: 1 2 3 4</a:t>
            </a:r>
          </a:p>
          <a:p>
            <a:r>
              <a:rPr lang="en-CA" dirty="0"/>
              <a:t>List&lt;List&lt;Integer&gt;&gt; </a:t>
            </a:r>
            <a:r>
              <a:rPr lang="en-CA" dirty="0" err="1"/>
              <a:t>listOfLists</a:t>
            </a:r>
            <a:r>
              <a:rPr lang="en-CA" dirty="0"/>
              <a:t> = </a:t>
            </a:r>
            <a:r>
              <a:rPr lang="en-CA" dirty="0" err="1"/>
              <a:t>List.of</a:t>
            </a:r>
            <a:r>
              <a:rPr lang="en-CA" dirty="0"/>
              <a:t>(</a:t>
            </a:r>
            <a:r>
              <a:rPr lang="en-CA" dirty="0" err="1"/>
              <a:t>List.of</a:t>
            </a:r>
            <a:r>
              <a:rPr lang="en-CA" dirty="0"/>
              <a:t>(1, 2), </a:t>
            </a:r>
            <a:r>
              <a:rPr lang="en-CA" dirty="0" err="1"/>
              <a:t>List.of</a:t>
            </a:r>
            <a:r>
              <a:rPr lang="en-CA" dirty="0"/>
              <a:t>(3, 4));</a:t>
            </a:r>
          </a:p>
          <a:p>
            <a:r>
              <a:rPr lang="en-CA" dirty="0" err="1"/>
              <a:t>listOfLists.stream</a:t>
            </a:r>
            <a:r>
              <a:rPr lang="en-CA" dirty="0"/>
              <a:t>().</a:t>
            </a:r>
            <a:r>
              <a:rPr lang="en-CA" dirty="0" err="1"/>
              <a:t>flatMap</a:t>
            </a:r>
            <a:r>
              <a:rPr lang="en-CA" dirty="0"/>
              <a:t>(List::stream).</a:t>
            </a:r>
            <a:r>
              <a:rPr lang="en-CA" dirty="0" err="1"/>
              <a:t>forEach</a:t>
            </a:r>
            <a:r>
              <a:rPr lang="en-CA" dirty="0"/>
              <a:t>(</a:t>
            </a:r>
            <a:r>
              <a:rPr lang="en-CA" dirty="0" err="1"/>
              <a:t>System.out</a:t>
            </a:r>
            <a:r>
              <a:rPr lang="en-CA" dirty="0"/>
              <a:t>::</a:t>
            </a:r>
            <a:r>
              <a:rPr lang="en-CA" dirty="0" err="1"/>
              <a:t>println</a:t>
            </a:r>
            <a:r>
              <a:rPr lang="en-CA" dirty="0"/>
              <a:t>);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1FB436-5324-EEC6-DDE5-D0E1EA6B7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Lesson 9: Streaming</a:t>
            </a:r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2C8BAC-6A2E-0D22-3283-020747CB5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57D78-6BD8-4B20-85EE-78057F342A6D}" type="slidenum">
              <a:rPr lang="en-CA" smtClean="0"/>
              <a:t>34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3286740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EEE008-F0F8-D433-06F6-A70CE6E9B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distinct()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73D8AA-1DD8-D99F-A8EF-3236A9BB9D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473" y="1825625"/>
            <a:ext cx="11408635" cy="4351338"/>
          </a:xfrm>
        </p:spPr>
        <p:txBody>
          <a:bodyPr>
            <a:normAutofit/>
          </a:bodyPr>
          <a:lstStyle/>
          <a:p>
            <a:r>
              <a:rPr lang="en-US" sz="2400" dirty="0"/>
              <a:t>Removes duplicate elements from the stream</a:t>
            </a:r>
          </a:p>
          <a:p>
            <a:endParaRPr lang="en-CA" sz="2400" dirty="0"/>
          </a:p>
          <a:p>
            <a:r>
              <a:rPr lang="en-CA" sz="2400" dirty="0"/>
              <a:t>// Removing duplicate numbers: 1,2,3</a:t>
            </a:r>
          </a:p>
          <a:p>
            <a:r>
              <a:rPr lang="en-CA" sz="2400" dirty="0" err="1"/>
              <a:t>Stream.of</a:t>
            </a:r>
            <a:r>
              <a:rPr lang="en-CA" sz="2400" dirty="0"/>
              <a:t>(1, 2, 2, 3, 3).distinct().</a:t>
            </a:r>
            <a:r>
              <a:rPr lang="en-CA" sz="2400" dirty="0" err="1"/>
              <a:t>forEach</a:t>
            </a:r>
            <a:r>
              <a:rPr lang="en-CA" sz="2400" dirty="0"/>
              <a:t>(</a:t>
            </a:r>
            <a:r>
              <a:rPr lang="en-CA" sz="2400" dirty="0" err="1"/>
              <a:t>System.out</a:t>
            </a:r>
            <a:r>
              <a:rPr lang="en-CA" sz="2400" dirty="0"/>
              <a:t>::</a:t>
            </a:r>
            <a:r>
              <a:rPr lang="en-CA" sz="2400" dirty="0" err="1"/>
              <a:t>println</a:t>
            </a:r>
            <a:r>
              <a:rPr lang="en-CA" sz="2400" dirty="0"/>
              <a:t>);</a:t>
            </a:r>
          </a:p>
          <a:p>
            <a:endParaRPr lang="en-CA" sz="2400" dirty="0"/>
          </a:p>
          <a:p>
            <a:r>
              <a:rPr lang="en-CA" sz="2400" dirty="0"/>
              <a:t>// Removing duplicate words: apple, banana</a:t>
            </a:r>
          </a:p>
          <a:p>
            <a:r>
              <a:rPr lang="en-CA" sz="2400" dirty="0" err="1"/>
              <a:t>Stream.of</a:t>
            </a:r>
            <a:r>
              <a:rPr lang="en-CA" sz="2400" dirty="0"/>
              <a:t>("apple", "banana", "apple").distinct().</a:t>
            </a:r>
            <a:r>
              <a:rPr lang="en-CA" sz="2400" dirty="0" err="1"/>
              <a:t>forEach</a:t>
            </a:r>
            <a:r>
              <a:rPr lang="en-CA" sz="2400" dirty="0"/>
              <a:t>(</a:t>
            </a:r>
            <a:r>
              <a:rPr lang="en-CA" sz="2400" dirty="0" err="1"/>
              <a:t>System.out</a:t>
            </a:r>
            <a:r>
              <a:rPr lang="en-CA" sz="2400" dirty="0"/>
              <a:t>::</a:t>
            </a:r>
            <a:r>
              <a:rPr lang="en-CA" sz="2400" dirty="0" err="1"/>
              <a:t>println</a:t>
            </a:r>
            <a:r>
              <a:rPr lang="en-CA" sz="2400" dirty="0"/>
              <a:t>);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AB456D-7526-9F60-B610-E87E14EBF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Lesson 9: Streaming</a:t>
            </a:r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9EBEDB-BD94-4545-163D-91533D29F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57D78-6BD8-4B20-85EE-78057F342A6D}" type="slidenum">
              <a:rPr lang="en-CA" smtClean="0"/>
              <a:t>35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2486986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B376C-9AF1-EFC0-928A-44CDA4EC8B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sorted()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8C65C3-2FBC-0EB6-3867-50AEE8CF54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A" sz="2400" dirty="0"/>
              <a:t>Sorts elements in their natural order (i.e. ascending numerical order, alphabetical order, or as stated by the </a:t>
            </a:r>
            <a:r>
              <a:rPr lang="en-CA" sz="2400" dirty="0" err="1"/>
              <a:t>Comparable's</a:t>
            </a:r>
            <a:r>
              <a:rPr lang="en-CA" sz="2400" dirty="0"/>
              <a:t> </a:t>
            </a:r>
            <a:r>
              <a:rPr lang="en-CA" sz="2400" dirty="0" err="1"/>
              <a:t>compareTo</a:t>
            </a:r>
            <a:r>
              <a:rPr lang="en-CA" sz="2400" dirty="0"/>
              <a:t>() implementation)</a:t>
            </a:r>
          </a:p>
          <a:p>
            <a:endParaRPr lang="en-CA" sz="2400" dirty="0"/>
          </a:p>
          <a:p>
            <a:r>
              <a:rPr lang="en-CA" sz="2400" dirty="0"/>
              <a:t>// Sorting numbers in ascending order: 1, 2, 3, 4</a:t>
            </a:r>
          </a:p>
          <a:p>
            <a:r>
              <a:rPr lang="en-CA" sz="2400" dirty="0" err="1"/>
              <a:t>Stream.of</a:t>
            </a:r>
            <a:r>
              <a:rPr lang="en-CA" sz="2400" dirty="0"/>
              <a:t>(3, 1, 4, 2).sorted().</a:t>
            </a:r>
            <a:r>
              <a:rPr lang="en-CA" sz="2400" dirty="0" err="1"/>
              <a:t>forEach</a:t>
            </a:r>
            <a:r>
              <a:rPr lang="en-CA" sz="2400" dirty="0"/>
              <a:t>(</a:t>
            </a:r>
            <a:r>
              <a:rPr lang="en-CA" sz="2400" dirty="0" err="1"/>
              <a:t>System.out</a:t>
            </a:r>
            <a:r>
              <a:rPr lang="en-CA" sz="2400" dirty="0"/>
              <a:t>::</a:t>
            </a:r>
            <a:r>
              <a:rPr lang="en-CA" sz="2400" dirty="0" err="1"/>
              <a:t>println</a:t>
            </a:r>
            <a:r>
              <a:rPr lang="en-CA" sz="2400" dirty="0"/>
              <a:t>); </a:t>
            </a:r>
          </a:p>
          <a:p>
            <a:endParaRPr lang="en-CA" sz="2400" dirty="0"/>
          </a:p>
          <a:p>
            <a:r>
              <a:rPr lang="en-CA" sz="2400" dirty="0"/>
              <a:t>// Sorting strings alphabetically: apple, banana, cherry</a:t>
            </a:r>
          </a:p>
          <a:p>
            <a:r>
              <a:rPr lang="en-CA" sz="2400" dirty="0" err="1"/>
              <a:t>Stream.of</a:t>
            </a:r>
            <a:r>
              <a:rPr lang="en-CA" sz="2400" dirty="0"/>
              <a:t>("banana", "apple", "cherry").sorted().</a:t>
            </a:r>
            <a:r>
              <a:rPr lang="en-CA" sz="2400" dirty="0" err="1"/>
              <a:t>forEach</a:t>
            </a:r>
            <a:r>
              <a:rPr lang="en-CA" sz="2400" dirty="0"/>
              <a:t>(</a:t>
            </a:r>
            <a:r>
              <a:rPr lang="en-CA" sz="2400" dirty="0" err="1"/>
              <a:t>System.out</a:t>
            </a:r>
            <a:r>
              <a:rPr lang="en-CA" sz="2400" dirty="0"/>
              <a:t>::</a:t>
            </a:r>
            <a:r>
              <a:rPr lang="en-CA" sz="2400" dirty="0" err="1"/>
              <a:t>println</a:t>
            </a:r>
            <a:r>
              <a:rPr lang="en-CA" sz="2400" dirty="0"/>
              <a:t>);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7DC01C-DC84-2A3D-106C-5BEFCFDDE0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Lesson 9: Streaming</a:t>
            </a:r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EDD01D-E4FC-CB29-AE90-6632F427F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57D78-6BD8-4B20-85EE-78057F342A6D}" type="slidenum">
              <a:rPr lang="en-CA" smtClean="0"/>
              <a:t>36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3994438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C1E587-826E-7E59-98BF-DDE0B3DA3E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sorted(Comparator&lt;? super T&gt; comparator)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5E8E0D-ABA6-592D-B818-2601FE8C6B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CA" dirty="0"/>
              <a:t>Sorts elements using a custom comparator</a:t>
            </a:r>
          </a:p>
          <a:p>
            <a:endParaRPr lang="en-CA" dirty="0"/>
          </a:p>
          <a:p>
            <a:r>
              <a:rPr lang="en-CA" dirty="0"/>
              <a:t>// Sorting numbers in </a:t>
            </a:r>
            <a:r>
              <a:rPr lang="en-CA" u="sng" dirty="0"/>
              <a:t>descending</a:t>
            </a:r>
            <a:r>
              <a:rPr lang="en-CA" dirty="0"/>
              <a:t> order: 4, 3, 2, 1</a:t>
            </a:r>
          </a:p>
          <a:p>
            <a:r>
              <a:rPr lang="en-CA" dirty="0" err="1"/>
              <a:t>Stream.of</a:t>
            </a:r>
            <a:r>
              <a:rPr lang="en-CA" dirty="0"/>
              <a:t>(3, 1, 4, 2).sorted(</a:t>
            </a:r>
            <a:r>
              <a:rPr lang="en-CA" dirty="0" err="1"/>
              <a:t>Comparator.reverseOrder</a:t>
            </a:r>
            <a:r>
              <a:rPr lang="en-CA" dirty="0"/>
              <a:t>()).</a:t>
            </a:r>
            <a:r>
              <a:rPr lang="en-CA" dirty="0" err="1"/>
              <a:t>forEach</a:t>
            </a:r>
            <a:r>
              <a:rPr lang="en-CA" dirty="0"/>
              <a:t>(</a:t>
            </a:r>
            <a:r>
              <a:rPr lang="en-CA" dirty="0" err="1"/>
              <a:t>System.out</a:t>
            </a:r>
            <a:r>
              <a:rPr lang="en-CA" dirty="0"/>
              <a:t>::</a:t>
            </a:r>
            <a:r>
              <a:rPr lang="en-CA" dirty="0" err="1"/>
              <a:t>println</a:t>
            </a:r>
            <a:r>
              <a:rPr lang="en-CA" dirty="0"/>
              <a:t>); </a:t>
            </a:r>
          </a:p>
          <a:p>
            <a:endParaRPr lang="en-CA" dirty="0"/>
          </a:p>
          <a:p>
            <a:r>
              <a:rPr lang="en-CA" dirty="0"/>
              <a:t>// Sorting strings by </a:t>
            </a:r>
            <a:r>
              <a:rPr lang="en-CA" u="sng" dirty="0"/>
              <a:t>length</a:t>
            </a:r>
            <a:r>
              <a:rPr lang="en-CA" dirty="0"/>
              <a:t>: pie, apple, banana</a:t>
            </a:r>
          </a:p>
          <a:p>
            <a:r>
              <a:rPr lang="en-CA" dirty="0" err="1"/>
              <a:t>Stream.of</a:t>
            </a:r>
            <a:r>
              <a:rPr lang="en-CA" dirty="0"/>
              <a:t>("apple", "banana", "pie")</a:t>
            </a:r>
          </a:p>
          <a:p>
            <a:pPr marL="0" indent="0">
              <a:buNone/>
            </a:pPr>
            <a:r>
              <a:rPr lang="en-CA" dirty="0"/>
              <a:t>	.sorted(</a:t>
            </a:r>
            <a:r>
              <a:rPr lang="en-CA" dirty="0" err="1"/>
              <a:t>Comparator.comparingInt</a:t>
            </a:r>
            <a:r>
              <a:rPr lang="en-CA" dirty="0"/>
              <a:t>(String::length)).</a:t>
            </a:r>
            <a:r>
              <a:rPr lang="en-CA" dirty="0" err="1"/>
              <a:t>forEach</a:t>
            </a:r>
            <a:r>
              <a:rPr lang="en-CA" dirty="0"/>
              <a:t>(</a:t>
            </a:r>
            <a:r>
              <a:rPr lang="en-CA" dirty="0" err="1"/>
              <a:t>System.out</a:t>
            </a:r>
            <a:r>
              <a:rPr lang="en-CA" dirty="0"/>
              <a:t>::</a:t>
            </a:r>
            <a:r>
              <a:rPr lang="en-CA" dirty="0" err="1"/>
              <a:t>println</a:t>
            </a:r>
            <a:r>
              <a:rPr lang="en-CA" dirty="0"/>
              <a:t>); </a:t>
            </a:r>
          </a:p>
          <a:p>
            <a:endParaRPr lang="en-CA" dirty="0"/>
          </a:p>
          <a:p>
            <a:r>
              <a:rPr lang="en-CA" dirty="0"/>
              <a:t>// Sorting strings by </a:t>
            </a:r>
            <a:r>
              <a:rPr lang="en-CA" u="sng" dirty="0"/>
              <a:t>length</a:t>
            </a:r>
            <a:r>
              <a:rPr lang="en-CA" dirty="0"/>
              <a:t>, descending order: banana, apple, pie</a:t>
            </a:r>
          </a:p>
          <a:p>
            <a:r>
              <a:rPr lang="en-CA" dirty="0" err="1"/>
              <a:t>Stream.of</a:t>
            </a:r>
            <a:r>
              <a:rPr lang="en-CA" dirty="0"/>
              <a:t>("apple", "banana", "pie")</a:t>
            </a:r>
          </a:p>
          <a:p>
            <a:r>
              <a:rPr lang="en-CA" dirty="0"/>
              <a:t>      .sorted(</a:t>
            </a:r>
            <a:r>
              <a:rPr lang="en-CA" dirty="0" err="1"/>
              <a:t>Comparator.comparingInt</a:t>
            </a:r>
            <a:r>
              <a:rPr lang="en-CA" dirty="0"/>
              <a:t>(String::length)</a:t>
            </a:r>
            <a:r>
              <a:rPr lang="en-CA" b="1" dirty="0"/>
              <a:t>.reversed()</a:t>
            </a:r>
            <a:r>
              <a:rPr lang="en-CA" dirty="0"/>
              <a:t>)</a:t>
            </a:r>
          </a:p>
          <a:p>
            <a:r>
              <a:rPr lang="en-CA" dirty="0"/>
              <a:t>      .</a:t>
            </a:r>
            <a:r>
              <a:rPr lang="en-CA" dirty="0" err="1"/>
              <a:t>forEach</a:t>
            </a:r>
            <a:r>
              <a:rPr lang="en-CA" dirty="0"/>
              <a:t>(</a:t>
            </a:r>
            <a:r>
              <a:rPr lang="en-CA" dirty="0" err="1"/>
              <a:t>System.out</a:t>
            </a:r>
            <a:r>
              <a:rPr lang="en-CA" dirty="0"/>
              <a:t>::</a:t>
            </a:r>
            <a:r>
              <a:rPr lang="en-CA" dirty="0" err="1"/>
              <a:t>println</a:t>
            </a:r>
            <a:r>
              <a:rPr lang="en-CA" dirty="0"/>
              <a:t>);</a:t>
            </a:r>
          </a:p>
          <a:p>
            <a:pPr marL="0" indent="0">
              <a:buNone/>
            </a:pPr>
            <a:endParaRPr lang="en-CA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5719A7-CDC3-9846-71B8-A91C6C99EC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Lesson 9: Streaming</a:t>
            </a:r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EB6702-D517-8CCD-B7D2-AA9A591D3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57D78-6BD8-4B20-85EE-78057F342A6D}" type="slidenum">
              <a:rPr lang="en-CA" smtClean="0"/>
              <a:t>37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0201199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1C27B-48B7-7196-FA2C-1418DF8D8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limit(long maxSize)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A842F9-BEE0-CA3B-45A4-EB24F113B5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CA" dirty="0"/>
              <a:t>Limits the stream to a given number of elements</a:t>
            </a:r>
          </a:p>
          <a:p>
            <a:endParaRPr lang="en-CA" dirty="0"/>
          </a:p>
          <a:p>
            <a:r>
              <a:rPr lang="en-CA" dirty="0"/>
              <a:t>// Limiting to the first 2 numbers: 1, 2</a:t>
            </a:r>
          </a:p>
          <a:p>
            <a:r>
              <a:rPr lang="en-CA" dirty="0" err="1"/>
              <a:t>Stream.of</a:t>
            </a:r>
            <a:r>
              <a:rPr lang="en-CA" dirty="0"/>
              <a:t>(1, 2, 3, 4).limit(2).</a:t>
            </a:r>
            <a:r>
              <a:rPr lang="en-CA" dirty="0" err="1"/>
              <a:t>forEach</a:t>
            </a:r>
            <a:r>
              <a:rPr lang="en-CA" dirty="0"/>
              <a:t>(</a:t>
            </a:r>
            <a:r>
              <a:rPr lang="en-CA" dirty="0" err="1"/>
              <a:t>System.out</a:t>
            </a:r>
            <a:r>
              <a:rPr lang="en-CA" dirty="0"/>
              <a:t>::</a:t>
            </a:r>
            <a:r>
              <a:rPr lang="en-CA" dirty="0" err="1"/>
              <a:t>println</a:t>
            </a:r>
            <a:r>
              <a:rPr lang="en-CA" dirty="0"/>
              <a:t>); </a:t>
            </a:r>
          </a:p>
          <a:p>
            <a:endParaRPr lang="en-CA" dirty="0"/>
          </a:p>
          <a:p>
            <a:r>
              <a:rPr lang="en-CA" dirty="0"/>
              <a:t>// Limiting to the first 3 strings: apple, banana, cherry</a:t>
            </a:r>
          </a:p>
          <a:p>
            <a:r>
              <a:rPr lang="en-CA" dirty="0" err="1"/>
              <a:t>Stream.of</a:t>
            </a:r>
            <a:r>
              <a:rPr lang="en-CA" dirty="0"/>
              <a:t>("apple", "banana", "cherry", "date").limit(3).</a:t>
            </a:r>
            <a:r>
              <a:rPr lang="en-CA" dirty="0" err="1"/>
              <a:t>forEach</a:t>
            </a:r>
            <a:r>
              <a:rPr lang="en-CA" dirty="0"/>
              <a:t>(</a:t>
            </a:r>
            <a:r>
              <a:rPr lang="en-CA" dirty="0" err="1"/>
              <a:t>System.out</a:t>
            </a:r>
            <a:r>
              <a:rPr lang="en-CA" dirty="0"/>
              <a:t>::</a:t>
            </a:r>
            <a:r>
              <a:rPr lang="en-CA" dirty="0" err="1"/>
              <a:t>println</a:t>
            </a:r>
            <a:r>
              <a:rPr lang="en-CA" dirty="0"/>
              <a:t>); </a:t>
            </a:r>
          </a:p>
          <a:p>
            <a:endParaRPr lang="en-CA" dirty="0"/>
          </a:p>
          <a:p>
            <a:r>
              <a:rPr lang="en-CA" dirty="0"/>
              <a:t>// Limit to "half the size of the stream"; </a:t>
            </a:r>
            <a:r>
              <a:rPr lang="en-CA" b="1" dirty="0"/>
              <a:t>note that we cannot directly count the stream elements without consuming them</a:t>
            </a:r>
            <a:r>
              <a:rPr lang="en-CA" dirty="0"/>
              <a:t>!</a:t>
            </a:r>
          </a:p>
          <a:p>
            <a:r>
              <a:rPr lang="en-CA" dirty="0"/>
              <a:t>List&lt;Integer&gt; numbers = </a:t>
            </a:r>
            <a:r>
              <a:rPr lang="en-CA" dirty="0" err="1"/>
              <a:t>List.of</a:t>
            </a:r>
            <a:r>
              <a:rPr lang="en-CA" dirty="0"/>
              <a:t>(1, 2, 3, 4); </a:t>
            </a:r>
          </a:p>
          <a:p>
            <a:r>
              <a:rPr lang="en-CA" dirty="0"/>
              <a:t>int </a:t>
            </a:r>
            <a:r>
              <a:rPr lang="en-CA" dirty="0" err="1"/>
              <a:t>halfSize</a:t>
            </a:r>
            <a:r>
              <a:rPr lang="en-CA" dirty="0"/>
              <a:t> = </a:t>
            </a:r>
            <a:r>
              <a:rPr lang="en-CA" dirty="0" err="1"/>
              <a:t>numbers.size</a:t>
            </a:r>
            <a:r>
              <a:rPr lang="en-CA" dirty="0"/>
              <a:t>() / 2; </a:t>
            </a:r>
          </a:p>
          <a:p>
            <a:r>
              <a:rPr lang="en-CA" dirty="0" err="1"/>
              <a:t>numbers.stream</a:t>
            </a:r>
            <a:r>
              <a:rPr lang="en-CA" dirty="0"/>
              <a:t>() .limit(</a:t>
            </a:r>
            <a:r>
              <a:rPr lang="en-CA" dirty="0" err="1"/>
              <a:t>halfSize</a:t>
            </a:r>
            <a:r>
              <a:rPr lang="en-CA" dirty="0"/>
              <a:t>) .</a:t>
            </a:r>
            <a:r>
              <a:rPr lang="en-CA" dirty="0" err="1"/>
              <a:t>forEach</a:t>
            </a:r>
            <a:r>
              <a:rPr lang="en-CA" dirty="0"/>
              <a:t>(</a:t>
            </a:r>
            <a:r>
              <a:rPr lang="en-CA" dirty="0" err="1"/>
              <a:t>System.out</a:t>
            </a:r>
            <a:r>
              <a:rPr lang="en-CA" dirty="0"/>
              <a:t>::</a:t>
            </a:r>
            <a:r>
              <a:rPr lang="en-CA" dirty="0" err="1"/>
              <a:t>println</a:t>
            </a:r>
            <a:r>
              <a:rPr lang="en-CA" dirty="0"/>
              <a:t>);</a:t>
            </a:r>
          </a:p>
          <a:p>
            <a:endParaRPr lang="en-CA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AA6683-84F6-CCB6-A853-BF2D9AAA6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Lesson 9: Streaming</a:t>
            </a:r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5B76B5-46FE-FCA3-2045-83488DD25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57D78-6BD8-4B20-85EE-78057F342A6D}" type="slidenum">
              <a:rPr lang="en-CA" smtClean="0"/>
              <a:t>38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0984309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F4616F-3B45-54BC-1304-344D9A126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skip(long n)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FFCDEF-35AA-7A65-A76A-3BFD62C781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9158" y="1825625"/>
            <a:ext cx="10015671" cy="4351338"/>
          </a:xfrm>
        </p:spPr>
        <p:txBody>
          <a:bodyPr>
            <a:normAutofit/>
          </a:bodyPr>
          <a:lstStyle/>
          <a:p>
            <a:r>
              <a:rPr lang="en-CA" dirty="0"/>
              <a:t>Skips the first n elements in the stream</a:t>
            </a:r>
          </a:p>
          <a:p>
            <a:endParaRPr lang="en-CA" dirty="0"/>
          </a:p>
          <a:p>
            <a:r>
              <a:rPr lang="en-CA" dirty="0"/>
              <a:t>// Skipping the first 2 numbers: 3, 4</a:t>
            </a:r>
          </a:p>
          <a:p>
            <a:r>
              <a:rPr lang="en-CA" dirty="0" err="1"/>
              <a:t>Stream.of</a:t>
            </a:r>
            <a:r>
              <a:rPr lang="en-CA" dirty="0"/>
              <a:t>(1, 2, 3, 4).skip(2).</a:t>
            </a:r>
            <a:r>
              <a:rPr lang="en-CA" dirty="0" err="1"/>
              <a:t>forEach</a:t>
            </a:r>
            <a:r>
              <a:rPr lang="en-CA" dirty="0"/>
              <a:t>(</a:t>
            </a:r>
            <a:r>
              <a:rPr lang="en-CA" dirty="0" err="1"/>
              <a:t>System.out</a:t>
            </a:r>
            <a:r>
              <a:rPr lang="en-CA" dirty="0"/>
              <a:t>::</a:t>
            </a:r>
            <a:r>
              <a:rPr lang="en-CA" dirty="0" err="1"/>
              <a:t>println</a:t>
            </a:r>
            <a:r>
              <a:rPr lang="en-CA" dirty="0"/>
              <a:t>); </a:t>
            </a:r>
          </a:p>
          <a:p>
            <a:endParaRPr lang="en-CA" dirty="0"/>
          </a:p>
          <a:p>
            <a:r>
              <a:rPr lang="en-CA" dirty="0"/>
              <a:t>// Skipping the first string: banana, cherry</a:t>
            </a:r>
          </a:p>
          <a:p>
            <a:r>
              <a:rPr lang="en-CA" dirty="0" err="1"/>
              <a:t>Stream.of</a:t>
            </a:r>
            <a:r>
              <a:rPr lang="en-CA" dirty="0"/>
              <a:t>("apple", "banana", "cherry")</a:t>
            </a:r>
          </a:p>
          <a:p>
            <a:pPr marL="0" indent="0">
              <a:buNone/>
            </a:pPr>
            <a:r>
              <a:rPr lang="en-CA" dirty="0"/>
              <a:t>  .skip(1).</a:t>
            </a:r>
            <a:r>
              <a:rPr lang="en-CA" dirty="0" err="1"/>
              <a:t>forEach</a:t>
            </a:r>
            <a:r>
              <a:rPr lang="en-CA" dirty="0"/>
              <a:t>(</a:t>
            </a:r>
            <a:r>
              <a:rPr lang="en-CA" dirty="0" err="1"/>
              <a:t>System.out</a:t>
            </a:r>
            <a:r>
              <a:rPr lang="en-CA" dirty="0"/>
              <a:t>::</a:t>
            </a:r>
            <a:r>
              <a:rPr lang="en-CA" dirty="0" err="1"/>
              <a:t>println</a:t>
            </a:r>
            <a:r>
              <a:rPr lang="en-CA" dirty="0"/>
              <a:t>); </a:t>
            </a:r>
          </a:p>
          <a:p>
            <a:endParaRPr lang="en-CA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5D821E-FE2B-781B-0F86-872881E3F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Lesson 9: Streaming</a:t>
            </a:r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724B31-D299-E451-4628-145B9C9C1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57D78-6BD8-4B20-85EE-78057F342A6D}" type="slidenum">
              <a:rPr lang="en-CA" smtClean="0"/>
              <a:t>39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5780802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AFF895-12E2-F6B0-C467-E33437B41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peek(Consumer&lt;? super T&gt; action)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B774FC-CC56-AB34-B3E6-25B569821F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1014817" cy="4351338"/>
          </a:xfrm>
        </p:spPr>
        <p:txBody>
          <a:bodyPr>
            <a:normAutofit fontScale="62500" lnSpcReduction="20000"/>
          </a:bodyPr>
          <a:lstStyle/>
          <a:p>
            <a:r>
              <a:rPr lang="en-CA" dirty="0"/>
              <a:t>View each element in the stream without modifying it (used for </a:t>
            </a:r>
            <a:r>
              <a:rPr lang="en-CA" u="sng" dirty="0"/>
              <a:t>debugging</a:t>
            </a:r>
            <a:r>
              <a:rPr lang="en-CA" dirty="0"/>
              <a:t>)</a:t>
            </a:r>
          </a:p>
          <a:p>
            <a:endParaRPr lang="en-CA" dirty="0"/>
          </a:p>
          <a:p>
            <a:r>
              <a:rPr lang="en-CA" dirty="0"/>
              <a:t>// Printing each element during processing</a:t>
            </a:r>
          </a:p>
          <a:p>
            <a:r>
              <a:rPr lang="en-CA" dirty="0" err="1"/>
              <a:t>Stream.of</a:t>
            </a:r>
            <a:r>
              <a:rPr lang="en-CA" dirty="0"/>
              <a:t>(1, 2, 3)</a:t>
            </a:r>
          </a:p>
          <a:p>
            <a:r>
              <a:rPr lang="en-CA" dirty="0"/>
              <a:t>.peek(</a:t>
            </a:r>
            <a:r>
              <a:rPr lang="en-CA" dirty="0" err="1"/>
              <a:t>System.out</a:t>
            </a:r>
            <a:r>
              <a:rPr lang="en-CA" dirty="0"/>
              <a:t>::</a:t>
            </a:r>
            <a:r>
              <a:rPr lang="en-CA" dirty="0" err="1"/>
              <a:t>println</a:t>
            </a:r>
            <a:r>
              <a:rPr lang="en-CA" dirty="0"/>
              <a:t>)</a:t>
            </a:r>
          </a:p>
          <a:p>
            <a:r>
              <a:rPr lang="en-CA" dirty="0"/>
              <a:t>.map(n -&gt; n * 2)</a:t>
            </a:r>
          </a:p>
          <a:p>
            <a:r>
              <a:rPr lang="en-CA" dirty="0"/>
              <a:t>.</a:t>
            </a:r>
            <a:r>
              <a:rPr lang="en-CA" dirty="0" err="1"/>
              <a:t>forEach</a:t>
            </a:r>
            <a:r>
              <a:rPr lang="en-CA" dirty="0"/>
              <a:t>(</a:t>
            </a:r>
            <a:r>
              <a:rPr lang="en-CA" dirty="0" err="1"/>
              <a:t>System.out</a:t>
            </a:r>
            <a:r>
              <a:rPr lang="en-CA" dirty="0"/>
              <a:t>::</a:t>
            </a:r>
            <a:r>
              <a:rPr lang="en-CA" dirty="0" err="1"/>
              <a:t>println</a:t>
            </a:r>
            <a:r>
              <a:rPr lang="en-CA" dirty="0"/>
              <a:t>);</a:t>
            </a:r>
          </a:p>
          <a:p>
            <a:endParaRPr lang="en-CA" dirty="0"/>
          </a:p>
          <a:p>
            <a:r>
              <a:rPr lang="en-CA" dirty="0"/>
              <a:t>// Logging elements before filtering and saving in new List</a:t>
            </a:r>
          </a:p>
          <a:p>
            <a:r>
              <a:rPr lang="en-CA" dirty="0"/>
              <a:t>List&lt;String&gt; list = </a:t>
            </a:r>
            <a:r>
              <a:rPr lang="en-CA" dirty="0" err="1"/>
              <a:t>Stream.of</a:t>
            </a:r>
            <a:r>
              <a:rPr lang="en-CA" dirty="0"/>
              <a:t>("apple", "banana", "cherry")</a:t>
            </a:r>
          </a:p>
          <a:p>
            <a:r>
              <a:rPr lang="en-CA" dirty="0"/>
              <a:t>.peek(</a:t>
            </a:r>
            <a:r>
              <a:rPr lang="en-CA" dirty="0" err="1"/>
              <a:t>System.out</a:t>
            </a:r>
            <a:r>
              <a:rPr lang="en-CA" dirty="0"/>
              <a:t>::</a:t>
            </a:r>
            <a:r>
              <a:rPr lang="en-CA" dirty="0" err="1"/>
              <a:t>println</a:t>
            </a:r>
            <a:r>
              <a:rPr lang="en-CA" dirty="0"/>
              <a:t>)</a:t>
            </a:r>
          </a:p>
          <a:p>
            <a:r>
              <a:rPr lang="en-CA" dirty="0"/>
              <a:t>.filter(s -&gt; </a:t>
            </a:r>
            <a:r>
              <a:rPr lang="en-CA" dirty="0" err="1"/>
              <a:t>s.length</a:t>
            </a:r>
            <a:r>
              <a:rPr lang="en-CA" dirty="0"/>
              <a:t>() &gt; 5)</a:t>
            </a:r>
          </a:p>
          <a:p>
            <a:r>
              <a:rPr lang="en-CA" dirty="0"/>
              <a:t>.</a:t>
            </a:r>
            <a:r>
              <a:rPr lang="en-CA" dirty="0" err="1"/>
              <a:t>toList</a:t>
            </a:r>
            <a:r>
              <a:rPr lang="en-CA" dirty="0"/>
              <a:t>();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DED001-B108-7F8D-28D5-C9345E71C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Lesson 9: Streaming</a:t>
            </a:r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58FF27-6A1A-7666-100F-8BBC10969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57D78-6BD8-4B20-85EE-78057F342A6D}" type="slidenum">
              <a:rPr lang="en-CA" smtClean="0"/>
              <a:t>40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3853070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9C3A9-B2DA-0FA9-C978-7A02014AB7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takeWhile(Predicate&lt;T&gt; predicate)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42C640-4E02-4912-59CA-BF3CFC2F91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Takes elements from the stream as long as they match a condition, stopping when it fails</a:t>
            </a:r>
          </a:p>
          <a:p>
            <a:endParaRPr lang="en-US" dirty="0"/>
          </a:p>
          <a:p>
            <a:r>
              <a:rPr lang="en-US" dirty="0"/>
              <a:t>// Taking numbers while they are less than 3: 1, 2</a:t>
            </a:r>
          </a:p>
          <a:p>
            <a:r>
              <a:rPr lang="en-US" dirty="0" err="1"/>
              <a:t>Stream.of</a:t>
            </a:r>
            <a:r>
              <a:rPr lang="en-US" dirty="0"/>
              <a:t>(1, 2, 3, 4)</a:t>
            </a:r>
          </a:p>
          <a:p>
            <a:r>
              <a:rPr lang="en-US" dirty="0"/>
              <a:t>.</a:t>
            </a:r>
            <a:r>
              <a:rPr lang="en-US" dirty="0" err="1"/>
              <a:t>takeWhile</a:t>
            </a:r>
            <a:r>
              <a:rPr lang="en-US" dirty="0"/>
              <a:t>(n -&gt; n &lt; 3)</a:t>
            </a:r>
          </a:p>
          <a:p>
            <a:r>
              <a:rPr lang="en-US" dirty="0"/>
              <a:t>.</a:t>
            </a:r>
            <a:r>
              <a:rPr lang="en-US" dirty="0" err="1"/>
              <a:t>forEach</a:t>
            </a:r>
            <a:r>
              <a:rPr lang="en-US" dirty="0"/>
              <a:t>(</a:t>
            </a:r>
            <a:r>
              <a:rPr lang="en-US" dirty="0" err="1"/>
              <a:t>System.out</a:t>
            </a:r>
            <a:r>
              <a:rPr lang="en-US" dirty="0"/>
              <a:t>::</a:t>
            </a:r>
            <a:r>
              <a:rPr lang="en-US" dirty="0" err="1"/>
              <a:t>println</a:t>
            </a:r>
            <a:r>
              <a:rPr lang="en-US" dirty="0"/>
              <a:t>); </a:t>
            </a:r>
          </a:p>
          <a:p>
            <a:endParaRPr lang="en-US" dirty="0"/>
          </a:p>
          <a:p>
            <a:r>
              <a:rPr lang="en-US" dirty="0"/>
              <a:t>// Taking words while they start with "a": apple, apricot</a:t>
            </a:r>
          </a:p>
          <a:p>
            <a:r>
              <a:rPr lang="en-US" dirty="0" err="1"/>
              <a:t>Stream.of</a:t>
            </a:r>
            <a:r>
              <a:rPr lang="en-US" dirty="0"/>
              <a:t>("apple", "apricot", "banana")</a:t>
            </a:r>
          </a:p>
          <a:p>
            <a:r>
              <a:rPr lang="en-US" dirty="0"/>
              <a:t>.</a:t>
            </a:r>
            <a:r>
              <a:rPr lang="en-US" dirty="0" err="1"/>
              <a:t>takeWhile</a:t>
            </a:r>
            <a:r>
              <a:rPr lang="en-US" dirty="0"/>
              <a:t>(s -&gt; </a:t>
            </a:r>
            <a:r>
              <a:rPr lang="en-US" dirty="0" err="1"/>
              <a:t>s.startsWith</a:t>
            </a:r>
            <a:r>
              <a:rPr lang="en-US" dirty="0"/>
              <a:t>("a"))</a:t>
            </a:r>
          </a:p>
          <a:p>
            <a:r>
              <a:rPr lang="en-US" dirty="0"/>
              <a:t>.</a:t>
            </a:r>
            <a:r>
              <a:rPr lang="en-US" dirty="0" err="1"/>
              <a:t>forEach</a:t>
            </a:r>
            <a:r>
              <a:rPr lang="en-US" dirty="0"/>
              <a:t>(</a:t>
            </a:r>
            <a:r>
              <a:rPr lang="en-US" dirty="0" err="1"/>
              <a:t>System.out</a:t>
            </a:r>
            <a:r>
              <a:rPr lang="en-US" dirty="0"/>
              <a:t>::</a:t>
            </a:r>
            <a:r>
              <a:rPr lang="en-US" dirty="0" err="1"/>
              <a:t>println</a:t>
            </a:r>
            <a:r>
              <a:rPr lang="en-US" dirty="0"/>
              <a:t>);</a:t>
            </a:r>
            <a:endParaRPr lang="en-CA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374E2D-3D27-DBB0-4D58-7D4CFEE930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Lesson 9: Streaming</a:t>
            </a:r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540727-94AE-F305-92E8-C347574F5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57D78-6BD8-4B20-85EE-78057F342A6D}" type="slidenum">
              <a:rPr lang="en-CA" smtClean="0"/>
              <a:t>41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0660682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A82E9-C909-E241-4CAF-DAB610D02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err="1"/>
              <a:t>dropWhile</a:t>
            </a:r>
            <a:r>
              <a:rPr lang="en-CA" dirty="0"/>
              <a:t>(Predicate&lt;T&gt; predicate)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E9BF9A-FC76-F342-8DA5-0A968983D7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CA" dirty="0"/>
              <a:t>Drops elements from the stream while they match a condition, resuming once it fails</a:t>
            </a:r>
          </a:p>
          <a:p>
            <a:endParaRPr lang="en-CA" dirty="0"/>
          </a:p>
          <a:p>
            <a:r>
              <a:rPr lang="en-CA" dirty="0"/>
              <a:t>// Dropping numbers while they are less than 3: 3, 4</a:t>
            </a:r>
          </a:p>
          <a:p>
            <a:r>
              <a:rPr lang="en-CA" dirty="0" err="1"/>
              <a:t>Stream.of</a:t>
            </a:r>
            <a:r>
              <a:rPr lang="en-CA" dirty="0"/>
              <a:t>(1, 2, 3, 4).</a:t>
            </a:r>
            <a:r>
              <a:rPr lang="en-CA" dirty="0" err="1"/>
              <a:t>dropWhile</a:t>
            </a:r>
            <a:r>
              <a:rPr lang="en-CA" dirty="0"/>
              <a:t>(n -&gt; n &lt; 3)</a:t>
            </a:r>
          </a:p>
          <a:p>
            <a:r>
              <a:rPr lang="en-CA" dirty="0"/>
              <a:t>.</a:t>
            </a:r>
            <a:r>
              <a:rPr lang="en-CA" dirty="0" err="1"/>
              <a:t>forEach</a:t>
            </a:r>
            <a:r>
              <a:rPr lang="en-CA" dirty="0"/>
              <a:t>(</a:t>
            </a:r>
            <a:r>
              <a:rPr lang="en-CA" dirty="0" err="1"/>
              <a:t>System.out</a:t>
            </a:r>
            <a:r>
              <a:rPr lang="en-CA" dirty="0"/>
              <a:t>::</a:t>
            </a:r>
            <a:r>
              <a:rPr lang="en-CA" dirty="0" err="1"/>
              <a:t>println</a:t>
            </a:r>
            <a:r>
              <a:rPr lang="en-CA" dirty="0"/>
              <a:t>); </a:t>
            </a:r>
          </a:p>
          <a:p>
            <a:endParaRPr lang="en-CA" dirty="0"/>
          </a:p>
          <a:p>
            <a:r>
              <a:rPr lang="en-CA" dirty="0"/>
              <a:t>// Dropping words while they start with "a": banana</a:t>
            </a:r>
          </a:p>
          <a:p>
            <a:r>
              <a:rPr lang="en-CA" dirty="0" err="1"/>
              <a:t>Stream.of</a:t>
            </a:r>
            <a:r>
              <a:rPr lang="en-CA" dirty="0"/>
              <a:t>("apple", "apricot", "banana")</a:t>
            </a:r>
          </a:p>
          <a:p>
            <a:r>
              <a:rPr lang="en-CA" dirty="0"/>
              <a:t>.</a:t>
            </a:r>
            <a:r>
              <a:rPr lang="en-CA" dirty="0" err="1"/>
              <a:t>dropWhile</a:t>
            </a:r>
            <a:r>
              <a:rPr lang="en-CA" dirty="0"/>
              <a:t>(s -&gt; </a:t>
            </a:r>
            <a:r>
              <a:rPr lang="en-CA" dirty="0" err="1"/>
              <a:t>s.startsWith</a:t>
            </a:r>
            <a:r>
              <a:rPr lang="en-CA" dirty="0"/>
              <a:t>("a"))</a:t>
            </a:r>
          </a:p>
          <a:p>
            <a:r>
              <a:rPr lang="en-CA" dirty="0"/>
              <a:t>.</a:t>
            </a:r>
            <a:r>
              <a:rPr lang="en-CA" dirty="0" err="1"/>
              <a:t>forEach</a:t>
            </a:r>
            <a:r>
              <a:rPr lang="en-CA" dirty="0"/>
              <a:t>(</a:t>
            </a:r>
            <a:r>
              <a:rPr lang="en-CA" dirty="0" err="1"/>
              <a:t>System.out</a:t>
            </a:r>
            <a:r>
              <a:rPr lang="en-CA" dirty="0"/>
              <a:t>::</a:t>
            </a:r>
            <a:r>
              <a:rPr lang="en-CA" dirty="0" err="1"/>
              <a:t>println</a:t>
            </a:r>
            <a:r>
              <a:rPr lang="en-CA" dirty="0"/>
              <a:t>);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D1E0B0-1DF3-BFBD-040C-E8747AC316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Lesson 9: Streaming</a:t>
            </a:r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0B3CCF-7FF2-268A-BBAA-18ADCDD5E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57D78-6BD8-4B20-85EE-78057F342A6D}" type="slidenum">
              <a:rPr lang="en-CA" smtClean="0"/>
              <a:t>42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6155538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C656D-8290-670A-BEBA-9377AB44F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18264" cy="1325563"/>
          </a:xfrm>
        </p:spPr>
        <p:txBody>
          <a:bodyPr>
            <a:normAutofit/>
          </a:bodyPr>
          <a:lstStyle/>
          <a:p>
            <a:r>
              <a:rPr lang="en-CA" sz="3200"/>
              <a:t>flatMapToInt(Function&lt;? super T, ? extends IntStream&gt; mapper)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33A3F6-A8CF-C581-3D9D-E1F877115B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CA"/>
              <a:t>Maps each element to an IntStream, then flattens it into a single IntStream</a:t>
            </a:r>
          </a:p>
          <a:p>
            <a:endParaRPr lang="en-CA"/>
          </a:p>
          <a:p>
            <a:r>
              <a:rPr lang="en-CA"/>
              <a:t>// Flattening ranges of numbers: 0, 0, 1</a:t>
            </a:r>
          </a:p>
          <a:p>
            <a:r>
              <a:rPr lang="en-CA"/>
              <a:t>Stream.of(1, 2)</a:t>
            </a:r>
          </a:p>
          <a:p>
            <a:r>
              <a:rPr lang="en-CA"/>
              <a:t>.flatMapToInt(n -&gt; IntStream.range(0, n))</a:t>
            </a:r>
          </a:p>
          <a:p>
            <a:r>
              <a:rPr lang="en-CA"/>
              <a:t>.forEach(System.out::println); </a:t>
            </a:r>
          </a:p>
          <a:p>
            <a:endParaRPr lang="en-CA"/>
          </a:p>
          <a:p>
            <a:r>
              <a:rPr lang="en-CA"/>
              <a:t>// Converting lists of integers to a single IntStream: 1, 2, 3, 4</a:t>
            </a:r>
          </a:p>
          <a:p>
            <a:r>
              <a:rPr lang="en-CA"/>
              <a:t>Stream.of(List.of(1, 2), List.of(3, 4))</a:t>
            </a:r>
          </a:p>
          <a:p>
            <a:r>
              <a:rPr lang="en-CA"/>
              <a:t>.flatMapToInt(List::stream)</a:t>
            </a:r>
          </a:p>
          <a:p>
            <a:r>
              <a:rPr lang="en-CA"/>
              <a:t>.forEach(System.out::println);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EA5649-7348-0438-3255-F334CA2E6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Lesson 9: Streaming</a:t>
            </a:r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A9B224-9D13-FE4E-8DCB-E568B956C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57D78-6BD8-4B20-85EE-78057F342A6D}" type="slidenum">
              <a:rPr lang="en-CA" smtClean="0"/>
              <a:t>43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6942218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6C4FDB-1A64-3F6D-2517-6F26247E4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110" y="365125"/>
            <a:ext cx="11494094" cy="1325563"/>
          </a:xfrm>
        </p:spPr>
        <p:txBody>
          <a:bodyPr>
            <a:normAutofit/>
          </a:bodyPr>
          <a:lstStyle/>
          <a:p>
            <a:r>
              <a:rPr lang="en-CA" sz="3200"/>
              <a:t>flatMapToLong(Function&lt;? super T, ? extends LongStream&gt; mapper)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3C05AF-A039-AEAF-74E9-D0FC747AC8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CA"/>
              <a:t>Maps each element to a LongStream, then flattens it into a single LongStream</a:t>
            </a:r>
          </a:p>
          <a:p>
            <a:endParaRPr lang="en-CA"/>
          </a:p>
          <a:p>
            <a:r>
              <a:rPr lang="en-CA"/>
              <a:t>// Flattening ranges of long numbers: 0, 0, 1</a:t>
            </a:r>
          </a:p>
          <a:p>
            <a:r>
              <a:rPr lang="en-CA"/>
              <a:t>Stream.of(1L, 2L)</a:t>
            </a:r>
          </a:p>
          <a:p>
            <a:r>
              <a:rPr lang="en-CA"/>
              <a:t>.flatMapToLong(n -&gt; LongStream.range(0, n))</a:t>
            </a:r>
          </a:p>
          <a:p>
            <a:r>
              <a:rPr lang="en-CA"/>
              <a:t>.forEach(System.out::println); </a:t>
            </a:r>
          </a:p>
          <a:p>
            <a:endParaRPr lang="en-CA"/>
          </a:p>
          <a:p>
            <a:r>
              <a:rPr lang="en-CA"/>
              <a:t>// Converting lists of longs to a single LongStream: 1, 2, 3, 4</a:t>
            </a:r>
          </a:p>
          <a:p>
            <a:r>
              <a:rPr lang="en-CA"/>
              <a:t>Stream.of(List.of(1L, 2L), List.of(3L, 4L))</a:t>
            </a:r>
          </a:p>
          <a:p>
            <a:r>
              <a:rPr lang="en-CA"/>
              <a:t>.flatMapToLong(List::stream)</a:t>
            </a:r>
          </a:p>
          <a:p>
            <a:r>
              <a:rPr lang="en-CA"/>
              <a:t>.forEach(System.out::println);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E28527-FFF6-220C-C548-AA59625BB7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Lesson 9: Streaming</a:t>
            </a:r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9C5624-D5BB-2ABA-0960-23B5C4995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57D78-6BD8-4B20-85EE-78057F342A6D}" type="slidenum">
              <a:rPr lang="en-CA" smtClean="0"/>
              <a:t>44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2843966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EEB6D-1DE6-B994-5391-502EF0875A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95176" cy="1325563"/>
          </a:xfrm>
        </p:spPr>
        <p:txBody>
          <a:bodyPr>
            <a:normAutofit/>
          </a:bodyPr>
          <a:lstStyle/>
          <a:p>
            <a:r>
              <a:rPr lang="en-CA" sz="2800"/>
              <a:t>flatMapToDouble(Function&lt;? super T, ? extends DoubleStream&gt; mapper)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450667-0797-12CF-96B9-CE8CF9D54B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989179" cy="4351338"/>
          </a:xfrm>
        </p:spPr>
        <p:txBody>
          <a:bodyPr>
            <a:normAutofit fontScale="77500" lnSpcReduction="20000"/>
          </a:bodyPr>
          <a:lstStyle/>
          <a:p>
            <a:r>
              <a:rPr lang="en-CA"/>
              <a:t>Maps each element to a DoubleStream, then flattens it into a single DoubleStream</a:t>
            </a:r>
          </a:p>
          <a:p>
            <a:endParaRPr lang="en-CA"/>
          </a:p>
          <a:p>
            <a:r>
              <a:rPr lang="en-CA"/>
              <a:t>// Flattening ranges of double numbers: 1.0, 1.5, 2.0, 2.5</a:t>
            </a:r>
          </a:p>
          <a:p>
            <a:r>
              <a:rPr lang="en-CA"/>
              <a:t>Stream.of(1.0, 2.0)</a:t>
            </a:r>
          </a:p>
          <a:p>
            <a:r>
              <a:rPr lang="en-CA"/>
              <a:t>.flatMapToDouble(n -&gt; DoubleStream.of(n, n + 0.5))</a:t>
            </a:r>
          </a:p>
          <a:p>
            <a:r>
              <a:rPr lang="en-CA"/>
              <a:t>.forEach(System.out::println); </a:t>
            </a:r>
          </a:p>
          <a:p>
            <a:endParaRPr lang="en-CA"/>
          </a:p>
          <a:p>
            <a:r>
              <a:rPr lang="en-CA"/>
              <a:t>// Converting lists of doubles to a single DoubleStream: 1.0, 2.0, 3.0, 4.0</a:t>
            </a:r>
          </a:p>
          <a:p>
            <a:r>
              <a:rPr lang="en-CA"/>
              <a:t>Stream.of(List.of(1.0, 2.0), List.of(3.0, 4.0))</a:t>
            </a:r>
          </a:p>
          <a:p>
            <a:r>
              <a:rPr lang="en-CA"/>
              <a:t>.flatMapToDouble(List::stream)</a:t>
            </a:r>
          </a:p>
          <a:p>
            <a:r>
              <a:rPr lang="en-CA"/>
              <a:t>.forEach(System.out::println);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DED52E-F8D9-31D3-59A4-14A3FF56D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Lesson 9: Streaming</a:t>
            </a:r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7A08DC-41CE-EFE3-4DD6-6E086601B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57D78-6BD8-4B20-85EE-78057F342A6D}" type="slidenum">
              <a:rPr lang="en-CA" smtClean="0"/>
              <a:t>45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6131071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D788BC-C304-11C9-0528-446C63A3DE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mapToInt(ToIntFunction&lt;? super T&gt; mapper)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8C346F-40C0-1889-F3EF-F3327E2397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912267" cy="4351338"/>
          </a:xfrm>
        </p:spPr>
        <p:txBody>
          <a:bodyPr>
            <a:normAutofit/>
          </a:bodyPr>
          <a:lstStyle/>
          <a:p>
            <a:r>
              <a:rPr lang="en-CA" sz="2400"/>
              <a:t>Maps each element to an int, resulting in an IntStream</a:t>
            </a:r>
          </a:p>
          <a:p>
            <a:endParaRPr lang="en-CA" sz="2400"/>
          </a:p>
          <a:p>
            <a:r>
              <a:rPr lang="en-CA" sz="2400"/>
              <a:t>// Mapping strings to their lengths: 5, 3</a:t>
            </a:r>
          </a:p>
          <a:p>
            <a:r>
              <a:rPr lang="en-CA" sz="2400"/>
              <a:t>Stream.of("apple", "pie").mapToInt(String::length).forEach(System.out::println); </a:t>
            </a:r>
          </a:p>
          <a:p>
            <a:endParaRPr lang="en-CA" sz="2400"/>
          </a:p>
          <a:p>
            <a:r>
              <a:rPr lang="en-CA" sz="2400"/>
              <a:t>// Mapping integers to their squares: 1, 4, 9</a:t>
            </a:r>
          </a:p>
          <a:p>
            <a:r>
              <a:rPr lang="en-CA" sz="2400"/>
              <a:t>Stream.of(1, 2, 3).mapToInt(n -&gt; n * n).forEach(System.out::println);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2347D5-C5D4-3218-E31A-5EE2461FF1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Lesson 9: Streaming</a:t>
            </a:r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029572-B0D1-0160-9031-0F1BFAA16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57D78-6BD8-4B20-85EE-78057F342A6D}" type="slidenum">
              <a:rPr lang="en-CA" smtClean="0"/>
              <a:t>46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6279694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5DF89-1B3C-3350-B97B-AF4F69D724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202" y="365125"/>
            <a:ext cx="11374452" cy="1325563"/>
          </a:xfrm>
        </p:spPr>
        <p:txBody>
          <a:bodyPr>
            <a:normAutofit/>
          </a:bodyPr>
          <a:lstStyle/>
          <a:p>
            <a:r>
              <a:rPr lang="en-CA"/>
              <a:t>mapToLong(ToLongFunction&lt;? super T&gt; mapper)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270903-D221-998F-3981-5ED644504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801172" cy="4351338"/>
          </a:xfrm>
        </p:spPr>
        <p:txBody>
          <a:bodyPr>
            <a:normAutofit lnSpcReduction="10000"/>
          </a:bodyPr>
          <a:lstStyle/>
          <a:p>
            <a:r>
              <a:rPr lang="en-CA"/>
              <a:t>Maps each element to a long, resulting in a LongStream</a:t>
            </a:r>
          </a:p>
          <a:p>
            <a:endParaRPr lang="en-CA"/>
          </a:p>
          <a:p>
            <a:r>
              <a:rPr lang="en-CA"/>
              <a:t>// Mapping integers to their long values: 1, 2, 3</a:t>
            </a:r>
          </a:p>
          <a:p>
            <a:r>
              <a:rPr lang="en-CA"/>
              <a:t>Stream.of(1, 2, 3)</a:t>
            </a:r>
          </a:p>
          <a:p>
            <a:r>
              <a:rPr lang="en-CA"/>
              <a:t>.mapToLong(Integer::longValue).forEach(System.out::println); </a:t>
            </a:r>
          </a:p>
          <a:p>
            <a:endParaRPr lang="en-CA"/>
          </a:p>
          <a:p>
            <a:r>
              <a:rPr lang="en-CA"/>
              <a:t>// Converting lengths of strings to a LongStream: 5, 6</a:t>
            </a:r>
          </a:p>
          <a:p>
            <a:r>
              <a:rPr lang="en-CA"/>
              <a:t>Stream.of("apple", "banana")</a:t>
            </a:r>
          </a:p>
          <a:p>
            <a:r>
              <a:rPr lang="en-CA"/>
              <a:t>.mapToLong(String::length).forEach(System.out::println);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486FEC-C425-2300-5D6C-F82259D8D9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Lesson 9: Streaming</a:t>
            </a:r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FA2A4C-90A2-BD6E-9DF7-47224F5F14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57D78-6BD8-4B20-85EE-78057F342A6D}" type="slidenum">
              <a:rPr lang="en-CA" smtClean="0"/>
              <a:t>47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6859171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C9A83-588A-6A6F-4CAC-2DF0E89DB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0019" y="365125"/>
            <a:ext cx="11485547" cy="1325563"/>
          </a:xfrm>
        </p:spPr>
        <p:txBody>
          <a:bodyPr>
            <a:normAutofit/>
          </a:bodyPr>
          <a:lstStyle/>
          <a:p>
            <a:r>
              <a:rPr lang="en-CA" sz="3600"/>
              <a:t>mapToDouble(ToDoubleFunction&lt;? super T&gt; mapper)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80AC54-2979-000C-CE01-0636CA7CAA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CA"/>
              <a:t>Maps each element to a double, resulting in a DoubleStream</a:t>
            </a:r>
          </a:p>
          <a:p>
            <a:endParaRPr lang="en-CA"/>
          </a:p>
          <a:p>
            <a:r>
              <a:rPr lang="en-CA"/>
              <a:t>// Mapping integers to their double values: 1.0, 2.0, 3.0</a:t>
            </a:r>
          </a:p>
          <a:p>
            <a:r>
              <a:rPr lang="en-CA"/>
              <a:t>Stream.of(1, 2, 3)</a:t>
            </a:r>
          </a:p>
          <a:p>
            <a:r>
              <a:rPr lang="en-CA"/>
              <a:t>.mapToDouble(Integer::doubleValue)</a:t>
            </a:r>
          </a:p>
          <a:p>
            <a:r>
              <a:rPr lang="en-CA"/>
              <a:t>.forEach(System.out::println); </a:t>
            </a:r>
          </a:p>
          <a:p>
            <a:endParaRPr lang="en-CA"/>
          </a:p>
          <a:p>
            <a:r>
              <a:rPr lang="en-CA"/>
              <a:t>// Converting prices to a DoubleStream: 1.99, 2.99</a:t>
            </a:r>
          </a:p>
          <a:p>
            <a:r>
              <a:rPr lang="en-CA"/>
              <a:t>Stream.of("1.99", "2.99")</a:t>
            </a:r>
          </a:p>
          <a:p>
            <a:r>
              <a:rPr lang="en-CA"/>
              <a:t>.mapToDouble(Double::parseDouble)</a:t>
            </a:r>
          </a:p>
          <a:p>
            <a:r>
              <a:rPr lang="en-CA"/>
              <a:t>.forEach(System.out::println);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554D2A-946F-B081-4D37-6812D9F3E3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Lesson 9: Streaming</a:t>
            </a:r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08E947-C032-442A-9C37-C9CB9CBF1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57D78-6BD8-4B20-85EE-78057F342A6D}" type="slidenum">
              <a:rPr lang="en-CA" smtClean="0"/>
              <a:t>48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9676723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CAEEB7-868E-05F8-5BA3-EE68944128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Functional interfaces used with stream()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ECA194-4062-7156-A50A-623D020DA1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dirty="0"/>
              <a:t>// Terminal operations (often used to consume the stream):</a:t>
            </a:r>
          </a:p>
          <a:p>
            <a:r>
              <a:rPr lang="en-US" dirty="0"/>
              <a:t>Consumer              	void accept(T t);            		// Used with </a:t>
            </a:r>
            <a:r>
              <a:rPr lang="en-US" dirty="0" err="1"/>
              <a:t>forEach</a:t>
            </a:r>
            <a:endParaRPr lang="en-US" dirty="0"/>
          </a:p>
          <a:p>
            <a:r>
              <a:rPr lang="en-US" dirty="0" err="1"/>
              <a:t>BinaryOperator</a:t>
            </a:r>
            <a:r>
              <a:rPr lang="en-US" dirty="0"/>
              <a:t>        	T apply(T t1, T t2);         		// Used with reduce</a:t>
            </a:r>
          </a:p>
          <a:p>
            <a:r>
              <a:rPr lang="en-US" dirty="0"/>
              <a:t>Supplier              	T get();                           		// Used with collect</a:t>
            </a:r>
          </a:p>
          <a:p>
            <a:r>
              <a:rPr lang="en-US" dirty="0" err="1"/>
              <a:t>BiConsumer</a:t>
            </a:r>
            <a:r>
              <a:rPr lang="en-US" dirty="0"/>
              <a:t>            	void accept(T </a:t>
            </a:r>
            <a:r>
              <a:rPr lang="en-US" dirty="0" err="1"/>
              <a:t>t</a:t>
            </a:r>
            <a:r>
              <a:rPr lang="en-US" dirty="0"/>
              <a:t>, U u);    		// Used with collect (accumulator in collectors)</a:t>
            </a:r>
          </a:p>
          <a:p>
            <a:r>
              <a:rPr lang="en-US" dirty="0"/>
              <a:t>Comparator            	int compare(T o1, T o2);           	// Used with sorted</a:t>
            </a:r>
          </a:p>
          <a:p>
            <a:r>
              <a:rPr lang="en-US" dirty="0"/>
              <a:t>Predicate             	</a:t>
            </a:r>
            <a:r>
              <a:rPr lang="en-US" dirty="0" err="1"/>
              <a:t>boolean</a:t>
            </a:r>
            <a:r>
              <a:rPr lang="en-US" dirty="0"/>
              <a:t> test(T t);                 	// Used with filter</a:t>
            </a:r>
          </a:p>
          <a:p>
            <a:endParaRPr lang="en-US" dirty="0"/>
          </a:p>
          <a:p>
            <a:r>
              <a:rPr lang="en-US" dirty="0"/>
              <a:t>// Intermediate operations (transform or map elements in the stream):</a:t>
            </a:r>
          </a:p>
          <a:p>
            <a:r>
              <a:rPr lang="en-US" dirty="0"/>
              <a:t>Function              	R apply(T t);                      		// Used with map</a:t>
            </a:r>
          </a:p>
          <a:p>
            <a:r>
              <a:rPr lang="en-US" dirty="0" err="1"/>
              <a:t>ToIntFunction</a:t>
            </a:r>
            <a:r>
              <a:rPr lang="en-US" dirty="0"/>
              <a:t>         	int </a:t>
            </a:r>
            <a:r>
              <a:rPr lang="en-US" dirty="0" err="1"/>
              <a:t>applyAsInt</a:t>
            </a:r>
            <a:r>
              <a:rPr lang="en-US" dirty="0"/>
              <a:t>(T value);           	// Used with </a:t>
            </a:r>
            <a:r>
              <a:rPr lang="en-US" dirty="0" err="1"/>
              <a:t>mapToInt</a:t>
            </a:r>
            <a:endParaRPr lang="en-US" dirty="0"/>
          </a:p>
          <a:p>
            <a:r>
              <a:rPr lang="en-US" dirty="0" err="1"/>
              <a:t>ToLongFunction</a:t>
            </a:r>
            <a:r>
              <a:rPr lang="en-US" dirty="0"/>
              <a:t>       	long </a:t>
            </a:r>
            <a:r>
              <a:rPr lang="en-US" dirty="0" err="1"/>
              <a:t>applyAsLong</a:t>
            </a:r>
            <a:r>
              <a:rPr lang="en-US" dirty="0"/>
              <a:t>(T value);         	// Used with </a:t>
            </a:r>
            <a:r>
              <a:rPr lang="en-US" dirty="0" err="1"/>
              <a:t>mapToLong</a:t>
            </a:r>
            <a:endParaRPr lang="en-US" dirty="0"/>
          </a:p>
          <a:p>
            <a:r>
              <a:rPr lang="en-US" dirty="0" err="1"/>
              <a:t>ToDoubleFunction</a:t>
            </a:r>
            <a:r>
              <a:rPr lang="en-US" dirty="0"/>
              <a:t>  	double </a:t>
            </a:r>
            <a:r>
              <a:rPr lang="en-US" dirty="0" err="1"/>
              <a:t>applyAsDouble</a:t>
            </a:r>
            <a:r>
              <a:rPr lang="en-US" dirty="0"/>
              <a:t>(T value); 	// Used with </a:t>
            </a:r>
            <a:r>
              <a:rPr lang="en-US" dirty="0" err="1"/>
              <a:t>mapToDouble</a:t>
            </a:r>
            <a:endParaRPr lang="en-US" dirty="0"/>
          </a:p>
          <a:p>
            <a:r>
              <a:rPr lang="en-US" dirty="0" err="1"/>
              <a:t>UnaryOperator</a:t>
            </a:r>
            <a:r>
              <a:rPr lang="en-US" dirty="0"/>
              <a:t>         	T apply(T t);                      		// Used with map (when mapping to the same type)</a:t>
            </a:r>
          </a:p>
          <a:p>
            <a:endParaRPr lang="en-CA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7E6D6A-C73B-C7DC-4125-5D79F00DE0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Lesson 9: Streaming</a:t>
            </a:r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9BD971-B73A-3569-33CC-84C452B6C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57D78-6BD8-4B20-85EE-78057F342A6D}" type="slidenum">
              <a:rPr lang="en-CA" smtClean="0"/>
              <a:t>49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1769169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76657-9A59-0DF4-CD39-88AFAB6463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best way to learn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D4F353-1DFA-CFBA-1FF5-9D98E6D9A5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Let's practice</a:t>
            </a:r>
          </a:p>
          <a:p>
            <a:r>
              <a:rPr lang="en-US"/>
              <a:t>Create a Province class</a:t>
            </a:r>
          </a:p>
          <a:p>
            <a:r>
              <a:rPr lang="en-US"/>
              <a:t>Create a Canada class with a list of Provinces</a:t>
            </a:r>
          </a:p>
          <a:p>
            <a:r>
              <a:rPr lang="en-US"/>
              <a:t>stream, filter, map, etc…</a:t>
            </a:r>
          </a:p>
          <a:p>
            <a:endParaRPr lang="en-US"/>
          </a:p>
          <a:p>
            <a:endParaRPr lang="en-US"/>
          </a:p>
          <a:p>
            <a:r>
              <a:rPr lang="en-US"/>
              <a:t>Note: the next slides have stream methods related to parallel processing; we can ignore them for now, but they are included for the purpose of being complete</a:t>
            </a:r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1737D2D-B3D9-EC48-C1D1-25FBF6BBA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Lesson 9: Streaming</a:t>
            </a:r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EA6699-A227-0BEE-1617-6911E9E2B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57D78-6BD8-4B20-85EE-78057F342A6D}" type="slidenum">
              <a:rPr lang="en-CA" smtClean="0"/>
              <a:t>50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2518679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2B11F-5560-E777-E8AF-5E35F67412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findAny()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18ED28-E526-E120-C034-95DCC1AF54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CA"/>
              <a:t>Returns any element in the stream, which can be useful with parallel streams for performance (in a non-deterministic way; i.e. random)</a:t>
            </a:r>
          </a:p>
          <a:p>
            <a:endParaRPr lang="en-CA"/>
          </a:p>
          <a:p>
            <a:r>
              <a:rPr lang="en-CA"/>
              <a:t>// Finding any even number: 2 (or 4)</a:t>
            </a:r>
          </a:p>
          <a:p>
            <a:r>
              <a:rPr lang="en-CA"/>
              <a:t>Optional&lt;Integer&gt; anyEven = Stream.of(1, 2, 3, 4)</a:t>
            </a:r>
          </a:p>
          <a:p>
            <a:r>
              <a:rPr lang="en-CA"/>
              <a:t>.parallel()</a:t>
            </a:r>
          </a:p>
          <a:p>
            <a:r>
              <a:rPr lang="en-CA"/>
              <a:t>.filter(n -&gt; n % 2 == 0)</a:t>
            </a:r>
          </a:p>
          <a:p>
            <a:r>
              <a:rPr lang="en-CA"/>
              <a:t>.findAny();</a:t>
            </a:r>
          </a:p>
          <a:p>
            <a:endParaRPr lang="en-CA"/>
          </a:p>
          <a:p>
            <a:r>
              <a:rPr lang="en-CA"/>
              <a:t>// Finding any name that starts with "C": Charlie</a:t>
            </a:r>
          </a:p>
          <a:p>
            <a:r>
              <a:rPr lang="en-CA"/>
              <a:t>Optional&lt;String&gt; anyC = Stream.of("Alice", "Bob", "Charlie")</a:t>
            </a:r>
          </a:p>
          <a:p>
            <a:r>
              <a:rPr lang="en-CA"/>
              <a:t>.parallel()</a:t>
            </a:r>
          </a:p>
          <a:p>
            <a:r>
              <a:rPr lang="en-CA"/>
              <a:t>.filter(name -&gt; name.startsWith("C"))</a:t>
            </a:r>
          </a:p>
          <a:p>
            <a:r>
              <a:rPr lang="en-CA"/>
              <a:t>.findAny();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52A89D-9610-1229-236E-759796E17E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Lesson 9: Streaming</a:t>
            </a:r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0C0789-0AC1-79BA-00B2-3421195DB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57D78-6BD8-4B20-85EE-78057F342A6D}" type="slidenum">
              <a:rPr lang="en-CA" smtClean="0"/>
              <a:t>51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1064950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7EE95F-9C5F-31C3-D1E9-E2F1BAB9EE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spliterator()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B7924-127F-0DB0-E3F7-227AA5D118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CA"/>
              <a:t>Returns a Spliterator, which can split the stream into multiple parts (generally, halves) for parallel processing</a:t>
            </a:r>
          </a:p>
          <a:p>
            <a:endParaRPr lang="en-CA"/>
          </a:p>
          <a:p>
            <a:r>
              <a:rPr lang="en-CA"/>
              <a:t>// Using a spliterator to traverse a stream</a:t>
            </a:r>
          </a:p>
          <a:p>
            <a:r>
              <a:rPr lang="en-CA"/>
              <a:t>Spliterator&lt;String&gt; spliterator = Stream.of("Alice", "Bob").spliterator();</a:t>
            </a:r>
          </a:p>
          <a:p>
            <a:r>
              <a:rPr lang="en-CA"/>
              <a:t>spliterator.forEachRemaining(System.out::println);</a:t>
            </a:r>
          </a:p>
          <a:p>
            <a:endParaRPr lang="en-CA"/>
          </a:p>
          <a:p>
            <a:r>
              <a:rPr lang="en-CA"/>
              <a:t>// Splitting and processing a stream in parallel</a:t>
            </a:r>
          </a:p>
          <a:p>
            <a:r>
              <a:rPr lang="en-CA"/>
              <a:t>Spliterator&lt;String&gt; spliterator = Stream.of("Alice", "Bob", "Charlie", "David")</a:t>
            </a:r>
          </a:p>
          <a:p>
            <a:r>
              <a:rPr lang="en-CA"/>
              <a:t>.spliterator();</a:t>
            </a:r>
          </a:p>
          <a:p>
            <a:r>
              <a:rPr lang="en-CA"/>
              <a:t>Spliterator&lt;String&gt; secondHalf = spliterator.trySplit();</a:t>
            </a:r>
          </a:p>
          <a:p>
            <a:r>
              <a:rPr lang="en-CA"/>
              <a:t>secondHalf.forEachRemaining(System.out::println);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5E9233-6B0F-F093-F25E-D00D4DEA3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Lesson 9: Streaming</a:t>
            </a:r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B7CD13-3B48-8247-2F13-3949BE39B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57D78-6BD8-4B20-85EE-78057F342A6D}" type="slidenum">
              <a:rPr lang="en-CA" smtClean="0"/>
              <a:t>52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6971255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A97D57-6E8B-C0AF-4241-4EA45C4603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parallel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4EF62-ECA6-7C59-749B-3E9D1AEF26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A" sz="2200"/>
              <a:t>Converts the stream into a parallel stream, allowing for concurrent processing</a:t>
            </a:r>
          </a:p>
          <a:p>
            <a:endParaRPr lang="en-CA" sz="2200"/>
          </a:p>
          <a:p>
            <a:r>
              <a:rPr lang="en-CA" sz="2200"/>
              <a:t>// Making a stream parallel</a:t>
            </a:r>
          </a:p>
          <a:p>
            <a:r>
              <a:rPr lang="en-CA" sz="2200"/>
              <a:t>Stream.of(1, 2, 3, 4).parallel().forEach(System.out::println);</a:t>
            </a:r>
          </a:p>
          <a:p>
            <a:endParaRPr lang="en-CA" sz="2200"/>
          </a:p>
          <a:p>
            <a:r>
              <a:rPr lang="en-CA" sz="2200"/>
              <a:t>// Using parallel for heavy processing</a:t>
            </a:r>
          </a:p>
          <a:p>
            <a:r>
              <a:rPr lang="en-CA" sz="2200"/>
              <a:t>Stream.of(1, 2, 3, 4).parallel().map(n -&gt; n * n).forEach(System.out::println);</a:t>
            </a:r>
          </a:p>
          <a:p>
            <a:endParaRPr lang="en-CA" sz="220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E23CE7-C875-3B49-1E42-D36E339888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Lesson 9: Streaming</a:t>
            </a:r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313F2A-D1F1-6EAA-231B-F9C0ABC61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57D78-6BD8-4B20-85EE-78057F342A6D}" type="slidenum">
              <a:rPr lang="en-CA" smtClean="0"/>
              <a:t>53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0913634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B97F9-9A00-CAB4-861F-425AAAF07E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sequential()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A1FAD4-9E3F-3903-946D-74C41DA54D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CA"/>
              <a:t>Converts a parallel stream back into a sequential (non-parallel) stream</a:t>
            </a:r>
          </a:p>
          <a:p>
            <a:endParaRPr lang="en-CA"/>
          </a:p>
          <a:p>
            <a:r>
              <a:rPr lang="en-CA"/>
              <a:t>// Converting parallel back to sequential</a:t>
            </a:r>
          </a:p>
          <a:p>
            <a:r>
              <a:rPr lang="en-CA"/>
              <a:t>Stream.of(1, 2, 3, 4)</a:t>
            </a:r>
          </a:p>
          <a:p>
            <a:r>
              <a:rPr lang="en-CA"/>
              <a:t>.parallel()</a:t>
            </a:r>
          </a:p>
          <a:p>
            <a:r>
              <a:rPr lang="en-CA"/>
              <a:t>.sequential()</a:t>
            </a:r>
          </a:p>
          <a:p>
            <a:r>
              <a:rPr lang="en-CA"/>
              <a:t>.forEach(System.out::println);</a:t>
            </a:r>
          </a:p>
          <a:p>
            <a:endParaRPr lang="en-CA"/>
          </a:p>
          <a:p>
            <a:r>
              <a:rPr lang="en-CA"/>
              <a:t>// Ensuring sequential order</a:t>
            </a:r>
          </a:p>
          <a:p>
            <a:r>
              <a:rPr lang="en-CA"/>
              <a:t>Stream.of("apple", "banana", "cherry")</a:t>
            </a:r>
          </a:p>
          <a:p>
            <a:r>
              <a:rPr lang="en-CA"/>
              <a:t>.parallel()</a:t>
            </a:r>
          </a:p>
          <a:p>
            <a:r>
              <a:rPr lang="en-CA"/>
              <a:t>.sequential()</a:t>
            </a:r>
          </a:p>
          <a:p>
            <a:r>
              <a:rPr lang="en-CA"/>
              <a:t>.forEach(System.out::println);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4C266C-75F2-780D-F80E-E9CDE78B21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Lesson 9: Streaming</a:t>
            </a:r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DEE670-C88D-A832-398B-A292894EF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57D78-6BD8-4B20-85EE-78057F342A6D}" type="slidenum">
              <a:rPr lang="en-CA" smtClean="0"/>
              <a:t>54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1041691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126B50-2FBC-80E9-E965-480C72841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unordered()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898BC0-C343-D81F-CF8F-028CB73B49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CA"/>
              <a:t>Removes the order guarantee, useful for improving performance in parallel streams.</a:t>
            </a:r>
          </a:p>
          <a:p>
            <a:endParaRPr lang="en-CA"/>
          </a:p>
          <a:p>
            <a:r>
              <a:rPr lang="en-CA"/>
              <a:t>// Making a stream unordered</a:t>
            </a:r>
          </a:p>
          <a:p>
            <a:r>
              <a:rPr lang="en-CA"/>
              <a:t>Stream.of(1, 2, 3, 4).unordered().forEach(System.out::println);</a:t>
            </a:r>
          </a:p>
          <a:p>
            <a:endParaRPr lang="en-CA"/>
          </a:p>
          <a:p>
            <a:r>
              <a:rPr lang="en-CA"/>
              <a:t>Example 2: Using unordered in parallel processing</a:t>
            </a:r>
          </a:p>
          <a:p>
            <a:r>
              <a:rPr lang="en-CA"/>
              <a:t>Stream.of("apple", "banana", "cherry")</a:t>
            </a:r>
          </a:p>
          <a:p>
            <a:r>
              <a:rPr lang="en-CA"/>
              <a:t>.parallel()</a:t>
            </a:r>
          </a:p>
          <a:p>
            <a:r>
              <a:rPr lang="en-CA"/>
              <a:t>.unordered()</a:t>
            </a:r>
          </a:p>
          <a:p>
            <a:r>
              <a:rPr lang="en-CA"/>
              <a:t>.forEach(System.out::println);</a:t>
            </a:r>
          </a:p>
          <a:p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5C961E-F122-DCDB-5A9A-50F2D45E4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Lesson 9: Streaming</a:t>
            </a:r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9C4232-2887-3E35-1939-C581D1FBB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57D78-6BD8-4B20-85EE-78057F342A6D}" type="slidenum">
              <a:rPr lang="en-CA" smtClean="0"/>
              <a:t>55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988158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7758</TotalTime>
  <Words>7472</Words>
  <Application>Microsoft Office PowerPoint</Application>
  <PresentationFormat>Widescreen</PresentationFormat>
  <Paragraphs>741</Paragraphs>
  <Slides>55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59" baseType="lpstr">
      <vt:lpstr>Aptos</vt:lpstr>
      <vt:lpstr>Aptos Display</vt:lpstr>
      <vt:lpstr>Arial</vt:lpstr>
      <vt:lpstr>Office Theme</vt:lpstr>
      <vt:lpstr>COMP2522 Lesson 9</vt:lpstr>
      <vt:lpstr>Next Quiz</vt:lpstr>
      <vt:lpstr>The Stream as a Factory Assembly Line</vt:lpstr>
      <vt:lpstr>Example</vt:lpstr>
      <vt:lpstr>Analogy</vt:lpstr>
      <vt:lpstr>Intermediate and Terminal Operations</vt:lpstr>
      <vt:lpstr>More: Intermediate and Terminal Operations</vt:lpstr>
      <vt:lpstr>Collection Streaming</vt:lpstr>
      <vt:lpstr>stream()</vt:lpstr>
      <vt:lpstr>Foreach with Lambda Expression</vt:lpstr>
      <vt:lpstr>Foreach improved</vt:lpstr>
      <vt:lpstr>stream(), filter(), etc….Intermediate Operations</vt:lpstr>
      <vt:lpstr>stream(), filter(), etc….Terminal Operations</vt:lpstr>
      <vt:lpstr>Streams as Data</vt:lpstr>
      <vt:lpstr>forEach(Consumer&lt;? super T&gt; action)</vt:lpstr>
      <vt:lpstr>toArray()</vt:lpstr>
      <vt:lpstr>reduce(T identity, BinaryOperator&lt;T&gt; accumulator)</vt:lpstr>
      <vt:lpstr>reduce(BinaryOperator&lt;T&gt; accumulator)</vt:lpstr>
      <vt:lpstr>Optionals</vt:lpstr>
      <vt:lpstr>collect(Collector&lt;? super T, A, R&gt; collector)</vt:lpstr>
      <vt:lpstr>collect(Supplier&lt;R&gt; supplier, BiConsumer&lt;R, ? super T&gt; accumulator, BiConsumer&lt;R, R&gt; combiner)</vt:lpstr>
      <vt:lpstr>min(Comparator&lt;? super T&gt; comparator)</vt:lpstr>
      <vt:lpstr>max(Comparator&lt;? super T&gt; comparator)</vt:lpstr>
      <vt:lpstr>count()</vt:lpstr>
      <vt:lpstr>anyMatch(Predicate&lt;? super T&gt; predicate)</vt:lpstr>
      <vt:lpstr>allMatch(Predicate&lt;? super T&gt; predicate)</vt:lpstr>
      <vt:lpstr>noneMatch(Predicate&lt;? super T&gt; predicate)</vt:lpstr>
      <vt:lpstr>findFirst()</vt:lpstr>
      <vt:lpstr>iterator()</vt:lpstr>
      <vt:lpstr>Iterate through a text file</vt:lpstr>
      <vt:lpstr>Intermediate Operations</vt:lpstr>
      <vt:lpstr>filter(Predicate&lt;T&gt; predicate)</vt:lpstr>
      <vt:lpstr>map(Function&lt;T, R&gt; mapper)</vt:lpstr>
      <vt:lpstr>flatMap(Function&lt;T, Stream&lt;R&gt;&gt; mapper)</vt:lpstr>
      <vt:lpstr>distinct()</vt:lpstr>
      <vt:lpstr>sorted()</vt:lpstr>
      <vt:lpstr>sorted(Comparator&lt;? super T&gt; comparator)</vt:lpstr>
      <vt:lpstr>limit(long maxSize)</vt:lpstr>
      <vt:lpstr>skip(long n)</vt:lpstr>
      <vt:lpstr>peek(Consumer&lt;? super T&gt; action)</vt:lpstr>
      <vt:lpstr>takeWhile(Predicate&lt;T&gt; predicate)</vt:lpstr>
      <vt:lpstr>dropWhile(Predicate&lt;T&gt; predicate)</vt:lpstr>
      <vt:lpstr>flatMapToInt(Function&lt;? super T, ? extends IntStream&gt; mapper)</vt:lpstr>
      <vt:lpstr>flatMapToLong(Function&lt;? super T, ? extends LongStream&gt; mapper)</vt:lpstr>
      <vt:lpstr>flatMapToDouble(Function&lt;? super T, ? extends DoubleStream&gt; mapper)</vt:lpstr>
      <vt:lpstr>mapToInt(ToIntFunction&lt;? super T&gt; mapper)</vt:lpstr>
      <vt:lpstr>mapToLong(ToLongFunction&lt;? super T&gt; mapper)</vt:lpstr>
      <vt:lpstr>mapToDouble(ToDoubleFunction&lt;? super T&gt; mapper)</vt:lpstr>
      <vt:lpstr>Functional interfaces used with stream()</vt:lpstr>
      <vt:lpstr>The best way to learn</vt:lpstr>
      <vt:lpstr>findAny()</vt:lpstr>
      <vt:lpstr>spliterator()</vt:lpstr>
      <vt:lpstr>parallel</vt:lpstr>
      <vt:lpstr>sequential()</vt:lpstr>
      <vt:lpstr>unordered()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Jason Wilder</dc:creator>
  <cp:lastModifiedBy>Jason Wilder</cp:lastModifiedBy>
  <cp:revision>171</cp:revision>
  <dcterms:created xsi:type="dcterms:W3CDTF">2024-10-23T17:29:32Z</dcterms:created>
  <dcterms:modified xsi:type="dcterms:W3CDTF">2026-01-08T17:52:37Z</dcterms:modified>
</cp:coreProperties>
</file>