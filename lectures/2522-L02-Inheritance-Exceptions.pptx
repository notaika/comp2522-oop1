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9"/>
  </p:notes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4" r:id="rId21"/>
    <p:sldId id="277" r:id="rId22"/>
    <p:sldId id="278" r:id="rId23"/>
    <p:sldId id="531" r:id="rId24"/>
    <p:sldId id="279" r:id="rId25"/>
    <p:sldId id="28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528" r:id="rId36"/>
    <p:sldId id="529" r:id="rId37"/>
    <p:sldId id="530" r:id="rId38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Wilder" userId="143aa849-2b58-4bc9-a530-0a16d675f324" providerId="ADAL" clId="{CAD288F2-6908-4172-85AF-0D819FB9AD4C}"/>
    <pc:docChg chg="custSel modSld">
      <pc:chgData name="Jason Wilder" userId="143aa849-2b58-4bc9-a530-0a16d675f324" providerId="ADAL" clId="{CAD288F2-6908-4172-85AF-0D819FB9AD4C}" dt="2024-09-11T18:41:48.508" v="213" actId="14100"/>
      <pc:docMkLst>
        <pc:docMk/>
      </pc:docMkLst>
      <pc:sldChg chg="modSp mod">
        <pc:chgData name="Jason Wilder" userId="143aa849-2b58-4bc9-a530-0a16d675f324" providerId="ADAL" clId="{CAD288F2-6908-4172-85AF-0D819FB9AD4C}" dt="2024-09-11T15:48:10.414" v="54" actId="20577"/>
        <pc:sldMkLst>
          <pc:docMk/>
          <pc:sldMk cId="4057732446" sldId="259"/>
        </pc:sldMkLst>
        <pc:spChg chg="mod">
          <ac:chgData name="Jason Wilder" userId="143aa849-2b58-4bc9-a530-0a16d675f324" providerId="ADAL" clId="{CAD288F2-6908-4172-85AF-0D819FB9AD4C}" dt="2024-09-11T15:48:10.414" v="54" actId="20577"/>
          <ac:spMkLst>
            <pc:docMk/>
            <pc:sldMk cId="4057732446" sldId="259"/>
            <ac:spMk id="3" creationId="{30B06AC5-E903-1183-CDE9-4DBBF1C2239C}"/>
          </ac:spMkLst>
        </pc:spChg>
      </pc:sldChg>
      <pc:sldChg chg="modSp mod">
        <pc:chgData name="Jason Wilder" userId="143aa849-2b58-4bc9-a530-0a16d675f324" providerId="ADAL" clId="{CAD288F2-6908-4172-85AF-0D819FB9AD4C}" dt="2024-09-11T17:37:49.837" v="192" actId="20577"/>
        <pc:sldMkLst>
          <pc:docMk/>
          <pc:sldMk cId="222850076" sldId="265"/>
        </pc:sldMkLst>
        <pc:spChg chg="mod">
          <ac:chgData name="Jason Wilder" userId="143aa849-2b58-4bc9-a530-0a16d675f324" providerId="ADAL" clId="{CAD288F2-6908-4172-85AF-0D819FB9AD4C}" dt="2024-09-11T17:37:49.837" v="192" actId="20577"/>
          <ac:spMkLst>
            <pc:docMk/>
            <pc:sldMk cId="222850076" sldId="265"/>
            <ac:spMk id="3" creationId="{FC625F32-E36C-3845-39E0-6A09E12D076A}"/>
          </ac:spMkLst>
        </pc:spChg>
      </pc:sldChg>
      <pc:sldChg chg="modSp mod">
        <pc:chgData name="Jason Wilder" userId="143aa849-2b58-4bc9-a530-0a16d675f324" providerId="ADAL" clId="{CAD288F2-6908-4172-85AF-0D819FB9AD4C}" dt="2024-09-11T17:41:29.712" v="205" actId="20577"/>
        <pc:sldMkLst>
          <pc:docMk/>
          <pc:sldMk cId="4138288580" sldId="269"/>
        </pc:sldMkLst>
        <pc:spChg chg="mod">
          <ac:chgData name="Jason Wilder" userId="143aa849-2b58-4bc9-a530-0a16d675f324" providerId="ADAL" clId="{CAD288F2-6908-4172-85AF-0D819FB9AD4C}" dt="2024-09-11T17:41:29.712" v="205" actId="20577"/>
          <ac:spMkLst>
            <pc:docMk/>
            <pc:sldMk cId="4138288580" sldId="269"/>
            <ac:spMk id="3" creationId="{3520B511-9AA2-EAFC-BBDF-7975CA2015D1}"/>
          </ac:spMkLst>
        </pc:spChg>
      </pc:sldChg>
      <pc:sldChg chg="modSp mod">
        <pc:chgData name="Jason Wilder" userId="143aa849-2b58-4bc9-a530-0a16d675f324" providerId="ADAL" clId="{CAD288F2-6908-4172-85AF-0D819FB9AD4C}" dt="2024-09-11T16:38:58.067" v="181" actId="113"/>
        <pc:sldMkLst>
          <pc:docMk/>
          <pc:sldMk cId="163839495" sldId="270"/>
        </pc:sldMkLst>
        <pc:spChg chg="mod">
          <ac:chgData name="Jason Wilder" userId="143aa849-2b58-4bc9-a530-0a16d675f324" providerId="ADAL" clId="{CAD288F2-6908-4172-85AF-0D819FB9AD4C}" dt="2024-09-11T16:38:58.067" v="181" actId="113"/>
          <ac:spMkLst>
            <pc:docMk/>
            <pc:sldMk cId="163839495" sldId="270"/>
            <ac:spMk id="3" creationId="{73FF28F1-65E8-DE90-B058-FE9F9B904460}"/>
          </ac:spMkLst>
        </pc:spChg>
        <pc:spChg chg="mod">
          <ac:chgData name="Jason Wilder" userId="143aa849-2b58-4bc9-a530-0a16d675f324" providerId="ADAL" clId="{CAD288F2-6908-4172-85AF-0D819FB9AD4C}" dt="2024-09-11T16:38:52.988" v="168" actId="27636"/>
          <ac:spMkLst>
            <pc:docMk/>
            <pc:sldMk cId="163839495" sldId="270"/>
            <ac:spMk id="4" creationId="{4488A350-4024-CC5A-966C-3ECA72DAAFB4}"/>
          </ac:spMkLst>
        </pc:spChg>
      </pc:sldChg>
      <pc:sldChg chg="modSp mod">
        <pc:chgData name="Jason Wilder" userId="143aa849-2b58-4bc9-a530-0a16d675f324" providerId="ADAL" clId="{CAD288F2-6908-4172-85AF-0D819FB9AD4C}" dt="2024-09-11T17:44:29.358" v="208" actId="27636"/>
        <pc:sldMkLst>
          <pc:docMk/>
          <pc:sldMk cId="2340106137" sldId="273"/>
        </pc:sldMkLst>
        <pc:spChg chg="mod">
          <ac:chgData name="Jason Wilder" userId="143aa849-2b58-4bc9-a530-0a16d675f324" providerId="ADAL" clId="{CAD288F2-6908-4172-85AF-0D819FB9AD4C}" dt="2024-09-11T17:44:29.358" v="208" actId="27636"/>
          <ac:spMkLst>
            <pc:docMk/>
            <pc:sldMk cId="2340106137" sldId="273"/>
            <ac:spMk id="3" creationId="{4A9BABCA-A71A-5E5B-DB7A-37211F13A5BB}"/>
          </ac:spMkLst>
        </pc:spChg>
      </pc:sldChg>
      <pc:sldChg chg="modSp mod">
        <pc:chgData name="Jason Wilder" userId="143aa849-2b58-4bc9-a530-0a16d675f324" providerId="ADAL" clId="{CAD288F2-6908-4172-85AF-0D819FB9AD4C}" dt="2024-09-11T18:41:48.508" v="213" actId="14100"/>
        <pc:sldMkLst>
          <pc:docMk/>
          <pc:sldMk cId="2825004224" sldId="274"/>
        </pc:sldMkLst>
        <pc:spChg chg="mod">
          <ac:chgData name="Jason Wilder" userId="143aa849-2b58-4bc9-a530-0a16d675f324" providerId="ADAL" clId="{CAD288F2-6908-4172-85AF-0D819FB9AD4C}" dt="2024-09-11T18:41:44.906" v="212" actId="27636"/>
          <ac:spMkLst>
            <pc:docMk/>
            <pc:sldMk cId="2825004224" sldId="274"/>
            <ac:spMk id="3" creationId="{44841131-A6FF-62D0-D270-7C69DE2FAC97}"/>
          </ac:spMkLst>
        </pc:spChg>
        <pc:spChg chg="mod">
          <ac:chgData name="Jason Wilder" userId="143aa849-2b58-4bc9-a530-0a16d675f324" providerId="ADAL" clId="{CAD288F2-6908-4172-85AF-0D819FB9AD4C}" dt="2024-09-11T18:41:48.508" v="213" actId="14100"/>
          <ac:spMkLst>
            <pc:docMk/>
            <pc:sldMk cId="2825004224" sldId="274"/>
            <ac:spMk id="4" creationId="{C64C5DB7-2A7B-7734-949F-65BBD60A4F6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0T22:39:35.284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6352 993,'0'-4,"0"-6,-12-8,-12-5,-33-19,-23-15,-41-12,-56-15,-38-9,-53-8,-12 1,1 9,12 17,1 4,9 11,25 15,36 16,31 11,37 10,31 5,28 8,15 6,0 9,-3 9,-11 7,-10 6,-11 7,-3 2,-14 10,0-3,-1 1,4-3,5-1,6-4,8-2,6-2,8-5,8 2,-1-3,2 4,0 1,-6 5,-3 2,-2 3,8-4,-6 9,-6 6,-18 18,2 4,-10 13,1 2,0 2,-13 11,0 5,9 2,9-9,13-8,21-11,17-13,17-10,12-9,9-4,18 4,15-2,18 5,23-2,3-3,13 2,13 3,2-2,8 7,9-1,-2-5,3 3,-2-4,7 0,-6-8,27 6,23 4,12 3,8-4,-16-8,-1-3,2-3,13-2,2-3,-2-4,15-7,6-5,-1-4,26 1,4-1,-1 0,-4-6,-6-3,0-3,-23-6,-9 0,-17-2,-7-2,-11-2,-1-2,-2-1,-7-1,-13-1,-5 1,-4 0,4-1,9-3,5-5,6-6,2-3,3-7,0-7,-6-6,-21-1,-18-1,-13-6,-14-7,-8-11,-9-5,-4-12,-3 0,1-9,6-14,0-8,2-6,9-18,4-10,-7 1,-4 0,3-26,-3-12,-9 2,-10 11,-14 11,-11 17,-11 17,-7 13,-13 14,-8 20,-10 11,-12 6,-12 8,-12 6,-9-1,-3 3,-6 6,8 5,3 5,6 3,-6 2,0 6,-3-3,2-2,-2 4,-2 0,-11 0,-23-4,-6-4,-14 1,-21-1,-18 1,9 5,-2 6,-8 1,-16 0,12-3,0 3,8-1,-7-2,10 2,-11 0,-9 2,19 3,25 4,36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0T22:39:40.444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A36DF05-8C81-411D-A7BA-F1E84C33FFE3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E0E0C14-4F64-4600-953B-AC93CDECFE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347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AA2BFF3-6A90-453C-986B-123C8ADE1956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793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7899-093A-4773-B88F-8FDA5CD752B8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117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9144D4-EE80-4A27-AC93-4A77D792C300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561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327E-D293-4745-8E29-15D23CBB039E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1339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212A-AB37-403E-A9FF-9EBE2BD9178C}" type="datetime1">
              <a:rPr lang="en-CA" smtClean="0"/>
              <a:t>2026-01-08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51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9292-8C29-49FF-A521-0BB0B0F52B58}" type="datetime1">
              <a:rPr lang="en-CA" smtClean="0"/>
              <a:t>2026-01-08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295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B4D2-F18B-4380-9944-97DBD226F557}" type="datetime1">
              <a:rPr lang="en-CA" smtClean="0"/>
              <a:t>2026-01-08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418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034A-ED96-4992-B35B-21B4376C9819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748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BBF1E-1B97-4B62-A7C2-7E21C6BCCD77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793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04839-4325-4DA4-BC46-8D982FBC6641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385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377065-0BC6-49AA-BC12-BB75E1EDB266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0182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FEDB4E7-5F33-4C9D-8AC0-648D652C6614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565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7DDB0A6-A2BC-4569-B326-E29200AF7F5D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909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BB86-27CF-4F4B-8624-4CCAC9007918}" type="datetime1">
              <a:rPr lang="en-CA" smtClean="0"/>
              <a:t>2026-01-08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1752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514BD-CCBA-4818-8038-E8A6A8A52CEF}" type="datetime1">
              <a:rPr lang="en-CA" smtClean="0"/>
              <a:t>2026-01-08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4130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A9ED-DA78-4D9B-9845-9544C5217EA5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3624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AD60E80-FD7C-4126-AD26-57F2BE7154DB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35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C3F96-229E-423C-A6FC-098542ECEA18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083ED-0EEC-4920-AEA4-5F97925814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5664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A89C-C740-4421-2747-0C420D70E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COMP2522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FFFAD-7F20-F25F-EE51-B0FB30DF6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Lesson 2: Inheritance, Polymorphism, Exception Handling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20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FE16-524B-B7E7-7636-D9925794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2 Topics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06AC5-E903-1183-CDE9-4DBBF1C22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Inheritance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Default constructor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Overriding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Substitution and Polymorphism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Exception handling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Checked/unchecked exceptions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Creating 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own exceptions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17327-2958-1C1C-CB83-E4E99634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54FC9-7FA3-9D15-7EF4-B08D0333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773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57DC-BF8C-93BF-1203-235531B4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OOP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C1AF3-ECF4-E49E-4CAC-FBF1DB0A7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Characteristic </a:t>
            </a:r>
            <a:r>
              <a:rPr lang="en-US" dirty="0"/>
              <a:t>of object-oriented programming languages:</a:t>
            </a:r>
          </a:p>
          <a:p>
            <a:r>
              <a:rPr lang="en-US" dirty="0"/>
              <a:t>Classes and objects</a:t>
            </a:r>
          </a:p>
          <a:p>
            <a:r>
              <a:rPr lang="en-US" dirty="0"/>
              <a:t>Encapsulation</a:t>
            </a:r>
          </a:p>
          <a:p>
            <a:r>
              <a:rPr lang="en-US" dirty="0"/>
              <a:t>Inheritance</a:t>
            </a:r>
          </a:p>
          <a:p>
            <a:r>
              <a:rPr lang="en-US" dirty="0"/>
              <a:t>Polymorphism</a:t>
            </a:r>
          </a:p>
          <a:p>
            <a:r>
              <a:rPr lang="en-US" dirty="0"/>
              <a:t>Abstraction</a:t>
            </a:r>
          </a:p>
          <a:p>
            <a:r>
              <a:rPr lang="en-US" dirty="0"/>
              <a:t>Composition</a:t>
            </a:r>
          </a:p>
          <a:p>
            <a:endParaRPr lang="en-US" dirty="0"/>
          </a:p>
          <a:p>
            <a:r>
              <a:rPr lang="en-US"/>
              <a:t>Today we study inheritance </a:t>
            </a:r>
            <a:r>
              <a:rPr lang="en-US" dirty="0"/>
              <a:t>and polymorphism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228F4-2933-A54B-CF96-3D22CD2A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F7CBB-A9A8-6965-15BD-0524E860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925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7E08-15E6-62F2-9B2E-E18A5887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 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3075-6138-18FB-0C1E-2C48550D6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Inheritance allows one class ("subclass" or "child" class) to inherit properties and methods from another class ("superclass" or "parent" class). </a:t>
            </a:r>
          </a:p>
          <a:p>
            <a:r>
              <a:rPr lang="en-US"/>
              <a:t>This promotes </a:t>
            </a:r>
            <a:r>
              <a:rPr lang="en-US" u="sng"/>
              <a:t>code reuse</a:t>
            </a:r>
            <a:r>
              <a:rPr lang="en-US"/>
              <a:t> and test reuse (more on that later)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26BE2-F07C-8410-AC29-CC22F5A6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0582D-5578-DE4C-B1AF-D29364C2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216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730D-B753-1EFF-F777-C78417DB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 with biological inheritance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E27D2-DD51-5183-956B-7223426A8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We are familiar with inheritance in biology</a:t>
            </a:r>
          </a:p>
          <a:p>
            <a:r>
              <a:rPr lang="en-US"/>
              <a:t>Imagine behaviors and methods for dogs:</a:t>
            </a:r>
          </a:p>
          <a:p>
            <a:pPr lvl="1"/>
            <a:r>
              <a:rPr lang="en-US"/>
              <a:t>color</a:t>
            </a:r>
          </a:p>
          <a:p>
            <a:pPr lvl="1"/>
            <a:r>
              <a:rPr lang="en-US"/>
              <a:t>sex</a:t>
            </a:r>
          </a:p>
          <a:p>
            <a:pPr lvl="1"/>
            <a:r>
              <a:rPr lang="en-US"/>
              <a:t>breed</a:t>
            </a:r>
          </a:p>
          <a:p>
            <a:pPr lvl="1"/>
            <a:r>
              <a:rPr lang="en-US"/>
              <a:t>tail</a:t>
            </a:r>
          </a:p>
          <a:p>
            <a:pPr lvl="1"/>
            <a:r>
              <a:rPr lang="en-US"/>
              <a:t>name</a:t>
            </a:r>
          </a:p>
          <a:p>
            <a:pPr lvl="1"/>
            <a:r>
              <a:rPr lang="en-US"/>
              <a:t>eat()</a:t>
            </a:r>
          </a:p>
          <a:p>
            <a:pPr lvl="1"/>
            <a:r>
              <a:rPr lang="en-US"/>
              <a:t>bark()</a:t>
            </a:r>
          </a:p>
          <a:p>
            <a:pPr lvl="1"/>
            <a:r>
              <a:rPr lang="en-US"/>
              <a:t>weight in kg</a:t>
            </a:r>
          </a:p>
          <a:p>
            <a:pPr lvl="1"/>
            <a:r>
              <a:rPr lang="en-US"/>
              <a:t>fetch()</a:t>
            </a:r>
          </a:p>
          <a:p>
            <a:pPr lvl="1"/>
            <a:r>
              <a:rPr lang="en-US"/>
              <a:t>warm blooded</a:t>
            </a:r>
          </a:p>
          <a:p>
            <a:pPr lvl="1"/>
            <a:r>
              <a:rPr lang="en-US"/>
              <a:t>sleep()</a:t>
            </a:r>
          </a:p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288C0-20E3-51CC-2E89-070623F1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72B81-CB14-89F5-6D43-1FAA2511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454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4AF1-961A-9AF0-6D9D-B8BF996E8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classes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D418E-FC54-3432-A526-A785D86A7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Actually, most of these data and methods are actually common to other classes…they are not unique to dogs</a:t>
            </a:r>
          </a:p>
          <a:p>
            <a:r>
              <a:rPr lang="en-US"/>
              <a:t>It is often very useful to consider </a:t>
            </a:r>
            <a:r>
              <a:rPr lang="en-US" u="sng"/>
              <a:t>other classes related to</a:t>
            </a:r>
            <a:r>
              <a:rPr lang="en-US"/>
              <a:t> the one we are interested in creating</a:t>
            </a:r>
          </a:p>
          <a:p>
            <a:r>
              <a:rPr lang="en-US"/>
              <a:t>If we are creating a Dog class, we would often be likely creating similar classes such as Cat, Wolf, Animal, GermanShepherd, etc…</a:t>
            </a:r>
          </a:p>
          <a:p>
            <a:r>
              <a:rPr lang="en-US"/>
              <a:t>If we properly place our data and methods in a hierarchical set of classes, eventually we will avoid lots of duplicated code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4B63B-AD43-E641-E261-1A54CB13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27A8-8E0C-9BD9-6A03-3743E24E7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283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62D1-3BC0-30AC-A5C8-EC86A9BA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hierarchy (plus a more techy one)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EE810-F84A-4BC8-D8B0-01A1414E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77956-1C4F-A3D3-BFD8-A8956EA27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7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6D1EF-8DEB-6D5A-5F68-166E6F8C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1928302"/>
            <a:ext cx="9715500" cy="416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9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3CC7-DF0B-A027-5C68-425748B2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25F32-E36C-3845-39E0-6A09E12D0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took the extra time and extra code to create class Dog, but also Canine, Mammal, Animal, Organism, and Matter…it would be relatively fast and easy to add new classes. Consider:</a:t>
            </a:r>
          </a:p>
          <a:p>
            <a:endParaRPr lang="en-US" dirty="0"/>
          </a:p>
          <a:p>
            <a:pPr lvl="1"/>
            <a:r>
              <a:rPr lang="en-US"/>
              <a:t>Wolf:	another Canine subclass; </a:t>
            </a:r>
            <a:r>
              <a:rPr lang="en-US" dirty="0"/>
              <a:t>add howl(), pack, territory,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Cat</a:t>
            </a:r>
            <a:r>
              <a:rPr lang="en-US"/>
              <a:t>: 	first add </a:t>
            </a:r>
            <a:r>
              <a:rPr lang="en-US" b="1" dirty="0"/>
              <a:t>Feline</a:t>
            </a:r>
            <a:r>
              <a:rPr lang="en-US" dirty="0"/>
              <a:t> subclass of Mammal, then Cat subclass of Feline</a:t>
            </a:r>
          </a:p>
          <a:p>
            <a:pPr lvl="1"/>
            <a:r>
              <a:rPr lang="en-US" dirty="0"/>
              <a:t>Salmon</a:t>
            </a:r>
            <a:r>
              <a:rPr lang="en-US"/>
              <a:t>: 	another </a:t>
            </a:r>
            <a:r>
              <a:rPr lang="en-US" dirty="0"/>
              <a:t>Animal subclass </a:t>
            </a:r>
            <a:r>
              <a:rPr lang="en-US"/>
              <a:t>(Animal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Fish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</a:t>
            </a:r>
            <a:r>
              <a:rPr lang="en-US" dirty="0"/>
              <a:t>Salmon?)</a:t>
            </a:r>
          </a:p>
          <a:p>
            <a:pPr lvl="1"/>
            <a:r>
              <a:rPr lang="en-US"/>
              <a:t>Pug: 	a </a:t>
            </a:r>
            <a:r>
              <a:rPr lang="en-US" dirty="0"/>
              <a:t>Dog subclass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E733C-3922-9A41-C65F-0955955E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1328C-7B0B-D835-35CA-BB6AB339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5857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3CC7-DF0B-A027-5C68-425748B2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25F32-E36C-3845-39E0-6A09E12D0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and Test Reusability: Allows the reuse of existing code by creating new classes based on </a:t>
            </a:r>
            <a:r>
              <a:rPr lang="en-US"/>
              <a:t>existing ones</a:t>
            </a:r>
            <a:endParaRPr lang="en-US" dirty="0"/>
          </a:p>
          <a:p>
            <a:r>
              <a:rPr lang="en-US" dirty="0"/>
              <a:t>Extensibility: New features can be added to existing classes without modifying them (e.g. add child classes, leaving the parent </a:t>
            </a:r>
            <a:r>
              <a:rPr lang="en-US"/>
              <a:t>as-is)</a:t>
            </a:r>
            <a:endParaRPr lang="en-US" dirty="0"/>
          </a:p>
          <a:p>
            <a:r>
              <a:rPr lang="en-US" dirty="0"/>
              <a:t>Maintainability: </a:t>
            </a:r>
            <a:r>
              <a:rPr lang="en-US" i="1" dirty="0"/>
              <a:t>Centralized</a:t>
            </a:r>
            <a:r>
              <a:rPr lang="en-US" dirty="0"/>
              <a:t> changes to the parent class propagate to all derived classes, simplifying updates </a:t>
            </a:r>
            <a:r>
              <a:rPr lang="en-US"/>
              <a:t>and maintenance</a:t>
            </a:r>
            <a:endParaRPr lang="en-US" dirty="0"/>
          </a:p>
          <a:p>
            <a:r>
              <a:rPr lang="en-US" dirty="0"/>
              <a:t>Polymorphism: Enables objects of derived classes to be treated as instances of the parent class, enhancing flexibility </a:t>
            </a:r>
            <a:r>
              <a:rPr lang="en-US"/>
              <a:t>and scalability</a:t>
            </a:r>
            <a:endParaRPr lang="en-US" dirty="0"/>
          </a:p>
          <a:p>
            <a:r>
              <a:rPr lang="en-US" dirty="0"/>
              <a:t>Modularity: Promotes modular design by separating common functionality into a base class and specialized behavior into </a:t>
            </a:r>
            <a:r>
              <a:rPr lang="en-US"/>
              <a:t>derived classes</a:t>
            </a:r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C4091-DE0B-99BC-51E9-9B15BB6B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8A86C-FF62-48F2-E403-7D45C0F9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85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AB4D-FD47-1A04-28E8-1BA2507C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ACC71-2518-256C-3852-CEB6393B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1050398" cy="4024125"/>
          </a:xfrm>
        </p:spPr>
        <p:txBody>
          <a:bodyPr/>
          <a:lstStyle/>
          <a:p>
            <a:r>
              <a:rPr lang="en-US"/>
              <a:t>Imagine everything in common among the classes Car, Airplane, and Boat</a:t>
            </a:r>
          </a:p>
          <a:p>
            <a:r>
              <a:rPr lang="en-US"/>
              <a:t>It is very useful to create a common parent class (superclass): Vehicle</a:t>
            </a:r>
          </a:p>
          <a:p>
            <a:endParaRPr lang="en-CA"/>
          </a:p>
          <a:p>
            <a:r>
              <a:rPr lang="en-CA"/>
              <a:t>Imagine a Database class; it would be useful to have that class created first, and then further divided into child classes Oracle, Firebase, MySql, MongoDb, etc….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20B59-D0A2-2CA4-7B56-D074E855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0DBD1-741C-B9E3-3017-C6FFA778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5618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959D-898B-F0C2-3987-55522C9F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extends; Object class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7F69-5C43-BF62-8477-53DCCA649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281" y="2194560"/>
            <a:ext cx="11262919" cy="4024125"/>
          </a:xfrm>
        </p:spPr>
        <p:txBody>
          <a:bodyPr>
            <a:normAutofit fontScale="92500"/>
          </a:bodyPr>
          <a:lstStyle/>
          <a:p>
            <a:r>
              <a:rPr lang="en-US"/>
              <a:t>The </a:t>
            </a:r>
            <a:r>
              <a:rPr lang="en-US" i="1"/>
              <a:t>idea</a:t>
            </a:r>
            <a:r>
              <a:rPr lang="en-US"/>
              <a:t> behind inheritance is simple</a:t>
            </a:r>
          </a:p>
          <a:p>
            <a:r>
              <a:rPr lang="en-US"/>
              <a:t>The code, in Java, is a bit complicated </a:t>
            </a:r>
          </a:p>
          <a:p>
            <a:r>
              <a:rPr lang="en-US"/>
              <a:t>Start by creating the parent class </a:t>
            </a:r>
          </a:p>
          <a:p>
            <a:r>
              <a:rPr lang="en-US"/>
              <a:t>In general, the parent class does not know about any child classes it may or may not have</a:t>
            </a:r>
          </a:p>
          <a:p>
            <a:r>
              <a:rPr lang="en-US"/>
              <a:t>Use the "extends" keyword for a class to become a child class</a:t>
            </a:r>
          </a:p>
          <a:p>
            <a:r>
              <a:rPr lang="en-US"/>
              <a:t>Java supports only single inheritance (can extend maximum one class)</a:t>
            </a:r>
          </a:p>
          <a:p>
            <a:r>
              <a:rPr lang="en-US"/>
              <a:t>The root of the class hierarchy is </a:t>
            </a:r>
            <a:r>
              <a:rPr lang="en-US" b="1"/>
              <a:t>class Object</a:t>
            </a:r>
            <a:r>
              <a:rPr lang="en-US"/>
              <a:t>: it has no parent</a:t>
            </a:r>
          </a:p>
          <a:p>
            <a:r>
              <a:rPr lang="en-US" u="sng"/>
              <a:t>Every</a:t>
            </a:r>
            <a:r>
              <a:rPr lang="en-US"/>
              <a:t> class has Object as a parent (or grandparent, etc…)</a:t>
            </a:r>
          </a:p>
          <a:p>
            <a:r>
              <a:rPr lang="en-US"/>
              <a:t>https://docs.oracle.com/en/java/javase/22/docs/api/java.base/java/lang/Object.html</a:t>
            </a:r>
          </a:p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32246-DA5F-410C-593A-5B5638B4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27519-6F13-277D-B615-4D5CBB0A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214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2BB-BFC6-FFF9-62C1-A4C2F320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"extends" keyword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73B1D-566B-7D0E-ACCD-73EEDED790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/>
              <a:t>class </a:t>
            </a:r>
            <a:r>
              <a:rPr lang="en-CA" dirty="0"/>
              <a:t>Animal</a:t>
            </a:r>
            <a:br>
              <a:rPr lang="en-CA" dirty="0"/>
            </a:b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 private double </a:t>
            </a:r>
            <a:r>
              <a:rPr lang="en-CA" dirty="0" err="1"/>
              <a:t>weightKg</a:t>
            </a:r>
            <a:r>
              <a:rPr lang="en-CA" dirty="0"/>
              <a:t>;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 Animal(final double </a:t>
            </a:r>
            <a:r>
              <a:rPr lang="en-CA" dirty="0" err="1"/>
              <a:t>weightKg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 {</a:t>
            </a:r>
            <a:br>
              <a:rPr lang="en-CA" dirty="0"/>
            </a:br>
            <a:r>
              <a:rPr lang="en-CA" dirty="0"/>
              <a:t>        </a:t>
            </a:r>
            <a:r>
              <a:rPr lang="en-CA" dirty="0" err="1"/>
              <a:t>this.weightKg</a:t>
            </a:r>
            <a:r>
              <a:rPr lang="en-CA" dirty="0"/>
              <a:t> = </a:t>
            </a:r>
            <a:r>
              <a:rPr lang="en-CA" dirty="0" err="1"/>
              <a:t>weightKg</a:t>
            </a:r>
            <a:r>
              <a:rPr lang="en-CA" dirty="0"/>
              <a:t>;</a:t>
            </a:r>
            <a:br>
              <a:rPr lang="en-CA" dirty="0"/>
            </a:br>
            <a:r>
              <a:rPr lang="en-CA" dirty="0"/>
              <a:t>    }</a:t>
            </a:r>
            <a:br>
              <a:rPr lang="en-CA" dirty="0"/>
            </a:br>
            <a:r>
              <a:rPr lang="en-CA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5F3E2-0440-B77F-43D5-F5598172E3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Dog </a:t>
            </a:r>
            <a:r>
              <a:rPr lang="en-US" b="1" dirty="0"/>
              <a:t>extends Animal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Note </a:t>
            </a:r>
            <a:r>
              <a:rPr lang="en-CA"/>
              <a:t>that the Dog </a:t>
            </a:r>
            <a:r>
              <a:rPr lang="en-CA" dirty="0"/>
              <a:t>class will not compile, because its constructor is missing something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C5D5F-C3F3-ABC5-AC70-7D4BAFB0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CB74D-F4BD-6EF3-47F9-105C56FE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9178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D170-C7FC-E1A9-C7CF-34EBF926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Constructors in Hierarchies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B511-9AA2-EAFC-BBDF-7975CA2015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u="sng" dirty="0"/>
              <a:t>If and only if </a:t>
            </a:r>
            <a:r>
              <a:rPr lang="en-US" dirty="0"/>
              <a:t>your class does not provide any constructor, Java will (invisibly) create one for you: </a:t>
            </a:r>
          </a:p>
          <a:p>
            <a:endParaRPr lang="en-US" dirty="0"/>
          </a:p>
          <a:p>
            <a:r>
              <a:rPr lang="en-US" dirty="0"/>
              <a:t>This is called the "default constructor" and it takes zero arguments and does only call super()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7AF38-DA8B-2CAB-0F55-99B4BCEF8D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What you typed:</a:t>
            </a:r>
          </a:p>
          <a:p>
            <a:pPr marL="0" indent="0">
              <a:buNone/>
            </a:pPr>
            <a:r>
              <a:rPr lang="en-US"/>
              <a:t>class Dog </a:t>
            </a:r>
            <a:r>
              <a:rPr lang="en-US" b="1"/>
              <a:t>extends Animal</a:t>
            </a:r>
            <a:br>
              <a:rPr lang="en-US"/>
            </a:br>
            <a:r>
              <a:rPr lang="en-US"/>
              <a:t>{</a:t>
            </a:r>
            <a:br>
              <a:rPr lang="en-US"/>
            </a:br>
            <a:r>
              <a:rPr lang="en-US"/>
              <a:t>    </a:t>
            </a:r>
            <a:br>
              <a:rPr lang="en-US"/>
            </a:br>
            <a:r>
              <a:rPr lang="en-US"/>
              <a:t>}</a:t>
            </a:r>
          </a:p>
          <a:p>
            <a:pPr marL="0" indent="0">
              <a:buNone/>
            </a:pPr>
            <a:endParaRPr lang="en-US"/>
          </a:p>
          <a:p>
            <a:r>
              <a:rPr lang="en-CA"/>
              <a:t>What Java creates:</a:t>
            </a:r>
          </a:p>
          <a:p>
            <a:pPr marL="0" indent="0">
              <a:buNone/>
            </a:pPr>
            <a:r>
              <a:rPr lang="en-US"/>
              <a:t>class Dog extends Animal</a:t>
            </a:r>
            <a:br>
              <a:rPr lang="en-US"/>
            </a:br>
            <a:r>
              <a:rPr lang="en-US"/>
              <a:t>{</a:t>
            </a:r>
            <a:br>
              <a:rPr lang="en-US"/>
            </a:br>
            <a:r>
              <a:rPr lang="en-US" b="1"/>
              <a:t>    Dog()</a:t>
            </a:r>
            <a:br>
              <a:rPr lang="en-US" b="1"/>
            </a:br>
            <a:r>
              <a:rPr lang="en-US" b="1"/>
              <a:t>    {</a:t>
            </a:r>
            <a:br>
              <a:rPr lang="en-US" b="1"/>
            </a:br>
            <a:r>
              <a:rPr lang="en-US" b="1"/>
              <a:t>        super();</a:t>
            </a:r>
            <a:br>
              <a:rPr lang="en-US" b="1"/>
            </a:br>
            <a:r>
              <a:rPr lang="en-US" b="1"/>
              <a:t>    }    </a:t>
            </a:r>
            <a:br>
              <a:rPr lang="en-US"/>
            </a:br>
            <a:r>
              <a:rPr lang="en-US"/>
              <a:t>}</a:t>
            </a:r>
          </a:p>
          <a:p>
            <a:pPr marL="0" indent="0">
              <a:buNone/>
            </a:pP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FC00-2266-D5A4-B41E-7333A9DF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447FD-6434-1EAD-08AE-E2AA1E2E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8288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8D40-7C93-12E8-5712-A74B7AE0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super()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F28F1-65E8-DE90-B058-FE9F9B9044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 most of Java's existence, the very first line in your constructor must be either:</a:t>
            </a:r>
          </a:p>
          <a:p>
            <a:r>
              <a:rPr lang="en-US" b="1" dirty="0"/>
              <a:t>super()</a:t>
            </a:r>
          </a:p>
          <a:p>
            <a:r>
              <a:rPr lang="en-US" dirty="0"/>
              <a:t>or</a:t>
            </a:r>
          </a:p>
          <a:p>
            <a:r>
              <a:rPr lang="en-US" b="1" dirty="0"/>
              <a:t>this()</a:t>
            </a:r>
          </a:p>
          <a:p>
            <a:r>
              <a:rPr lang="en-CA" b="1" dirty="0"/>
              <a:t>…HOWEVER as of Java 22 you can validate your data BEFORE calling super() or this()</a:t>
            </a:r>
          </a:p>
          <a:p>
            <a:r>
              <a:rPr lang="en-CA" dirty="0"/>
              <a:t>super() calls the parent constructor; </a:t>
            </a:r>
            <a:r>
              <a:rPr lang="en-CA"/>
              <a:t>in the previous slide,Dog was </a:t>
            </a:r>
            <a:r>
              <a:rPr lang="en-CA" dirty="0"/>
              <a:t>passing NO ARGUMENTS to its parent class Animal, but Animal needs "double </a:t>
            </a:r>
            <a:r>
              <a:rPr lang="en-CA" dirty="0" err="1"/>
              <a:t>weightKg</a:t>
            </a:r>
            <a:r>
              <a:rPr lang="en-CA" dirty="0"/>
              <a:t>" passed </a:t>
            </a:r>
            <a:r>
              <a:rPr lang="en-CA"/>
              <a:t>to its constructor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8A350-4024-CC5A-966C-3ECA72DAAF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Dog </a:t>
            </a:r>
            <a:r>
              <a:rPr lang="en-US" b="1" dirty="0"/>
              <a:t>extends Animal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Dog(final double </a:t>
            </a:r>
            <a:r>
              <a:rPr lang="en-US" dirty="0" err="1"/>
              <a:t>weightKg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{</a:t>
            </a:r>
            <a:br>
              <a:rPr lang="en-US" dirty="0"/>
            </a:br>
            <a:r>
              <a:rPr lang="en-US" dirty="0"/>
              <a:t>        super(</a:t>
            </a:r>
            <a:r>
              <a:rPr lang="en-US" err="1"/>
              <a:t>weightKg</a:t>
            </a:r>
            <a:r>
              <a:rPr lang="en-US"/>
              <a:t>);   // Animal ctor</a:t>
            </a:r>
            <a:br>
              <a:rPr lang="en-US" dirty="0"/>
            </a:br>
            <a:r>
              <a:rPr lang="en-US" dirty="0"/>
              <a:t>    }    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Fixed!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EF073-1257-3119-F831-E5461502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54191-CAFA-E380-CFA3-A0A4B5E0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839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B103-20B5-8B5B-5721-1718FC10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Better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A5FF2-4328-64AA-A3D6-605329F0B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125" y="1825625"/>
            <a:ext cx="5476875" cy="4351338"/>
          </a:xfrm>
        </p:spPr>
        <p:txBody>
          <a:bodyPr/>
          <a:lstStyle/>
          <a:p>
            <a:r>
              <a:rPr lang="en-CA"/>
              <a:t>class Animal</a:t>
            </a:r>
            <a:br>
              <a:rPr lang="en-CA"/>
            </a:br>
            <a:r>
              <a:rPr lang="en-CA"/>
              <a:t>{</a:t>
            </a:r>
            <a:br>
              <a:rPr lang="en-CA"/>
            </a:br>
            <a:r>
              <a:rPr lang="en-CA"/>
              <a:t>    private double weightKg;</a:t>
            </a:r>
            <a:br>
              <a:rPr lang="en-CA"/>
            </a:br>
            <a:br>
              <a:rPr lang="en-CA"/>
            </a:br>
            <a:r>
              <a:rPr lang="en-CA"/>
              <a:t>    Animal(final double weightKg)</a:t>
            </a:r>
            <a:br>
              <a:rPr lang="en-CA"/>
            </a:br>
            <a:r>
              <a:rPr lang="en-CA"/>
              <a:t>    {</a:t>
            </a:r>
            <a:br>
              <a:rPr lang="en-CA"/>
            </a:br>
            <a:r>
              <a:rPr lang="en-CA"/>
              <a:t>        this.weightKg = weightKg;</a:t>
            </a:r>
            <a:br>
              <a:rPr lang="en-CA"/>
            </a:br>
            <a:r>
              <a:rPr lang="en-CA"/>
              <a:t>    }</a:t>
            </a:r>
            <a:br>
              <a:rPr lang="en-CA"/>
            </a:br>
            <a:r>
              <a:rPr lang="en-CA"/>
              <a:t>}</a:t>
            </a:r>
          </a:p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21F4E-D48E-4464-EEA6-0CC625948C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class Dog </a:t>
            </a:r>
            <a:r>
              <a:rPr lang="en-US" b="1"/>
              <a:t>extends Animal</a:t>
            </a:r>
            <a:br>
              <a:rPr lang="en-US"/>
            </a:br>
            <a:r>
              <a:rPr lang="en-US"/>
              <a:t>{</a:t>
            </a:r>
            <a:br>
              <a:rPr lang="en-US"/>
            </a:br>
            <a:r>
              <a:rPr lang="en-US"/>
              <a:t>    private final String name;</a:t>
            </a:r>
            <a:br>
              <a:rPr lang="en-US"/>
            </a:br>
            <a:br>
              <a:rPr lang="en-US"/>
            </a:br>
            <a:r>
              <a:rPr lang="en-US"/>
              <a:t>    Dog(final double weightKg</a:t>
            </a:r>
            <a:br>
              <a:rPr lang="en-US"/>
            </a:br>
            <a:r>
              <a:rPr lang="en-US"/>
              <a:t>              final String name)</a:t>
            </a:r>
            <a:br>
              <a:rPr lang="en-US"/>
            </a:br>
            <a:r>
              <a:rPr lang="en-US"/>
              <a:t>    {</a:t>
            </a:r>
            <a:br>
              <a:rPr lang="en-US"/>
            </a:br>
            <a:r>
              <a:rPr lang="en-US"/>
              <a:t>        </a:t>
            </a:r>
            <a:r>
              <a:rPr lang="en-US" b="1"/>
              <a:t>super(weightKg);</a:t>
            </a:r>
            <a:br>
              <a:rPr lang="en-US"/>
            </a:br>
            <a:r>
              <a:rPr lang="en-US"/>
              <a:t>        this.name = name;</a:t>
            </a:r>
            <a:br>
              <a:rPr lang="en-US"/>
            </a:br>
            <a:r>
              <a:rPr lang="en-US"/>
              <a:t>    }    </a:t>
            </a:r>
            <a:br>
              <a:rPr lang="en-US"/>
            </a:br>
            <a:r>
              <a:rPr lang="en-US"/>
              <a:t>}</a:t>
            </a:r>
          </a:p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23489-5E2C-A43B-214D-466AA788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30DF4-4550-2B56-0A82-A1874A49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2696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A9EF-E005-7ADD-06D2-97EDB19F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protected</a:t>
            </a:r>
            <a:r>
              <a:rPr lang="en-US"/>
              <a:t> visibility modifier</a:t>
            </a:r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0546A-2FE4-8169-A488-3180F6D9C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visibility of </a:t>
            </a:r>
            <a:r>
              <a:rPr lang="en-US" u="sng"/>
              <a:t>private</a:t>
            </a:r>
            <a:r>
              <a:rPr lang="en-US"/>
              <a:t> data in a parent class is limited to that class only</a:t>
            </a:r>
          </a:p>
          <a:p>
            <a:r>
              <a:rPr lang="en-US"/>
              <a:t>A child can possess parental data that </a:t>
            </a:r>
            <a:r>
              <a:rPr lang="en-US" u="sng"/>
              <a:t>it cannot access directly</a:t>
            </a:r>
          </a:p>
          <a:p>
            <a:r>
              <a:rPr lang="en-US"/>
              <a:t>Create getter and setter methods in the parent class so the child can access the data</a:t>
            </a:r>
          </a:p>
          <a:p>
            <a:endParaRPr lang="en-US"/>
          </a:p>
          <a:p>
            <a:r>
              <a:rPr lang="en-US"/>
              <a:t>The protected visibility modifier limits access to that data/method to:</a:t>
            </a:r>
            <a:endParaRPr lang="en-CA"/>
          </a:p>
          <a:p>
            <a:pPr lvl="1"/>
            <a:r>
              <a:rPr lang="en-CA"/>
              <a:t>That class itself, and</a:t>
            </a:r>
          </a:p>
          <a:p>
            <a:pPr lvl="1"/>
            <a:r>
              <a:rPr lang="en-CA"/>
              <a:t>That class's child classes wherever they are, and</a:t>
            </a:r>
          </a:p>
          <a:p>
            <a:pPr lvl="1"/>
            <a:r>
              <a:rPr lang="en-CA"/>
              <a:t>Any class in the same package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72427-C4CB-495B-F8C7-7422D28C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EC2EA-4A4B-1DDE-FB22-458BC379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215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A9EF-E005-7ADD-06D2-97EDB19F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protected</a:t>
            </a:r>
            <a:r>
              <a:rPr lang="en-US"/>
              <a:t> visibility modifier</a:t>
            </a:r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0546A-2FE4-8169-A488-3180F6D9C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3375" y="1604009"/>
            <a:ext cx="5334000" cy="4024125"/>
          </a:xfrm>
        </p:spPr>
        <p:txBody>
          <a:bodyPr>
            <a:noAutofit/>
          </a:bodyPr>
          <a:lstStyle/>
          <a:p>
            <a:r>
              <a:rPr lang="en-US" sz="3200" dirty="0"/>
              <a:t>It </a:t>
            </a:r>
            <a:r>
              <a:rPr lang="en-US" sz="3200"/>
              <a:t>is a bad idea </a:t>
            </a:r>
            <a:r>
              <a:rPr lang="en-US" sz="3200" dirty="0"/>
              <a:t>to make instance variables protected</a:t>
            </a:r>
          </a:p>
          <a:p>
            <a:r>
              <a:rPr lang="en-US" sz="3200" dirty="0"/>
              <a:t>Trust your own code in your own class</a:t>
            </a:r>
          </a:p>
          <a:p>
            <a:r>
              <a:rPr lang="en-US" sz="3200" dirty="0"/>
              <a:t>Do not allow any class – child or otherwise – to have direct access</a:t>
            </a:r>
          </a:p>
          <a:p>
            <a:r>
              <a:rPr lang="en-US" sz="3200" dirty="0"/>
              <a:t>Make setters and getters protected instead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BABCA-A71A-5E5B-DB7A-37211F13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03633"/>
            <a:ext cx="5334000" cy="441505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Bad:</a:t>
            </a:r>
          </a:p>
          <a:p>
            <a:r>
              <a:rPr lang="en-CA" dirty="0"/>
              <a:t>class Animal</a:t>
            </a:r>
            <a:br>
              <a:rPr lang="en-CA" dirty="0"/>
            </a:b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 </a:t>
            </a:r>
            <a:r>
              <a:rPr lang="en-CA" b="1" dirty="0"/>
              <a:t>protected</a:t>
            </a:r>
            <a:r>
              <a:rPr lang="en-CA" dirty="0"/>
              <a:t> double </a:t>
            </a:r>
            <a:r>
              <a:rPr lang="en-CA" dirty="0" err="1"/>
              <a:t>weightKg</a:t>
            </a:r>
            <a:r>
              <a:rPr lang="en-CA" dirty="0"/>
              <a:t>;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 Animal(final double </a:t>
            </a:r>
            <a:r>
              <a:rPr lang="en-CA" dirty="0" err="1"/>
              <a:t>weightKg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 {</a:t>
            </a:r>
            <a:br>
              <a:rPr lang="en-CA" dirty="0"/>
            </a:br>
            <a:r>
              <a:rPr lang="en-CA" dirty="0"/>
              <a:t>        </a:t>
            </a:r>
            <a:r>
              <a:rPr lang="en-CA" dirty="0" err="1"/>
              <a:t>this.weightKg</a:t>
            </a:r>
            <a:r>
              <a:rPr lang="en-CA" dirty="0"/>
              <a:t> = </a:t>
            </a:r>
            <a:r>
              <a:rPr lang="en-CA" dirty="0" err="1"/>
              <a:t>weightKg</a:t>
            </a:r>
            <a:r>
              <a:rPr lang="en-CA" dirty="0"/>
              <a:t>;</a:t>
            </a:r>
            <a:br>
              <a:rPr lang="en-CA" dirty="0"/>
            </a:br>
            <a:r>
              <a:rPr lang="en-CA" dirty="0"/>
              <a:t>    }</a:t>
            </a:r>
            <a:br>
              <a:rPr lang="en-CA" dirty="0"/>
            </a:br>
            <a:r>
              <a:rPr lang="en-CA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Good:</a:t>
            </a:r>
          </a:p>
          <a:p>
            <a:r>
              <a:rPr lang="en-CA" dirty="0"/>
              <a:t>class Animal</a:t>
            </a:r>
            <a:br>
              <a:rPr lang="en-CA" dirty="0"/>
            </a:b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 </a:t>
            </a:r>
            <a:r>
              <a:rPr lang="en-CA" b="1" dirty="0"/>
              <a:t>private</a:t>
            </a:r>
            <a:r>
              <a:rPr lang="en-CA" dirty="0"/>
              <a:t> double </a:t>
            </a:r>
            <a:r>
              <a:rPr lang="en-CA" dirty="0" err="1"/>
              <a:t>weightKg</a:t>
            </a:r>
            <a:r>
              <a:rPr lang="en-CA" dirty="0"/>
              <a:t>;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 Animal(final double </a:t>
            </a:r>
            <a:r>
              <a:rPr lang="en-CA" dirty="0" err="1"/>
              <a:t>weightKg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 {</a:t>
            </a:r>
            <a:br>
              <a:rPr lang="en-CA" dirty="0"/>
            </a:br>
            <a:r>
              <a:rPr lang="en-CA" dirty="0"/>
              <a:t>        </a:t>
            </a:r>
            <a:r>
              <a:rPr lang="en-CA" dirty="0" err="1"/>
              <a:t>this.weightKg</a:t>
            </a:r>
            <a:r>
              <a:rPr lang="en-CA" dirty="0"/>
              <a:t> = </a:t>
            </a:r>
            <a:r>
              <a:rPr lang="en-CA" dirty="0" err="1"/>
              <a:t>weightKg</a:t>
            </a:r>
            <a:r>
              <a:rPr lang="en-CA" dirty="0"/>
              <a:t>;</a:t>
            </a:r>
            <a:br>
              <a:rPr lang="en-CA" dirty="0"/>
            </a:br>
            <a:r>
              <a:rPr lang="en-CA" dirty="0"/>
              <a:t>    }</a:t>
            </a:r>
          </a:p>
          <a:p>
            <a:pPr marL="0" indent="0">
              <a:buNone/>
            </a:pPr>
            <a:r>
              <a:rPr lang="en-CA" dirty="0"/>
              <a:t>            </a:t>
            </a:r>
            <a:r>
              <a:rPr lang="en-CA"/>
              <a:t>// provide </a:t>
            </a:r>
            <a:r>
              <a:rPr lang="en-CA" b="1" dirty="0"/>
              <a:t>protected </a:t>
            </a:r>
            <a:r>
              <a:rPr lang="en-CA" dirty="0"/>
              <a:t>getters and setters</a:t>
            </a:r>
            <a:br>
              <a:rPr lang="en-CA" dirty="0"/>
            </a:br>
            <a:r>
              <a:rPr lang="en-CA" dirty="0"/>
              <a:t>        }</a:t>
            </a:r>
          </a:p>
          <a:p>
            <a:pPr marL="0" indent="0">
              <a:buNone/>
            </a:pPr>
            <a:r>
              <a:rPr lang="en-CA" dirty="0"/>
              <a:t>}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D5FD0-306B-BE19-E547-CCDB130E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562A6-0B0D-6A3E-2139-62348009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0106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3759-591E-B822-9871-ED94D19C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125" y="137030"/>
            <a:ext cx="8610600" cy="1293028"/>
          </a:xfrm>
        </p:spPr>
        <p:txBody>
          <a:bodyPr/>
          <a:lstStyle/>
          <a:p>
            <a:r>
              <a:rPr lang="en-US"/>
              <a:t>Deeper hierarchy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13A5D-D1D8-8111-9665-FC2CFB2C5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350" y="1368425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1400" dirty="0"/>
              <a:t>class Animal</a:t>
            </a:r>
          </a:p>
          <a:p>
            <a:pPr marL="0" indent="0">
              <a:buNone/>
            </a:pPr>
            <a:r>
              <a:rPr lang="en-CA" sz="1400" dirty="0"/>
              <a:t>{</a:t>
            </a:r>
          </a:p>
          <a:p>
            <a:pPr marL="0" indent="0">
              <a:buNone/>
            </a:pPr>
            <a:r>
              <a:rPr lang="en-CA" sz="1400" dirty="0"/>
              <a:t>    private double </a:t>
            </a:r>
            <a:r>
              <a:rPr lang="en-CA" sz="1400" dirty="0" err="1"/>
              <a:t>weightKg</a:t>
            </a:r>
            <a:r>
              <a:rPr lang="en-CA" sz="1400" dirty="0"/>
              <a:t>;</a:t>
            </a:r>
          </a:p>
          <a:p>
            <a:pPr marL="0" indent="0">
              <a:buNone/>
            </a:pPr>
            <a:r>
              <a:rPr lang="en-CA" sz="1400" dirty="0"/>
              <a:t>    Animal(final double </a:t>
            </a:r>
            <a:r>
              <a:rPr lang="en-CA" sz="1400" dirty="0" err="1"/>
              <a:t>weightKg</a:t>
            </a:r>
            <a:r>
              <a:rPr lang="en-CA" sz="1400" dirty="0"/>
              <a:t>)</a:t>
            </a:r>
          </a:p>
          <a:p>
            <a:pPr marL="0" indent="0">
              <a:buNone/>
            </a:pPr>
            <a:r>
              <a:rPr lang="en-CA" sz="1400" dirty="0"/>
              <a:t>    {       </a:t>
            </a:r>
          </a:p>
          <a:p>
            <a:pPr marL="0" indent="0">
              <a:buNone/>
            </a:pPr>
            <a:r>
              <a:rPr lang="en-CA" sz="1400" dirty="0"/>
              <a:t>        </a:t>
            </a:r>
            <a:r>
              <a:rPr lang="en-CA" sz="1400" dirty="0" err="1"/>
              <a:t>this.weightKg</a:t>
            </a:r>
            <a:r>
              <a:rPr lang="en-CA" sz="1400" dirty="0"/>
              <a:t> = </a:t>
            </a:r>
            <a:r>
              <a:rPr lang="en-CA" sz="1400" dirty="0" err="1"/>
              <a:t>weightKg</a:t>
            </a:r>
            <a:r>
              <a:rPr lang="en-CA" sz="1400" dirty="0"/>
              <a:t>;    </a:t>
            </a:r>
          </a:p>
          <a:p>
            <a:pPr marL="0" indent="0">
              <a:buNone/>
            </a:pPr>
            <a:r>
              <a:rPr lang="en-CA" sz="1400" dirty="0"/>
              <a:t>    }</a:t>
            </a:r>
          </a:p>
          <a:p>
            <a:pPr marL="0" indent="0">
              <a:buNone/>
            </a:pPr>
            <a:r>
              <a:rPr lang="en-CA" sz="1400" dirty="0"/>
              <a:t>    protected double </a:t>
            </a:r>
            <a:r>
              <a:rPr lang="en-CA" sz="1400" dirty="0" err="1"/>
              <a:t>getWeightKg</a:t>
            </a:r>
            <a:r>
              <a:rPr lang="en-CA" sz="1400" dirty="0"/>
              <a:t>()</a:t>
            </a:r>
          </a:p>
          <a:p>
            <a:pPr marL="0" indent="0">
              <a:buNone/>
            </a:pPr>
            <a:r>
              <a:rPr lang="en-CA" sz="1400" dirty="0"/>
              <a:t>    {</a:t>
            </a:r>
          </a:p>
          <a:p>
            <a:pPr marL="0" indent="0">
              <a:buNone/>
            </a:pPr>
            <a:r>
              <a:rPr lang="en-CA" sz="1400" dirty="0"/>
              <a:t>        return </a:t>
            </a:r>
            <a:r>
              <a:rPr lang="en-CA" sz="1400" dirty="0" err="1"/>
              <a:t>weightKg</a:t>
            </a:r>
            <a:r>
              <a:rPr lang="en-CA" sz="1400" dirty="0"/>
              <a:t>;</a:t>
            </a:r>
          </a:p>
          <a:p>
            <a:pPr marL="0" indent="0">
              <a:buNone/>
            </a:pPr>
            <a:r>
              <a:rPr lang="en-CA" sz="1400" dirty="0"/>
              <a:t>    }</a:t>
            </a:r>
          </a:p>
          <a:p>
            <a:pPr marL="0" indent="0">
              <a:buNone/>
            </a:pPr>
            <a:r>
              <a:rPr lang="en-CA" sz="1400" dirty="0"/>
              <a:t>    protected void </a:t>
            </a:r>
            <a:r>
              <a:rPr lang="en-CA" sz="1400" dirty="0" err="1"/>
              <a:t>setWeightKg</a:t>
            </a:r>
            <a:r>
              <a:rPr lang="en-CA" sz="1400" dirty="0"/>
              <a:t>(final double kg)</a:t>
            </a:r>
          </a:p>
          <a:p>
            <a:pPr marL="0" indent="0">
              <a:buNone/>
            </a:pPr>
            <a:r>
              <a:rPr lang="en-CA" sz="1400" dirty="0"/>
              <a:t>    {</a:t>
            </a:r>
          </a:p>
          <a:p>
            <a:pPr marL="0" indent="0">
              <a:buNone/>
            </a:pPr>
            <a:r>
              <a:rPr lang="en-CA" sz="1400" dirty="0"/>
              <a:t>        </a:t>
            </a:r>
            <a:r>
              <a:rPr lang="en-CA" sz="1400" dirty="0" err="1"/>
              <a:t>this.weightKg</a:t>
            </a:r>
            <a:r>
              <a:rPr lang="en-CA" sz="1400" dirty="0"/>
              <a:t> = kg;</a:t>
            </a:r>
          </a:p>
          <a:p>
            <a:pPr marL="0" indent="0">
              <a:buNone/>
            </a:pPr>
            <a:r>
              <a:rPr lang="en-CA" sz="1400" dirty="0"/>
              <a:t>    }</a:t>
            </a:r>
          </a:p>
          <a:p>
            <a:pPr marL="0" indent="0">
              <a:buNone/>
            </a:pPr>
            <a:r>
              <a:rPr lang="en-CA" sz="14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887BF-CB85-0C4D-730B-49BB475B5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1975" y="1341734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class Dog extends Animal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{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private final String name;</a:t>
            </a:r>
          </a:p>
          <a:p>
            <a:pPr marL="0" indent="0">
              <a:buNone/>
            </a:pPr>
            <a:endParaRPr lang="en-CA" sz="1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Dog(final double </a:t>
            </a:r>
            <a:r>
              <a:rPr lang="en-CA" sz="1400" dirty="0" err="1">
                <a:solidFill>
                  <a:srgbClr val="FFFF00"/>
                </a:solidFill>
              </a:rPr>
              <a:t>weightKg</a:t>
            </a:r>
            <a:r>
              <a:rPr lang="en-CA" sz="1400" dirty="0">
                <a:solidFill>
                  <a:srgbClr val="FFFF00"/>
                </a:solidFill>
              </a:rPr>
              <a:t>,</a:t>
            </a:r>
          </a:p>
          <a:p>
            <a:pPr marL="0" indent="0">
              <a:buNone/>
            </a:pPr>
            <a:r>
              <a:rPr lang="en-CA" sz="1400">
                <a:solidFill>
                  <a:srgbClr val="FFFF00"/>
                </a:solidFill>
              </a:rPr>
              <a:t>             final </a:t>
            </a:r>
            <a:r>
              <a:rPr lang="en-CA" sz="1400" dirty="0">
                <a:solidFill>
                  <a:srgbClr val="FFFF00"/>
                </a:solidFill>
              </a:rPr>
              <a:t>String name)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{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    super(</a:t>
            </a:r>
            <a:r>
              <a:rPr lang="en-CA" sz="1400" dirty="0" err="1">
                <a:solidFill>
                  <a:srgbClr val="FFFF00"/>
                </a:solidFill>
              </a:rPr>
              <a:t>weightKg</a:t>
            </a:r>
            <a:r>
              <a:rPr lang="en-CA" sz="1400" dirty="0">
                <a:solidFill>
                  <a:srgbClr val="FFFF00"/>
                </a:solidFill>
              </a:rPr>
              <a:t>);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    this.name = name;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}</a:t>
            </a:r>
          </a:p>
          <a:p>
            <a:pPr marL="0" indent="0">
              <a:buNone/>
            </a:pPr>
            <a:endParaRPr lang="en-CA" sz="1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protected String </a:t>
            </a:r>
            <a:r>
              <a:rPr lang="en-CA" sz="1400" dirty="0" err="1">
                <a:solidFill>
                  <a:srgbClr val="FFFF00"/>
                </a:solidFill>
              </a:rPr>
              <a:t>getName</a:t>
            </a:r>
            <a:r>
              <a:rPr lang="en-CA" sz="1400" dirty="0">
                <a:solidFill>
                  <a:srgbClr val="FFFF00"/>
                </a:solidFill>
              </a:rPr>
              <a:t>()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{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    return name;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    }</a:t>
            </a:r>
          </a:p>
          <a:p>
            <a:pPr marL="0" indent="0">
              <a:buNone/>
            </a:pPr>
            <a:r>
              <a:rPr lang="en-CA" sz="1400" dirty="0">
                <a:solidFill>
                  <a:srgbClr val="FFFF00"/>
                </a:solidFill>
              </a:rPr>
              <a:t>}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46132-7952-AA67-AFF4-B3A13094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5D782-A0E6-12B9-8B78-F72C7F5C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18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911C2-8B85-9950-7876-AFCCF82AE4F2}"/>
              </a:ext>
            </a:extLst>
          </p:cNvPr>
          <p:cNvSpPr txBox="1"/>
          <p:nvPr/>
        </p:nvSpPr>
        <p:spPr>
          <a:xfrm>
            <a:off x="7390701" y="1295400"/>
            <a:ext cx="493464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public class Pitbull extends Dog</a:t>
            </a:r>
          </a:p>
          <a:p>
            <a:r>
              <a:rPr lang="en-CA" sz="1400" dirty="0"/>
              <a:t>{</a:t>
            </a:r>
          </a:p>
          <a:p>
            <a:r>
              <a:rPr lang="en-CA" sz="1400" dirty="0"/>
              <a:t>    private </a:t>
            </a:r>
            <a:r>
              <a:rPr lang="en-CA" sz="1400" dirty="0" err="1"/>
              <a:t>boolean</a:t>
            </a:r>
            <a:r>
              <a:rPr lang="en-CA" sz="1400" dirty="0"/>
              <a:t> trained;</a:t>
            </a:r>
          </a:p>
          <a:p>
            <a:endParaRPr lang="en-CA" sz="1400" dirty="0"/>
          </a:p>
          <a:p>
            <a:r>
              <a:rPr lang="en-CA" sz="1400" dirty="0"/>
              <a:t>    Pitbull(final double </a:t>
            </a:r>
            <a:r>
              <a:rPr lang="en-CA" sz="1400" dirty="0" err="1"/>
              <a:t>weightKg</a:t>
            </a:r>
            <a:r>
              <a:rPr lang="en-CA" sz="1400" dirty="0"/>
              <a:t>,</a:t>
            </a:r>
          </a:p>
          <a:p>
            <a:r>
              <a:rPr lang="en-CA" sz="1400" dirty="0"/>
              <a:t>               final String name,</a:t>
            </a:r>
          </a:p>
          <a:p>
            <a:r>
              <a:rPr lang="en-CA" sz="1400" dirty="0"/>
              <a:t>               final </a:t>
            </a:r>
            <a:r>
              <a:rPr lang="en-CA" sz="1400" dirty="0" err="1"/>
              <a:t>boolean</a:t>
            </a:r>
            <a:r>
              <a:rPr lang="en-CA" sz="1400" dirty="0"/>
              <a:t> trained)</a:t>
            </a:r>
          </a:p>
          <a:p>
            <a:r>
              <a:rPr lang="en-CA" sz="1400" dirty="0"/>
              <a:t>    {</a:t>
            </a:r>
          </a:p>
          <a:p>
            <a:r>
              <a:rPr lang="en-CA" sz="1400" dirty="0"/>
              <a:t>        </a:t>
            </a:r>
            <a:r>
              <a:rPr lang="en-CA" sz="1400" b="1" dirty="0"/>
              <a:t>super(</a:t>
            </a:r>
            <a:r>
              <a:rPr lang="en-CA" sz="1400" b="1" dirty="0" err="1"/>
              <a:t>weightKg</a:t>
            </a:r>
            <a:r>
              <a:rPr lang="en-CA" sz="1400" b="1" dirty="0"/>
              <a:t>, name);</a:t>
            </a:r>
          </a:p>
          <a:p>
            <a:r>
              <a:rPr lang="en-CA" sz="1400" dirty="0"/>
              <a:t>        </a:t>
            </a:r>
            <a:r>
              <a:rPr lang="en-CA" sz="1400" dirty="0" err="1"/>
              <a:t>this.trained</a:t>
            </a:r>
            <a:r>
              <a:rPr lang="en-CA" sz="1400" dirty="0"/>
              <a:t> = trained;</a:t>
            </a:r>
          </a:p>
          <a:p>
            <a:r>
              <a:rPr lang="en-CA" sz="1400" dirty="0"/>
              <a:t>    }</a:t>
            </a:r>
          </a:p>
          <a:p>
            <a:endParaRPr lang="en-CA" sz="1400" dirty="0"/>
          </a:p>
          <a:p>
            <a:r>
              <a:rPr lang="en-CA" sz="1400" dirty="0"/>
              <a:t>    protected </a:t>
            </a:r>
            <a:r>
              <a:rPr lang="en-CA" sz="1400" dirty="0" err="1"/>
              <a:t>boolean</a:t>
            </a:r>
            <a:r>
              <a:rPr lang="en-CA" sz="1400" dirty="0"/>
              <a:t> </a:t>
            </a:r>
            <a:r>
              <a:rPr lang="en-CA" sz="1400" dirty="0" err="1"/>
              <a:t>isTrained</a:t>
            </a:r>
            <a:r>
              <a:rPr lang="en-CA" sz="1400" dirty="0"/>
              <a:t>()</a:t>
            </a:r>
          </a:p>
          <a:p>
            <a:r>
              <a:rPr lang="en-CA" sz="1400" dirty="0"/>
              <a:t>    {</a:t>
            </a:r>
          </a:p>
          <a:p>
            <a:r>
              <a:rPr lang="en-CA" sz="1400" dirty="0"/>
              <a:t>        return trained;</a:t>
            </a:r>
          </a:p>
          <a:p>
            <a:r>
              <a:rPr lang="en-CA" sz="1400" dirty="0"/>
              <a:t>    }</a:t>
            </a:r>
          </a:p>
          <a:p>
            <a:endParaRPr lang="en-CA" sz="1400" dirty="0"/>
          </a:p>
          <a:p>
            <a:r>
              <a:rPr lang="en-CA" sz="1400" dirty="0"/>
              <a:t>    protected void </a:t>
            </a:r>
            <a:r>
              <a:rPr lang="en-CA" sz="1400" dirty="0" err="1"/>
              <a:t>setTrained</a:t>
            </a:r>
            <a:r>
              <a:rPr lang="en-CA" sz="1400" dirty="0"/>
              <a:t>(final </a:t>
            </a:r>
            <a:r>
              <a:rPr lang="en-CA" sz="1400" dirty="0" err="1"/>
              <a:t>boolean</a:t>
            </a:r>
            <a:r>
              <a:rPr lang="en-CA" sz="1400" dirty="0"/>
              <a:t> trained)</a:t>
            </a:r>
          </a:p>
          <a:p>
            <a:r>
              <a:rPr lang="en-CA" sz="1400" dirty="0"/>
              <a:t>    {</a:t>
            </a:r>
          </a:p>
          <a:p>
            <a:r>
              <a:rPr lang="en-CA" sz="1400" dirty="0"/>
              <a:t>        </a:t>
            </a:r>
            <a:r>
              <a:rPr lang="en-CA" sz="1400" dirty="0" err="1"/>
              <a:t>this.trained</a:t>
            </a:r>
            <a:r>
              <a:rPr lang="en-CA" sz="1400" dirty="0"/>
              <a:t> = trained;</a:t>
            </a:r>
          </a:p>
          <a:p>
            <a:r>
              <a:rPr lang="en-CA" sz="1400" dirty="0"/>
              <a:t>    }</a:t>
            </a:r>
          </a:p>
          <a:p>
            <a:r>
              <a:rPr lang="en-CA" sz="1400" dirty="0"/>
              <a:t>}</a:t>
            </a: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084786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F778-52B5-AAA6-4382-15731AB4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775" y="381000"/>
            <a:ext cx="9572625" cy="1293028"/>
          </a:xfrm>
        </p:spPr>
        <p:txBody>
          <a:bodyPr/>
          <a:lstStyle/>
          <a:p>
            <a:r>
              <a:rPr lang="en-US"/>
              <a:t>Polymorphism and Substitution</a:t>
            </a:r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6D0E9B-1FBE-3458-59CC-8358240D6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Polymorphism refers to the ability to treat objects of different child ("derived") classes through a common interface, typically the parent class, allowing methods to behave differently based on the object's actual type </a:t>
            </a:r>
            <a:r>
              <a:rPr lang="en-US"/>
              <a:t>at runtime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/>
              <a:t>This enables flexibility, </a:t>
            </a:r>
            <a:r>
              <a:rPr lang="en-US" dirty="0"/>
              <a:t>where different objects can respond to the same method call in their </a:t>
            </a:r>
            <a:r>
              <a:rPr lang="en-US"/>
              <a:t>own way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Substitution (aka "the </a:t>
            </a:r>
            <a:r>
              <a:rPr lang="en-US" dirty="0" err="1"/>
              <a:t>Liskov</a:t>
            </a:r>
            <a:r>
              <a:rPr lang="en-US" dirty="0"/>
              <a:t> Substitution Principle") specifically refers to the idea that objects of a subclass should be able to replace objects of the parent class without affecting the correctness of </a:t>
            </a:r>
            <a:r>
              <a:rPr lang="en-US"/>
              <a:t>the program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/>
              <a:t>I.e.: A child-class </a:t>
            </a:r>
            <a:r>
              <a:rPr lang="en-US" b="1" dirty="0"/>
              <a:t>object can be used wherever a parent class object </a:t>
            </a:r>
            <a:r>
              <a:rPr lang="en-US" b="1"/>
              <a:t>is expected</a:t>
            </a:r>
            <a:endParaRPr lang="en-US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464A5-F4C4-3C27-AE89-7D1FB140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344A-7AF5-C0E2-49C4-5B38A7B2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7660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9B38-AF05-2528-B78F-2948EF65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Substitution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41131-A6FF-62D0-D270-7C69DE2FA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350627"/>
            <a:ext cx="5334000" cy="486805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dirty="0"/>
              <a:t>class Dolphin extends Animal</a:t>
            </a:r>
          </a:p>
          <a:p>
            <a:pPr marL="0" indent="0">
              <a:buNone/>
            </a:pPr>
            <a:r>
              <a:rPr lang="en-CA" dirty="0"/>
              <a:t>{</a:t>
            </a:r>
          </a:p>
          <a:p>
            <a:pPr marL="0" indent="0">
              <a:buNone/>
            </a:pPr>
            <a:r>
              <a:rPr lang="en-CA" dirty="0"/>
              <a:t>    private </a:t>
            </a:r>
            <a:r>
              <a:rPr lang="en-CA" dirty="0" err="1"/>
              <a:t>boolean</a:t>
            </a:r>
            <a:r>
              <a:rPr lang="en-CA" dirty="0"/>
              <a:t> </a:t>
            </a:r>
            <a:r>
              <a:rPr lang="en-CA" dirty="0" err="1"/>
              <a:t>inCaptivity</a:t>
            </a:r>
            <a:r>
              <a:rPr lang="en-CA" dirty="0"/>
              <a:t>;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    Dolphin(final double </a:t>
            </a:r>
            <a:r>
              <a:rPr lang="en-CA" dirty="0" err="1"/>
              <a:t>weightKg</a:t>
            </a:r>
            <a:r>
              <a:rPr lang="en-CA" dirty="0"/>
              <a:t>,</a:t>
            </a:r>
          </a:p>
          <a:p>
            <a:pPr marL="0" indent="0">
              <a:buNone/>
            </a:pPr>
            <a:r>
              <a:rPr lang="en-CA"/>
              <a:t>                   final </a:t>
            </a:r>
            <a:r>
              <a:rPr lang="en-CA" dirty="0" err="1"/>
              <a:t>boolean</a:t>
            </a:r>
            <a:r>
              <a:rPr lang="en-CA" dirty="0"/>
              <a:t> </a:t>
            </a:r>
            <a:r>
              <a:rPr lang="en-CA" dirty="0" err="1"/>
              <a:t>inCaptivity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    {</a:t>
            </a:r>
          </a:p>
          <a:p>
            <a:pPr marL="0" indent="0">
              <a:buNone/>
            </a:pPr>
            <a:r>
              <a:rPr lang="en-CA" dirty="0"/>
              <a:t>        super(</a:t>
            </a:r>
            <a:r>
              <a:rPr lang="en-CA" dirty="0" err="1"/>
              <a:t>weightKg</a:t>
            </a:r>
            <a:r>
              <a:rPr lang="en-CA" dirty="0"/>
              <a:t>);</a:t>
            </a:r>
          </a:p>
          <a:p>
            <a:pPr marL="0" indent="0">
              <a:buNone/>
            </a:pPr>
            <a:r>
              <a:rPr lang="en-CA" dirty="0"/>
              <a:t>        </a:t>
            </a:r>
            <a:r>
              <a:rPr lang="en-CA" dirty="0" err="1"/>
              <a:t>this.inCaptivity</a:t>
            </a:r>
            <a:r>
              <a:rPr lang="en-CA" dirty="0"/>
              <a:t> = </a:t>
            </a:r>
            <a:r>
              <a:rPr lang="en-CA" dirty="0" err="1"/>
              <a:t>inCaptivity</a:t>
            </a:r>
            <a:r>
              <a:rPr lang="en-CA" dirty="0"/>
              <a:t>;</a:t>
            </a:r>
          </a:p>
          <a:p>
            <a:pPr marL="0" indent="0">
              <a:buNone/>
            </a:pPr>
            <a:r>
              <a:rPr lang="en-CA" dirty="0"/>
              <a:t>    }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    protected </a:t>
            </a:r>
            <a:r>
              <a:rPr lang="en-CA" dirty="0" err="1"/>
              <a:t>boolean</a:t>
            </a:r>
            <a:r>
              <a:rPr lang="en-CA" dirty="0"/>
              <a:t> </a:t>
            </a:r>
            <a:r>
              <a:rPr lang="en-CA" dirty="0" err="1"/>
              <a:t>isInCaptivity</a:t>
            </a:r>
            <a:r>
              <a:rPr lang="en-CA" dirty="0"/>
              <a:t>()</a:t>
            </a:r>
          </a:p>
          <a:p>
            <a:pPr marL="0" indent="0">
              <a:buNone/>
            </a:pPr>
            <a:r>
              <a:rPr lang="en-CA" dirty="0"/>
              <a:t>    {</a:t>
            </a:r>
          </a:p>
          <a:p>
            <a:pPr marL="0" indent="0">
              <a:buNone/>
            </a:pPr>
            <a:r>
              <a:rPr lang="en-CA" dirty="0"/>
              <a:t>        return </a:t>
            </a:r>
            <a:r>
              <a:rPr lang="en-CA" dirty="0" err="1"/>
              <a:t>inCaptivity</a:t>
            </a:r>
            <a:r>
              <a:rPr lang="en-CA" dirty="0"/>
              <a:t>;</a:t>
            </a:r>
          </a:p>
          <a:p>
            <a:pPr marL="0" indent="0">
              <a:buNone/>
            </a:pPr>
            <a:r>
              <a:rPr lang="en-CA" dirty="0"/>
              <a:t>    }</a:t>
            </a:r>
          </a:p>
          <a:p>
            <a:pPr marL="0" indent="0">
              <a:buNone/>
            </a:pPr>
            <a:r>
              <a:rPr lang="en-CA" dirty="0"/>
              <a:t>}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C5DB7-2A7B-7734-949F-65BBD60A4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400" y="1825625"/>
            <a:ext cx="41148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Zoo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public static void main(final 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final Animal a1;</a:t>
            </a:r>
          </a:p>
          <a:p>
            <a:pPr marL="0" indent="0">
              <a:buNone/>
            </a:pPr>
            <a:r>
              <a:rPr lang="en-US" dirty="0"/>
              <a:t>        final Animal a2;</a:t>
            </a:r>
          </a:p>
          <a:p>
            <a:pPr marL="0" indent="0">
              <a:buNone/>
            </a:pPr>
            <a:r>
              <a:rPr lang="en-US" dirty="0"/>
              <a:t>        final Animal a3;</a:t>
            </a:r>
          </a:p>
          <a:p>
            <a:pPr marL="0" indent="0">
              <a:buNone/>
            </a:pPr>
            <a:r>
              <a:rPr lang="en-US" dirty="0"/>
              <a:t>        final Animal a4;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       a1 = new Animal(200.0);</a:t>
            </a:r>
          </a:p>
          <a:p>
            <a:pPr marL="0" indent="0">
              <a:buNone/>
            </a:pPr>
            <a:r>
              <a:rPr lang="en-US" b="1" dirty="0"/>
              <a:t>        a2 = new Dog(30.0, "Rex");</a:t>
            </a:r>
          </a:p>
          <a:p>
            <a:pPr marL="0" indent="0">
              <a:buNone/>
            </a:pPr>
            <a:r>
              <a:rPr lang="en-US" b="1" dirty="0"/>
              <a:t>        a3 = new Pitbull(50.0, "Rocky", true);</a:t>
            </a:r>
          </a:p>
          <a:p>
            <a:pPr marL="0" indent="0">
              <a:buNone/>
            </a:pPr>
            <a:r>
              <a:rPr lang="en-US" b="1" dirty="0"/>
              <a:t>        a4 = new Dolphin(300.0, false);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4B654-4065-0FC4-4261-97C87E0F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A4F58-BC12-56AA-53DF-4D21632B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20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6C12C-78CD-9B8A-8719-913D3C5261AE}"/>
              </a:ext>
            </a:extLst>
          </p:cNvPr>
          <p:cNvSpPr txBox="1"/>
          <p:nvPr/>
        </p:nvSpPr>
        <p:spPr>
          <a:xfrm>
            <a:off x="8229600" y="1825625"/>
            <a:ext cx="33432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"static type" of all four animals is set at compile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this case, all of a1, a2, a3, and a4 have a static type of "Animal".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"dynamic type" is set at runtime.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this case, the dynamic type of a1 is Animal; a2 is Dog; a3 is Pitbull; a4 is Dolphin.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 child can always be used in place of a parent in Java.</a:t>
            </a:r>
          </a:p>
        </p:txBody>
      </p:sp>
    </p:spTree>
    <p:extLst>
      <p:ext uri="{BB962C8B-B14F-4D97-AF65-F5344CB8AC3E}">
        <p14:creationId xmlns:p14="http://schemas.microsoft.com/office/powerpoint/2010/main" val="2825004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9B38-AF05-2528-B78F-2948EF65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instanceof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41131-A6FF-62D0-D270-7C69DE2FA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1825625"/>
            <a:ext cx="11353800" cy="4351338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"instanceof" operator is not used often.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will return true if an object is of the specified class, or is some child (grandchild, etc…) of it.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final Animal a3;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a3 = new Pitbull(50.0, "Rocky", true);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System.out.println(a3 instanceof Object);  // true for objects of </a:t>
            </a:r>
            <a:r>
              <a:rPr lang="en-US" u="sng"/>
              <a:t>any</a:t>
            </a:r>
            <a:r>
              <a:rPr lang="en-US"/>
              <a:t> class</a:t>
            </a:r>
          </a:p>
          <a:p>
            <a:pPr marL="0" indent="0">
              <a:buNone/>
            </a:pPr>
            <a:r>
              <a:rPr lang="en-US"/>
              <a:t>System.out.println(a3 instanceof Animal);  // true</a:t>
            </a:r>
          </a:p>
          <a:p>
            <a:pPr marL="0" indent="0">
              <a:buNone/>
            </a:pPr>
            <a:r>
              <a:rPr lang="en-US"/>
              <a:t>System.out.println(a3 instanceof Dog);       // true</a:t>
            </a:r>
          </a:p>
          <a:p>
            <a:pPr marL="0" indent="0">
              <a:buNone/>
            </a:pPr>
            <a:r>
              <a:rPr lang="en-US"/>
              <a:t>System.out.println(a3 instanceof Pitbull);    // true</a:t>
            </a:r>
          </a:p>
          <a:p>
            <a:pPr marL="0" indent="0">
              <a:buNone/>
            </a:pPr>
            <a:r>
              <a:rPr lang="en-US"/>
              <a:t>System.out.println(a3 instanceof Dolphin); // false</a:t>
            </a:r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CB19D-A49C-058A-A717-8CA6A70E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13D69-F568-F1FB-C0E2-9C0CECFB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1421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9B38-AF05-2528-B78F-2948EF65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Casting 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41131-A6FF-62D0-D270-7C69DE2FA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100" y="1419225"/>
            <a:ext cx="5810250" cy="5073650"/>
          </a:xfrm>
        </p:spPr>
        <p:txBody>
          <a:bodyPr>
            <a:normAutofit fontScale="5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Java, we can convert between compatible types using 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Put the new type in parentheses before the data itself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can use child-class-specific methods this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E.g. System.out.println((double)4);  // change 4 to a double; prints 4.0</a:t>
            </a:r>
          </a:p>
          <a:p>
            <a:pPr marL="0" indent="0">
              <a:buNone/>
            </a:pPr>
            <a:r>
              <a:rPr lang="en-US"/>
              <a:t>final Animal a3;</a:t>
            </a:r>
          </a:p>
          <a:p>
            <a:pPr marL="0" indent="0">
              <a:buNone/>
            </a:pPr>
            <a:r>
              <a:rPr lang="en-US"/>
              <a:t>a3 = new Pitbull(50.0, "Rocky", true);</a:t>
            </a:r>
          </a:p>
          <a:p>
            <a:pPr marL="0" indent="0">
              <a:buNone/>
            </a:pPr>
            <a:r>
              <a:rPr lang="en-US"/>
              <a:t> if(a3 instanceof Dog)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    final Dog d;</a:t>
            </a:r>
          </a:p>
          <a:p>
            <a:pPr marL="0" indent="0">
              <a:buNone/>
            </a:pPr>
            <a:r>
              <a:rPr lang="en-US"/>
              <a:t>    d = (Dog)a3;   // cast</a:t>
            </a:r>
          </a:p>
          <a:p>
            <a:pPr marL="0" indent="0">
              <a:buNone/>
            </a:pPr>
            <a:r>
              <a:rPr lang="en-US"/>
              <a:t>    d.bark();          // treat as Dog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pPr marL="0" indent="0">
              <a:buNone/>
            </a:pPr>
            <a:r>
              <a:rPr lang="en-US"/>
              <a:t>        </a:t>
            </a:r>
          </a:p>
          <a:p>
            <a:pPr marL="0" indent="0">
              <a:buNone/>
            </a:pPr>
            <a:r>
              <a:rPr lang="en-US"/>
              <a:t>if(a3 instanceof Dolphin)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    final Dolphin d;</a:t>
            </a:r>
          </a:p>
          <a:p>
            <a:pPr marL="0" indent="0">
              <a:buNone/>
            </a:pPr>
            <a:r>
              <a:rPr lang="en-US"/>
              <a:t>    d = (Dolphin)a3;   // cast</a:t>
            </a:r>
          </a:p>
          <a:p>
            <a:pPr marL="0" indent="0">
              <a:buNone/>
            </a:pPr>
            <a:r>
              <a:rPr lang="en-US"/>
              <a:t>    d.swim();               // treat as Dolphin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708B6-5A54-0E11-AFA7-D697A821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3672F-9C39-E469-AAA3-2F5BF46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22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FADC5-A9C3-702D-6E5C-A8B0E4FED460}"/>
              </a:ext>
            </a:extLst>
          </p:cNvPr>
          <p:cNvSpPr txBox="1"/>
          <p:nvPr/>
        </p:nvSpPr>
        <p:spPr>
          <a:xfrm>
            <a:off x="6229350" y="2581275"/>
            <a:ext cx="51244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You often should check the object's class before 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Casting to an incompatible class will result in a ClassCastException: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final Dolphin d1;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final Animal a4;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a4 = new Dog();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d1 = (Dolphin)a4;   // compiles, but…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d1.swim();               // crashes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0171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5196-73E8-4FC7-7EAC-20351FAF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9" y="764373"/>
            <a:ext cx="9115425" cy="1293028"/>
          </a:xfrm>
        </p:spPr>
        <p:txBody>
          <a:bodyPr/>
          <a:lstStyle/>
          <a:p>
            <a:r>
              <a:rPr lang="en-US"/>
              <a:t>getClass()</a:t>
            </a:r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94172D-887C-ACDB-8579-8ACD7A174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4505324"/>
            <a:ext cx="11239500" cy="1713361"/>
          </a:xfrm>
        </p:spPr>
        <p:txBody>
          <a:bodyPr/>
          <a:lstStyle/>
          <a:p>
            <a:r>
              <a:rPr lang="en-US"/>
              <a:t>The Object class has methods available to absolutely all classes, since all classes (including arrays) automatically extend Object</a:t>
            </a:r>
          </a:p>
          <a:p>
            <a:r>
              <a:rPr lang="en-CA"/>
              <a:t>The Object class has methods that may be used in place of the instanceof operator: getClass() and getName() and getSimpleName() (no package)</a:t>
            </a:r>
          </a:p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0AE20-D77E-82DA-C4B9-D05182EF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718F5-5E70-61BF-3FEA-4855BA67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23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6AD518-370F-C795-E18B-C6A645728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37030"/>
            <a:ext cx="8696325" cy="428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91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E50F-6AC7-AC6B-D9E4-DEBEF2A9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Overriding / Polymorphism 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1BF70-922E-978B-ECB2-28D56716D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overriding is not the same as overloading</a:t>
            </a:r>
          </a:p>
          <a:p>
            <a:r>
              <a:rPr lang="en-US" dirty="0"/>
              <a:t>Overriding means a child (or grandchild, </a:t>
            </a:r>
            <a:r>
              <a:rPr lang="en-US" err="1"/>
              <a:t>etc</a:t>
            </a:r>
            <a:r>
              <a:rPr lang="en-US"/>
              <a:t>…) class </a:t>
            </a:r>
            <a:r>
              <a:rPr lang="en-US" dirty="0"/>
              <a:t>redefines a method that was already defined higher in the hierarchy</a:t>
            </a:r>
          </a:p>
          <a:p>
            <a:r>
              <a:rPr lang="en-US" dirty="0"/>
              <a:t>The </a:t>
            </a:r>
            <a:r>
              <a:rPr lang="en-US"/>
              <a:t>signature (method name, parameters) must </a:t>
            </a:r>
            <a:r>
              <a:rPr lang="en-US" dirty="0"/>
              <a:t>be </a:t>
            </a:r>
            <a:r>
              <a:rPr lang="en-US"/>
              <a:t>the same in the child as in the parent</a:t>
            </a:r>
            <a:endParaRPr lang="en-US" dirty="0"/>
          </a:p>
          <a:p>
            <a:r>
              <a:rPr lang="en-US" dirty="0"/>
              <a:t>Use the @Override annotation in the new version of the method; if you are in fact NOT overriding a method, the compiler will tell you</a:t>
            </a:r>
          </a:p>
          <a:p>
            <a:r>
              <a:rPr lang="en-US" dirty="0"/>
              <a:t>Static methods and private methods cannot be overridden</a:t>
            </a:r>
          </a:p>
          <a:p>
            <a:r>
              <a:rPr lang="en-US" b="1" dirty="0"/>
              <a:t>The new method's visibility must be the same or wider than the parent version</a:t>
            </a:r>
          </a:p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1CE6A-0CF7-BB12-82AF-F2732019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FECE-E2B7-4097-B0E9-B4F8615B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4787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52B660-E729-1216-AC46-4CA38D5B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016" y="99611"/>
            <a:ext cx="3855971" cy="1293028"/>
          </a:xfrm>
        </p:spPr>
        <p:txBody>
          <a:bodyPr/>
          <a:lstStyle/>
          <a:p>
            <a:r>
              <a:rPr lang="en-US"/>
              <a:t>@Override</a:t>
            </a:r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C602E2-E17C-C71A-3E93-C187C2B69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5425"/>
            <a:ext cx="4572000" cy="4997450"/>
          </a:xfrm>
        </p:spPr>
        <p:txBody>
          <a:bodyPr>
            <a:normAutofit fontScale="77500" lnSpcReduction="20000"/>
          </a:bodyPr>
          <a:lstStyle/>
          <a:p>
            <a:r>
              <a:rPr lang="en-US" sz="1600"/>
              <a:t>Add these methods to the Animal class:</a:t>
            </a:r>
          </a:p>
          <a:p>
            <a:pPr marL="0" indent="0">
              <a:buNone/>
            </a:pPr>
            <a:r>
              <a:rPr lang="en-CA" sz="1600"/>
              <a:t>public void speak()</a:t>
            </a:r>
          </a:p>
          <a:p>
            <a:pPr marL="0" indent="0">
              <a:buNone/>
            </a:pPr>
            <a:r>
              <a:rPr lang="en-CA" sz="1600"/>
              <a:t>{</a:t>
            </a:r>
          </a:p>
          <a:p>
            <a:pPr marL="0" indent="0">
              <a:buNone/>
            </a:pPr>
            <a:r>
              <a:rPr lang="en-CA" sz="1600"/>
              <a:t>    System.out.println("Speaking...");</a:t>
            </a:r>
          </a:p>
          <a:p>
            <a:pPr marL="0" indent="0">
              <a:buNone/>
            </a:pPr>
            <a:r>
              <a:rPr lang="en-CA" sz="1600"/>
              <a:t>}</a:t>
            </a:r>
          </a:p>
          <a:p>
            <a:pPr marL="0" indent="0">
              <a:buNone/>
            </a:pPr>
            <a:r>
              <a:rPr lang="en-CA" sz="1600"/>
              <a:t>protected void move()</a:t>
            </a:r>
          </a:p>
          <a:p>
            <a:pPr marL="0" indent="0">
              <a:buNone/>
            </a:pPr>
            <a:r>
              <a:rPr lang="en-CA" sz="1600"/>
              <a:t>{</a:t>
            </a:r>
          </a:p>
          <a:p>
            <a:pPr marL="0" indent="0">
              <a:buNone/>
            </a:pPr>
            <a:r>
              <a:rPr lang="en-CA" sz="1600"/>
              <a:t>    System.out.println("Moving...");</a:t>
            </a:r>
          </a:p>
          <a:p>
            <a:pPr marL="0" indent="0">
              <a:buNone/>
            </a:pPr>
            <a:r>
              <a:rPr lang="en-CA" sz="1600"/>
              <a:t>}</a:t>
            </a:r>
          </a:p>
          <a:p>
            <a:pPr marL="0" indent="0">
              <a:buNone/>
            </a:pPr>
            <a:endParaRPr lang="en-CA" sz="1600"/>
          </a:p>
          <a:p>
            <a:r>
              <a:rPr lang="en-CA" sz="1600"/>
              <a:t>Now every Animal can speak and move</a:t>
            </a:r>
          </a:p>
          <a:p>
            <a:r>
              <a:rPr lang="en-CA" sz="1600"/>
              <a:t>Since Animals do these behaviors differently, override them in the child classes</a:t>
            </a:r>
          </a:p>
          <a:p>
            <a:r>
              <a:rPr lang="en-CA" sz="1600"/>
              <a:t>speak() MUST remain public in the child versions</a:t>
            </a:r>
          </a:p>
          <a:p>
            <a:r>
              <a:rPr lang="en-CA" sz="1600"/>
              <a:t>move() must be </a:t>
            </a:r>
            <a:r>
              <a:rPr lang="en-CA" sz="1600" b="1"/>
              <a:t>protected or public</a:t>
            </a:r>
            <a:r>
              <a:rPr lang="en-CA" sz="1600"/>
              <a:t>, or it won't compile</a:t>
            </a:r>
          </a:p>
          <a:p>
            <a:r>
              <a:rPr lang="en-CA" sz="1600"/>
              <a:t>This is better and more flexible than having specific methods such as bark() and swim() in </a:t>
            </a:r>
            <a:r>
              <a:rPr lang="en-CA" sz="1600" i="1"/>
              <a:t>only some of the classes</a:t>
            </a:r>
            <a:endParaRPr lang="en-CA" sz="16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143A3-5F9E-3859-5A6C-0EB56E206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7850" y="365125"/>
            <a:ext cx="3438525" cy="58118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sz="1400" b="1"/>
              <a:t> Dog:</a:t>
            </a:r>
          </a:p>
          <a:p>
            <a:pPr marL="0" indent="0">
              <a:buNone/>
            </a:pPr>
            <a:r>
              <a:rPr lang="en-CA" sz="1400"/>
              <a:t>@Override</a:t>
            </a:r>
          </a:p>
          <a:p>
            <a:pPr marL="0" indent="0">
              <a:buNone/>
            </a:pPr>
            <a:r>
              <a:rPr lang="en-CA" sz="1400"/>
              <a:t>    public void speak()</a:t>
            </a:r>
          </a:p>
          <a:p>
            <a:pPr marL="0" indent="0">
              <a:buNone/>
            </a:pPr>
            <a:r>
              <a:rPr lang="en-CA" sz="1400"/>
              <a:t>    {</a:t>
            </a:r>
          </a:p>
          <a:p>
            <a:pPr marL="0" indent="0">
              <a:buNone/>
            </a:pPr>
            <a:r>
              <a:rPr lang="en-CA" sz="1400"/>
              <a:t>        System.out.println("woof woof");</a:t>
            </a:r>
          </a:p>
          <a:p>
            <a:pPr marL="0" indent="0">
              <a:buNone/>
            </a:pPr>
            <a:r>
              <a:rPr lang="en-CA" sz="1400"/>
              <a:t>    }</a:t>
            </a:r>
          </a:p>
          <a:p>
            <a:pPr marL="0" indent="0">
              <a:buNone/>
            </a:pPr>
            <a:r>
              <a:rPr lang="en-CA" sz="1400"/>
              <a:t>    @Override</a:t>
            </a:r>
          </a:p>
          <a:p>
            <a:pPr marL="0" indent="0">
              <a:buNone/>
            </a:pPr>
            <a:r>
              <a:rPr lang="en-CA" sz="1400"/>
              <a:t>    protected void move()</a:t>
            </a:r>
          </a:p>
          <a:p>
            <a:pPr marL="0" indent="0">
              <a:buNone/>
            </a:pPr>
            <a:r>
              <a:rPr lang="en-CA" sz="1400"/>
              <a:t>    {</a:t>
            </a:r>
          </a:p>
          <a:p>
            <a:pPr marL="0" indent="0">
              <a:buNone/>
            </a:pPr>
            <a:r>
              <a:rPr lang="en-CA" sz="1400"/>
              <a:t>        System.out.println("running...");</a:t>
            </a:r>
          </a:p>
          <a:p>
            <a:pPr marL="0" indent="0">
              <a:buNone/>
            </a:pPr>
            <a:r>
              <a:rPr lang="en-CA" sz="1400"/>
              <a:t>    }</a:t>
            </a:r>
          </a:p>
          <a:p>
            <a:pPr marL="0" indent="0">
              <a:buNone/>
            </a:pPr>
            <a:endParaRPr lang="en-CA" sz="1400"/>
          </a:p>
          <a:p>
            <a:pPr marL="0" indent="0">
              <a:buNone/>
            </a:pPr>
            <a:r>
              <a:rPr lang="en-CA" sz="1400" b="1"/>
              <a:t>Dolphin:</a:t>
            </a:r>
          </a:p>
          <a:p>
            <a:pPr marL="0" indent="0">
              <a:buNone/>
            </a:pPr>
            <a:r>
              <a:rPr lang="en-CA" sz="1400"/>
              <a:t> @Override</a:t>
            </a:r>
          </a:p>
          <a:p>
            <a:pPr marL="0" indent="0">
              <a:buNone/>
            </a:pPr>
            <a:r>
              <a:rPr lang="en-CA" sz="1400"/>
              <a:t>    public void speak()</a:t>
            </a:r>
          </a:p>
          <a:p>
            <a:pPr marL="0" indent="0">
              <a:buNone/>
            </a:pPr>
            <a:r>
              <a:rPr lang="en-CA" sz="1400"/>
              <a:t>    {</a:t>
            </a:r>
          </a:p>
          <a:p>
            <a:pPr marL="0" indent="0">
              <a:buNone/>
            </a:pPr>
            <a:r>
              <a:rPr lang="en-CA" sz="1400"/>
              <a:t>        System.out.println("Eee ee e");</a:t>
            </a:r>
          </a:p>
          <a:p>
            <a:pPr marL="0" indent="0">
              <a:buNone/>
            </a:pPr>
            <a:r>
              <a:rPr lang="en-CA" sz="1400"/>
              <a:t>    }</a:t>
            </a:r>
          </a:p>
          <a:p>
            <a:pPr marL="0" indent="0">
              <a:buNone/>
            </a:pPr>
            <a:r>
              <a:rPr lang="en-CA" sz="1400"/>
              <a:t>    @Override</a:t>
            </a:r>
          </a:p>
          <a:p>
            <a:pPr marL="0" indent="0">
              <a:buNone/>
            </a:pPr>
            <a:r>
              <a:rPr lang="en-CA" sz="1400"/>
              <a:t>    public void move()</a:t>
            </a:r>
          </a:p>
          <a:p>
            <a:pPr marL="0" indent="0">
              <a:buNone/>
            </a:pPr>
            <a:r>
              <a:rPr lang="en-CA" sz="1400"/>
              <a:t>    {</a:t>
            </a:r>
          </a:p>
          <a:p>
            <a:pPr marL="0" indent="0">
              <a:buNone/>
            </a:pPr>
            <a:r>
              <a:rPr lang="en-CA" sz="1400"/>
              <a:t>        System.out.println("swimming...");</a:t>
            </a:r>
          </a:p>
          <a:p>
            <a:pPr marL="0" indent="0">
              <a:buNone/>
            </a:pPr>
            <a:r>
              <a:rPr lang="en-CA" sz="1400"/>
              <a:t>    }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661994-5C0D-B359-CEA0-BBF5CE97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8845F96-8E8C-A4FC-9A77-2A3AEE54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83ED-0EEC-4920-AEA4-5F97925814DB}" type="slidenum">
              <a:rPr lang="en-CA" smtClean="0"/>
              <a:t>25</a:t>
            </a:fld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C81CB4-25D6-ACDA-734B-B80C75FB1653}"/>
              </a:ext>
            </a:extLst>
          </p:cNvPr>
          <p:cNvSpPr txBox="1"/>
          <p:nvPr/>
        </p:nvSpPr>
        <p:spPr>
          <a:xfrm>
            <a:off x="8562975" y="267653"/>
            <a:ext cx="343852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a1 = new Animal(200.0);</a:t>
            </a:r>
          </a:p>
          <a:p>
            <a:r>
              <a:rPr lang="en-US" sz="1400"/>
              <a:t>a2 = new Dog(30.0, "Rex");</a:t>
            </a:r>
          </a:p>
          <a:p>
            <a:r>
              <a:rPr lang="en-US" sz="1400"/>
              <a:t>a3 = new Pitbull(50.0, "Rocky", true);</a:t>
            </a:r>
          </a:p>
          <a:p>
            <a:r>
              <a:rPr lang="en-US" sz="1400"/>
              <a:t>a4 = new Dolphin(300.0, false);</a:t>
            </a:r>
          </a:p>
          <a:p>
            <a:endParaRPr lang="en-US" sz="1400"/>
          </a:p>
          <a:p>
            <a:endParaRPr lang="en-US" sz="1400"/>
          </a:p>
          <a:p>
            <a:r>
              <a:rPr lang="en-US" sz="1400" b="1"/>
              <a:t>Polymorphism:</a:t>
            </a:r>
          </a:p>
          <a:p>
            <a:r>
              <a:rPr lang="en-US" sz="1400">
                <a:solidFill>
                  <a:srgbClr val="FFFF00"/>
                </a:solidFill>
              </a:rPr>
              <a:t>At runtime the "closest-matching" version of the overridden methods are called</a:t>
            </a:r>
          </a:p>
          <a:p>
            <a:endParaRPr lang="en-US" sz="1400"/>
          </a:p>
          <a:p>
            <a:r>
              <a:rPr lang="en-US" sz="1400"/>
              <a:t>a1.speak(); // Speaking...</a:t>
            </a:r>
          </a:p>
          <a:p>
            <a:r>
              <a:rPr lang="en-US" sz="1400"/>
              <a:t>a1.move();  // Moving...</a:t>
            </a:r>
          </a:p>
          <a:p>
            <a:endParaRPr lang="en-US" sz="1400"/>
          </a:p>
          <a:p>
            <a:r>
              <a:rPr lang="en-US" sz="1400"/>
              <a:t>a2.speak(); // woof woof </a:t>
            </a:r>
          </a:p>
          <a:p>
            <a:r>
              <a:rPr lang="en-US" sz="1400"/>
              <a:t>a2.move();  // running...</a:t>
            </a:r>
          </a:p>
          <a:p>
            <a:endParaRPr lang="en-US" sz="1400"/>
          </a:p>
          <a:p>
            <a:r>
              <a:rPr lang="en-US" sz="1400"/>
              <a:t>a3.speak(); // woof woof</a:t>
            </a:r>
          </a:p>
          <a:p>
            <a:r>
              <a:rPr lang="en-US" sz="1400"/>
              <a:t>a3.move();  // running...</a:t>
            </a:r>
          </a:p>
          <a:p>
            <a:endParaRPr lang="en-US" sz="1400"/>
          </a:p>
          <a:p>
            <a:r>
              <a:rPr lang="en-US" sz="1400"/>
              <a:t>a4.speak(); // Eee ee e</a:t>
            </a:r>
          </a:p>
          <a:p>
            <a:r>
              <a:rPr lang="en-US" sz="1400"/>
              <a:t>a4.move();  // swimming...</a:t>
            </a:r>
          </a:p>
          <a:p>
            <a:endParaRPr lang="en-US" sz="1400"/>
          </a:p>
          <a:p>
            <a:endParaRPr lang="en-US" sz="1400"/>
          </a:p>
          <a:p>
            <a:r>
              <a:rPr lang="en-CA" sz="1400"/>
              <a:t>Note that we can override methods again and again. If Pitbull </a:t>
            </a:r>
            <a:r>
              <a:rPr lang="en-CA" sz="1400" i="1"/>
              <a:t>further overrode</a:t>
            </a:r>
            <a:r>
              <a:rPr lang="en-CA" sz="1400"/>
              <a:t> these methods, then a3 (above) would have called the Pitbull's version instead</a:t>
            </a:r>
          </a:p>
        </p:txBody>
      </p:sp>
    </p:spTree>
    <p:extLst>
      <p:ext uri="{BB962C8B-B14F-4D97-AF65-F5344CB8AC3E}">
        <p14:creationId xmlns:p14="http://schemas.microsoft.com/office/powerpoint/2010/main" val="3887885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EE8A-7993-4DF3-89E1-7C365684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Exceptions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5C00-8E0E-4C91-B020-4F6A10E0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various “categories” of Exceptions that can be thrown</a:t>
            </a:r>
          </a:p>
          <a:p>
            <a:pPr lvl="1"/>
            <a:r>
              <a:rPr lang="en-US" b="1" dirty="0"/>
              <a:t>Checked</a:t>
            </a:r>
            <a:r>
              <a:rPr lang="en-US" dirty="0"/>
              <a:t> Exceptions: 	1) </a:t>
            </a:r>
            <a:r>
              <a:rPr lang="en-US" i="1" dirty="0"/>
              <a:t>must</a:t>
            </a:r>
            <a:r>
              <a:rPr lang="en-US" dirty="0"/>
              <a:t> be declared; 2) </a:t>
            </a:r>
            <a:r>
              <a:rPr lang="en-US" i="1" dirty="0"/>
              <a:t>must</a:t>
            </a:r>
            <a:r>
              <a:rPr lang="en-US" dirty="0"/>
              <a:t> be wrapped in try/catch</a:t>
            </a:r>
          </a:p>
          <a:p>
            <a:pPr lvl="1"/>
            <a:r>
              <a:rPr lang="en-US" b="1" dirty="0"/>
              <a:t>Unchecked</a:t>
            </a:r>
            <a:r>
              <a:rPr lang="en-US" dirty="0"/>
              <a:t> Exceptions: 	</a:t>
            </a:r>
            <a:r>
              <a:rPr lang="en-US" i="1" dirty="0"/>
              <a:t>optionally</a:t>
            </a:r>
            <a:r>
              <a:rPr lang="en-US" dirty="0"/>
              <a:t> can be in try/catch (aka </a:t>
            </a:r>
            <a:r>
              <a:rPr lang="en-US" dirty="0" err="1"/>
              <a:t>RuntimeException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Custom Exceptions: 	make your </a:t>
            </a:r>
            <a:r>
              <a:rPr lang="en-US" i="1" dirty="0"/>
              <a:t>own</a:t>
            </a:r>
            <a:r>
              <a:rPr lang="en-US" dirty="0"/>
              <a:t> (checked or unchecked) Exceptions</a:t>
            </a:r>
          </a:p>
          <a:p>
            <a:r>
              <a:rPr lang="en-CA" dirty="0"/>
              <a:t>Use checked exceptions when things are likely to go wrong, and can be handled: this </a:t>
            </a:r>
            <a:r>
              <a:rPr lang="en-CA" i="1" dirty="0"/>
              <a:t>forces</a:t>
            </a:r>
            <a:r>
              <a:rPr lang="en-CA" dirty="0"/>
              <a:t> other code to use try/catch and forces the thrower to declare that it throws; both of these are checked at compile time</a:t>
            </a:r>
          </a:p>
          <a:p>
            <a:r>
              <a:rPr lang="en-CA" dirty="0"/>
              <a:t>Use unchecked exceptions when things are unlikely to go wrong</a:t>
            </a:r>
          </a:p>
          <a:p>
            <a:r>
              <a:rPr lang="en-CA" dirty="0"/>
              <a:t>Use custom exceptions only if they add lots of readability and value; otherwise stick to the normal Java Exception classes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E5AB9-2098-4765-8166-B38A06C9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949BD-BA43-4618-B578-D3943575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384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72E94C-8365-403E-AFBA-5DC5926B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 Exceptions</a:t>
            </a:r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16854E-4084-4689-A8BA-DB0C5D04A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46" y="2194560"/>
            <a:ext cx="10947632" cy="4024125"/>
          </a:xfrm>
        </p:spPr>
        <p:txBody>
          <a:bodyPr>
            <a:normAutofit/>
          </a:bodyPr>
          <a:lstStyle/>
          <a:p>
            <a:r>
              <a:rPr lang="en-US" dirty="0"/>
              <a:t>A custom Exception class can help add readability</a:t>
            </a:r>
          </a:p>
          <a:p>
            <a:r>
              <a:rPr lang="en-US" dirty="0"/>
              <a:t>Good idea: 	</a:t>
            </a:r>
            <a:r>
              <a:rPr lang="en-US" dirty="0" err="1"/>
              <a:t>IllegalChessMoveException</a:t>
            </a:r>
            <a:endParaRPr lang="en-US" dirty="0"/>
          </a:p>
          <a:p>
            <a:r>
              <a:rPr lang="en-US" dirty="0"/>
              <a:t>Bad idea: 		</a:t>
            </a:r>
            <a:r>
              <a:rPr lang="en-US" dirty="0" err="1"/>
              <a:t>IllegalLastNameException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IllegalArgumentException</a:t>
            </a:r>
            <a:r>
              <a:rPr lang="en-US" dirty="0"/>
              <a:t> instead of </a:t>
            </a:r>
            <a:r>
              <a:rPr lang="en-US" dirty="0" err="1"/>
              <a:t>IllegalLastNameException</a:t>
            </a:r>
            <a:endParaRPr lang="en-US" dirty="0"/>
          </a:p>
          <a:p>
            <a:r>
              <a:rPr lang="en-CA" dirty="0"/>
              <a:t>Java developers are used to the </a:t>
            </a:r>
            <a:r>
              <a:rPr lang="en-US" dirty="0" err="1"/>
              <a:t>IllegalArgumentException</a:t>
            </a:r>
            <a:endParaRPr lang="en-US" dirty="0"/>
          </a:p>
          <a:p>
            <a:r>
              <a:rPr lang="en-US" dirty="0" err="1"/>
              <a:t>IllegalLastNameException</a:t>
            </a:r>
            <a:r>
              <a:rPr lang="en-US" dirty="0"/>
              <a:t> doesn’t add much more information</a:t>
            </a:r>
          </a:p>
          <a:p>
            <a:r>
              <a:rPr lang="en-US" dirty="0" err="1"/>
              <a:t>IllegalChessMoveException</a:t>
            </a:r>
            <a:r>
              <a:rPr lang="en-US" dirty="0"/>
              <a:t> (in a Chess class) could be helpful though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B4980-612E-4B09-BD24-8E55FD46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D4B25-E3C8-4EF1-8EC4-87ECD772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30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EE8A-7993-4DF3-89E1-7C365684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Exceptions</a:t>
            </a:r>
            <a:endParaRPr lang="en-CA"/>
          </a:p>
        </p:txBody>
      </p:sp>
      <p:pic>
        <p:nvPicPr>
          <p:cNvPr id="1026" name="Picture 2" descr="Java - Exceptions - Tutorialspoint">
            <a:extLst>
              <a:ext uri="{FF2B5EF4-FFF2-40B4-BE49-F238E27FC236}">
                <a16:creationId xmlns:a16="http://schemas.microsoft.com/office/drawing/2014/main" id="{43DB33AD-66B0-4DA8-9248-BB3462761D9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823" y="2315817"/>
            <a:ext cx="5643672" cy="298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0A434-8193-40D3-A9EA-DD29773451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R</a:t>
            </a:r>
            <a:r>
              <a:rPr lang="en-US" b="1"/>
              <a:t>un</a:t>
            </a:r>
            <a:r>
              <a:rPr lang="en-US"/>
              <a:t>timeExceptions are </a:t>
            </a:r>
            <a:r>
              <a:rPr lang="en-US" b="1"/>
              <a:t>un</a:t>
            </a:r>
            <a:r>
              <a:rPr lang="en-US"/>
              <a:t>checked (no need for </a:t>
            </a:r>
            <a:r>
              <a:rPr lang="en-US" i="1"/>
              <a:t>try/catch</a:t>
            </a:r>
            <a:r>
              <a:rPr lang="en-US"/>
              <a:t>; no need to declare with </a:t>
            </a:r>
            <a:r>
              <a:rPr lang="en-US" i="1"/>
              <a:t>throws</a:t>
            </a:r>
            <a:r>
              <a:rPr lang="en-US"/>
              <a:t> declaration)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E5AB9-2098-4765-8166-B38A06C9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949BD-BA43-4618-B578-D3943575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072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72E94C-8365-403E-AFBA-5DC5926B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84175"/>
            <a:ext cx="8610600" cy="1293028"/>
          </a:xfrm>
        </p:spPr>
        <p:txBody>
          <a:bodyPr/>
          <a:lstStyle/>
          <a:p>
            <a:r>
              <a:rPr lang="en-US"/>
              <a:t>Custom Exceptions</a:t>
            </a:r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16854E-4084-4689-A8BA-DB0C5D04A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456841"/>
            <a:ext cx="11341208" cy="472012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Classes that extend </a:t>
            </a:r>
            <a:r>
              <a:rPr lang="en-US" dirty="0" err="1"/>
              <a:t>RuntimeException</a:t>
            </a:r>
            <a:r>
              <a:rPr lang="en-US" dirty="0"/>
              <a:t> are unchecked: </a:t>
            </a:r>
          </a:p>
          <a:p>
            <a:pPr lvl="1"/>
            <a:r>
              <a:rPr lang="en-US" dirty="0"/>
              <a:t>no try/catch needed</a:t>
            </a:r>
          </a:p>
          <a:p>
            <a:pPr lvl="1"/>
            <a:r>
              <a:rPr lang="en-US" dirty="0"/>
              <a:t>no throws declaration needed</a:t>
            </a:r>
          </a:p>
          <a:p>
            <a:r>
              <a:rPr lang="en-US" dirty="0"/>
              <a:t>The following custom Exception class extends Exception (not </a:t>
            </a:r>
            <a:r>
              <a:rPr lang="en-US" dirty="0" err="1"/>
              <a:t>RuntimeException</a:t>
            </a:r>
            <a:r>
              <a:rPr lang="en-US" dirty="0"/>
              <a:t>), so it is a </a:t>
            </a:r>
            <a:r>
              <a:rPr lang="en-US" i="1" dirty="0"/>
              <a:t>checked</a:t>
            </a:r>
            <a:r>
              <a:rPr lang="en-US" dirty="0"/>
              <a:t> Exception: </a:t>
            </a:r>
          </a:p>
          <a:p>
            <a:pPr lvl="1"/>
            <a:r>
              <a:rPr lang="en-US" dirty="0"/>
              <a:t>try/catch is mandatory (or the class will not even compile)</a:t>
            </a:r>
          </a:p>
          <a:p>
            <a:pPr lvl="1"/>
            <a:r>
              <a:rPr lang="en-US" dirty="0"/>
              <a:t>throws declaration is mandatory (or the class will not even compile)</a:t>
            </a:r>
          </a:p>
          <a:p>
            <a:pPr lvl="1"/>
            <a:r>
              <a:rPr lang="en-US" dirty="0"/>
              <a:t>Also let’s use the @throws Javadoc tag too, from the method/constructor that throws it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CA" b="1"/>
              <a:t>class </a:t>
            </a:r>
            <a:r>
              <a:rPr lang="en-CA" b="1" err="1"/>
              <a:t>IllegalChessMoveException</a:t>
            </a:r>
            <a:r>
              <a:rPr lang="en-CA" b="1"/>
              <a:t> </a:t>
            </a:r>
            <a:br>
              <a:rPr lang="en-CA" b="1"/>
            </a:br>
            <a:r>
              <a:rPr lang="en-CA" b="1"/>
              <a:t>                   extends </a:t>
            </a:r>
            <a:r>
              <a:rPr lang="en-CA" b="1" dirty="0"/>
              <a:t>Exception     // not “extends </a:t>
            </a:r>
            <a:r>
              <a:rPr lang="en-CA" b="1" dirty="0" err="1"/>
              <a:t>RuntimeException</a:t>
            </a:r>
            <a:r>
              <a:rPr lang="en-CA" b="1"/>
              <a:t>” (which would be </a:t>
            </a:r>
            <a:r>
              <a:rPr lang="en-CA" b="1" u="sng"/>
              <a:t>un</a:t>
            </a:r>
            <a:r>
              <a:rPr lang="en-CA" b="1"/>
              <a:t>checked</a:t>
            </a:r>
            <a:r>
              <a:rPr lang="en-CA" b="1" dirty="0"/>
              <a:t>)</a:t>
            </a:r>
          </a:p>
          <a:p>
            <a:pPr marL="457200" lvl="1" indent="0">
              <a:buNone/>
            </a:pPr>
            <a:r>
              <a:rPr lang="en-CA" b="1" dirty="0"/>
              <a:t>{</a:t>
            </a:r>
          </a:p>
          <a:p>
            <a:pPr marL="457200" lvl="1" indent="0">
              <a:buNone/>
            </a:pPr>
            <a:r>
              <a:rPr lang="en-CA" b="1" dirty="0"/>
              <a:t>    </a:t>
            </a:r>
            <a:r>
              <a:rPr lang="en-CA" b="1" err="1"/>
              <a:t>IllegalChessMoveException</a:t>
            </a:r>
            <a:r>
              <a:rPr lang="en-CA" b="1"/>
              <a:t>(final String </a:t>
            </a:r>
            <a:r>
              <a:rPr lang="en-CA" b="1" dirty="0"/>
              <a:t>message)</a:t>
            </a:r>
          </a:p>
          <a:p>
            <a:pPr marL="457200" lvl="1" indent="0">
              <a:buNone/>
            </a:pPr>
            <a:r>
              <a:rPr lang="en-CA" b="1" dirty="0"/>
              <a:t>    {</a:t>
            </a:r>
          </a:p>
          <a:p>
            <a:pPr marL="457200" lvl="1" indent="0">
              <a:buNone/>
            </a:pPr>
            <a:r>
              <a:rPr lang="en-CA" b="1" dirty="0"/>
              <a:t>        super(message);</a:t>
            </a:r>
          </a:p>
          <a:p>
            <a:pPr marL="457200" lvl="1" indent="0">
              <a:buNone/>
            </a:pPr>
            <a:r>
              <a:rPr lang="en-CA" b="1" dirty="0"/>
              <a:t>    }</a:t>
            </a:r>
          </a:p>
          <a:p>
            <a:pPr marL="457200" lvl="1" indent="0">
              <a:buNone/>
            </a:pPr>
            <a:r>
              <a:rPr lang="en-CA" b="1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B4980-612E-4B09-BD24-8E55FD46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D4B25-E3C8-4EF1-8EC4-87ECD772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19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3DAF-4726-4123-A05C-00703BC3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Checked Exception: must declare it throws</a:t>
            </a:r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482A1F-7504-4F91-A7B1-87493F917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222" y="2075649"/>
            <a:ext cx="9477375" cy="35909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88955-CD77-4EC7-9598-4F25D1CD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1248E-B88B-4467-A5C5-1D5683BB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56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3DAF-4726-4123-A05C-00703BC3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2193"/>
            <a:ext cx="8610600" cy="1293028"/>
          </a:xfrm>
        </p:spPr>
        <p:txBody>
          <a:bodyPr/>
          <a:lstStyle/>
          <a:p>
            <a:r>
              <a:rPr lang="en-US"/>
              <a:t>Checked Exception: must declare it throws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88955-CD77-4EC7-9598-4F25D1CD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1248E-B88B-4467-A5C5-1D5683BB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C1E512-B101-439E-95F9-7F3F527A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871288"/>
            <a:ext cx="11098696" cy="44845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07BE73-6E37-93A4-E601-FB7BAA5665BB}"/>
                  </a:ext>
                </a:extLst>
              </p14:cNvPr>
              <p14:cNvContentPartPr/>
              <p14:nvPr/>
            </p14:nvContentPartPr>
            <p14:xfrm>
              <a:off x="8216201" y="3400976"/>
              <a:ext cx="3373560" cy="1649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07BE73-6E37-93A4-E601-FB7BAA5665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3201" y="3022976"/>
                <a:ext cx="3499200" cy="240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472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3DAF-4726-4123-A05C-00703BC3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8598"/>
            <a:ext cx="10258425" cy="1293028"/>
          </a:xfrm>
        </p:spPr>
        <p:txBody>
          <a:bodyPr/>
          <a:lstStyle/>
          <a:p>
            <a:r>
              <a:rPr lang="en-US"/>
              <a:t>Checked Exception: must try/catch</a:t>
            </a:r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73364A-E3D7-418D-8259-694135A74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671" y="1264777"/>
            <a:ext cx="11670848" cy="4912186"/>
          </a:xfrm>
        </p:spPr>
        <p:txBody>
          <a:bodyPr>
            <a:normAutofit/>
          </a:bodyPr>
          <a:lstStyle/>
          <a:p>
            <a:r>
              <a:rPr lang="en-US"/>
              <a:t>Note that this </a:t>
            </a:r>
            <a:r>
              <a:rPr lang="en-US" u="sng"/>
              <a:t>will not compile</a:t>
            </a:r>
            <a:r>
              <a:rPr lang="en-US"/>
              <a:t> unless we:</a:t>
            </a:r>
          </a:p>
          <a:p>
            <a:r>
              <a:rPr lang="en-US"/>
              <a:t>1) wrap it in a try/catch, or </a:t>
            </a:r>
          </a:p>
          <a:p>
            <a:r>
              <a:rPr lang="en-US"/>
              <a:t>2) change IllegalChessMoveException to unchecked by changing its parent </a:t>
            </a:r>
            <a:br>
              <a:rPr lang="en-US"/>
            </a:br>
            <a:r>
              <a:rPr lang="en-US"/>
              <a:t>to RuntimeException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88955-CD77-4EC7-9598-4F25D1CD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1248E-B88B-4467-A5C5-1D5683BB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037A7-F906-4B7A-9D3A-6A678F6E0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397" y="2767607"/>
            <a:ext cx="8107122" cy="39280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B2C3AE-FAF8-BDA9-0879-09B7232652FB}"/>
                  </a:ext>
                </a:extLst>
              </p14:cNvPr>
              <p14:cNvContentPartPr/>
              <p14:nvPr/>
            </p14:nvContentPartPr>
            <p14:xfrm>
              <a:off x="5024801" y="203837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B2C3AE-FAF8-BDA9-0879-09B7232652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1801" y="1660736"/>
                <a:ext cx="126000" cy="75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1052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3DAF-4726-4123-A05C-00703BC3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297" y="161260"/>
            <a:ext cx="10445405" cy="1293028"/>
          </a:xfrm>
        </p:spPr>
        <p:txBody>
          <a:bodyPr/>
          <a:lstStyle/>
          <a:p>
            <a:r>
              <a:rPr lang="en-US"/>
              <a:t>Checked Exception: must try/catch</a:t>
            </a:r>
            <a:endParaRPr lang="en-CA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A94095E-8757-422B-8FCA-F8D5B4BCA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45895" y="6302961"/>
            <a:ext cx="5181600" cy="471902"/>
          </a:xfrm>
        </p:spPr>
        <p:txBody>
          <a:bodyPr>
            <a:normAutofit/>
          </a:bodyPr>
          <a:lstStyle/>
          <a:p>
            <a:r>
              <a:rPr lang="en-US"/>
              <a:t>It compiles now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88955-CD77-4EC7-9598-4F25D1CD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1248E-B88B-4467-A5C5-1D5683BB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2BE187-BD52-46F4-810C-C210D27F4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95" y="1180307"/>
            <a:ext cx="909637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82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3DAF-4726-4123-A05C-00703BC3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8574"/>
            <a:ext cx="11697943" cy="1295400"/>
          </a:xfrm>
        </p:spPr>
        <p:txBody>
          <a:bodyPr/>
          <a:lstStyle/>
          <a:p>
            <a:r>
              <a:rPr lang="en-US"/>
              <a:t>Unchecked: try/catch  optional</a:t>
            </a:r>
            <a:endParaRPr lang="en-CA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A0161A7-2F88-47C8-9F0E-55E753CA6D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8213" y="1417920"/>
            <a:ext cx="5157787" cy="1604949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D571EA3-598E-4F3A-BB54-79F53D64481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38213" y="3205722"/>
            <a:ext cx="5183188" cy="173988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88955-CD77-4EC7-9598-4F25D1CD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1248E-B88B-4467-A5C5-1D5683BB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7AF05-14E7-4393-B3E2-1800287EC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018" y="3177188"/>
            <a:ext cx="5638800" cy="17684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0A0DA2-0FC1-47C4-8EFE-422D217133C5}"/>
              </a:ext>
            </a:extLst>
          </p:cNvPr>
          <p:cNvSpPr txBox="1"/>
          <p:nvPr/>
        </p:nvSpPr>
        <p:spPr>
          <a:xfrm>
            <a:off x="1113183" y="5347252"/>
            <a:ext cx="926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move() </a:t>
            </a:r>
            <a:r>
              <a:rPr lang="en-US" b="1" u="sng"/>
              <a:t>throws</a:t>
            </a:r>
            <a:r>
              <a:rPr lang="en-US"/>
              <a:t> declaration is also optional</a:t>
            </a:r>
          </a:p>
          <a:p>
            <a:r>
              <a:rPr lang="en-US"/>
              <a:t>Usually, it’s a bad idea to treat an unchecked Exception like a checked one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0777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8100-D589-40CD-9237-17F5BF00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hierarchy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13BA4-9AD1-4549-9490-1E3D65FC8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Throwable:			anything with this parent, can be thrown</a:t>
            </a:r>
          </a:p>
          <a:p>
            <a:r>
              <a:rPr lang="en-US"/>
              <a:t>Error:				the JVM that runs Java programs has a problem 				with hardware or software (e.g. out of memory)</a:t>
            </a:r>
          </a:p>
          <a:p>
            <a:r>
              <a:rPr lang="en-US"/>
              <a:t>Exception:			program-specific problem out of the programmer’s 				CHECKED control (e.g. a necessary file has been 				deleted; a network connection to a remote 					database is broken)</a:t>
            </a:r>
          </a:p>
          <a:p>
            <a:r>
              <a:rPr lang="en-US"/>
              <a:t>RuntimeException:	a problem made by the programmer needs to UNCHECKED		be fixed (e.g. tried to call toUpperCase() on a 					null String reference): any resulting crash is 					good because it draws our attention and we 					will fix the coding error.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6EDC9-5773-4E13-8CC6-EF3F81A2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4D0FD-CA5B-4ED7-834E-5748127C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841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5FFC-6D5F-4716-AF0A-17F10DFF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 handling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F5EF-48D9-4E6D-9B50-C6B030DAC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main() should not throw exceptions</a:t>
            </a:r>
          </a:p>
          <a:p>
            <a:r>
              <a:rPr lang="en-US"/>
              <a:t>The finally{ } block is always executed (even if try/catch blocks </a:t>
            </a:r>
            <a:r>
              <a:rPr lang="en-US" i="1"/>
              <a:t>return</a:t>
            </a:r>
            <a:r>
              <a:rPr lang="en-US"/>
              <a:t>)</a:t>
            </a:r>
          </a:p>
          <a:p>
            <a:r>
              <a:rPr lang="en-CA"/>
              <a:t>The compiler forces us to handle checked exceptions (by </a:t>
            </a:r>
            <a:r>
              <a:rPr lang="en-CA" u="sng"/>
              <a:t>try/catch</a:t>
            </a:r>
            <a:r>
              <a:rPr lang="en-CA"/>
              <a:t> or by </a:t>
            </a:r>
            <a:r>
              <a:rPr lang="en-CA" u="sng"/>
              <a:t>declaring and rethrowing</a:t>
            </a:r>
            <a:r>
              <a:rPr lang="en-CA"/>
              <a:t> them)</a:t>
            </a:r>
          </a:p>
          <a:p>
            <a:r>
              <a:rPr lang="en-CA"/>
              <a:t>The compiler does not force us to handle unchecked exceptions; don’t try/catch these; let them crash the program and thus draw our attention to make repairs</a:t>
            </a:r>
          </a:p>
          <a:p>
            <a:r>
              <a:rPr lang="en-CA"/>
              <a:t>To handle an exception from a catch block, we can do a number of different things:</a:t>
            </a:r>
          </a:p>
          <a:p>
            <a:pPr lvl="1"/>
            <a:r>
              <a:rPr lang="en-CA"/>
              <a:t>Handle it directly in that catch block</a:t>
            </a:r>
          </a:p>
          <a:p>
            <a:pPr lvl="1"/>
            <a:r>
              <a:rPr lang="en-CA"/>
              <a:t>Call a handler method from the catch block</a:t>
            </a:r>
          </a:p>
          <a:p>
            <a:pPr lvl="1"/>
            <a:r>
              <a:rPr lang="en-CA"/>
              <a:t>Print the stack trace in the catch block (ok for development, not for production)</a:t>
            </a:r>
          </a:p>
          <a:p>
            <a:pPr lvl="1"/>
            <a:endParaRPr lang="en-CA"/>
          </a:p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C7E60-EAB8-4FCB-9C4D-EA8F50DD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1014C-428E-4222-9A8C-EBDE2AA5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60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C9FB-7638-441F-AB9B-99DE9A7E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 Exceptions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6300A-E9E5-4F19-BDFD-DAF0B308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673" y="1878008"/>
            <a:ext cx="11455952" cy="3101983"/>
          </a:xfrm>
        </p:spPr>
        <p:txBody>
          <a:bodyPr>
            <a:normAutofit/>
          </a:bodyPr>
          <a:lstStyle/>
          <a:p>
            <a:r>
              <a:rPr lang="en-US"/>
              <a:t>We can extend the Exception class to create custom Exception classes or even hierarchies (i.e. multiple Exception classes with our own custom parent class)</a:t>
            </a:r>
          </a:p>
          <a:p>
            <a:r>
              <a:rPr lang="en-US"/>
              <a:t>The msg string should be meaningful (e.g. “number 130 out of range of 1 – 100”)</a:t>
            </a:r>
          </a:p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1291D-26D3-40B5-86F8-EAAD640D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2522 Lesson 2: Inheritance, Polymorphism, Exceptions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05F2E-D542-4502-8AE7-EFF5DA36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6918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2163</TotalTime>
  <Words>3592</Words>
  <Application>Microsoft Office PowerPoint</Application>
  <PresentationFormat>Widescreen</PresentationFormat>
  <Paragraphs>474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Century Gothic</vt:lpstr>
      <vt:lpstr>Wingdings</vt:lpstr>
      <vt:lpstr>Vapor Trail</vt:lpstr>
      <vt:lpstr>COMP2522</vt:lpstr>
      <vt:lpstr>Lesson 2 Topics</vt:lpstr>
      <vt:lpstr>OOP</vt:lpstr>
      <vt:lpstr>Inheritance </vt:lpstr>
      <vt:lpstr>Start with biological inheritance</vt:lpstr>
      <vt:lpstr>More classes</vt:lpstr>
      <vt:lpstr>Example hierarchy (plus a more techy one)</vt:lpstr>
      <vt:lpstr>Benefits</vt:lpstr>
      <vt:lpstr>Benefits</vt:lpstr>
      <vt:lpstr>More examples</vt:lpstr>
      <vt:lpstr>extends; Object class</vt:lpstr>
      <vt:lpstr>"extends" keyword</vt:lpstr>
      <vt:lpstr>Constructors in Hierarchies</vt:lpstr>
      <vt:lpstr>super()</vt:lpstr>
      <vt:lpstr>Better</vt:lpstr>
      <vt:lpstr>protected visibility modifier</vt:lpstr>
      <vt:lpstr>protected visibility modifier</vt:lpstr>
      <vt:lpstr>Deeper hierarchy</vt:lpstr>
      <vt:lpstr>Polymorphism and Substitution</vt:lpstr>
      <vt:lpstr>Substitution</vt:lpstr>
      <vt:lpstr>instanceof</vt:lpstr>
      <vt:lpstr>Casting </vt:lpstr>
      <vt:lpstr>getClass()</vt:lpstr>
      <vt:lpstr>Overriding / Polymorphism </vt:lpstr>
      <vt:lpstr>@Override</vt:lpstr>
      <vt:lpstr>Java Exceptions</vt:lpstr>
      <vt:lpstr>Custom Exceptions</vt:lpstr>
      <vt:lpstr>Java Exceptions</vt:lpstr>
      <vt:lpstr>Custom Exceptions</vt:lpstr>
      <vt:lpstr>Checked Exception: must declare it throws</vt:lpstr>
      <vt:lpstr>Checked Exception: must declare it throws</vt:lpstr>
      <vt:lpstr>Checked Exception: must try/catch</vt:lpstr>
      <vt:lpstr>Checked Exception: must try/catch</vt:lpstr>
      <vt:lpstr>Unchecked: try/catch  optional</vt:lpstr>
      <vt:lpstr>Class hierarchy</vt:lpstr>
      <vt:lpstr>Exception handling</vt:lpstr>
      <vt:lpstr>Custom Exceptions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Wilder</dc:creator>
  <cp:lastModifiedBy>Jason Wilder</cp:lastModifiedBy>
  <cp:revision>124</cp:revision>
  <cp:lastPrinted>2025-09-11T20:26:22Z</cp:lastPrinted>
  <dcterms:created xsi:type="dcterms:W3CDTF">2024-09-09T17:13:49Z</dcterms:created>
  <dcterms:modified xsi:type="dcterms:W3CDTF">2026-01-08T17:50:31Z</dcterms:modified>
</cp:coreProperties>
</file>