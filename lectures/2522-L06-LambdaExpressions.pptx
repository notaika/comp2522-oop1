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sldIdLst>
    <p:sldId id="256" r:id="rId2"/>
    <p:sldId id="527" r:id="rId3"/>
    <p:sldId id="507" r:id="rId4"/>
    <p:sldId id="508" r:id="rId5"/>
    <p:sldId id="509" r:id="rId6"/>
    <p:sldId id="510" r:id="rId7"/>
    <p:sldId id="511" r:id="rId8"/>
    <p:sldId id="512" r:id="rId9"/>
    <p:sldId id="513" r:id="rId10"/>
    <p:sldId id="514" r:id="rId11"/>
    <p:sldId id="515" r:id="rId12"/>
    <p:sldId id="516" r:id="rId13"/>
    <p:sldId id="517" r:id="rId14"/>
    <p:sldId id="525" r:id="rId15"/>
    <p:sldId id="529" r:id="rId16"/>
    <p:sldId id="27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114" d="100"/>
          <a:sy n="114" d="100"/>
        </p:scale>
        <p:origin x="2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1F57F-5510-4C7A-8AF5-C95187A7563D}" type="datetimeFigureOut">
              <a:rPr lang="en-CA" smtClean="0"/>
              <a:t>2025-09-04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8C5C9-53D7-4109-B0C1-945BDC543CEE}" type="slidenum">
              <a:rPr lang="en-CA" smtClean="0"/>
              <a:t>‹#›</a:t>
            </a:fld>
            <a:endParaRPr lang="en-CA"/>
          </a:p>
        </p:txBody>
      </p:sp>
    </p:spTree>
    <p:extLst>
      <p:ext uri="{BB962C8B-B14F-4D97-AF65-F5344CB8AC3E}">
        <p14:creationId xmlns:p14="http://schemas.microsoft.com/office/powerpoint/2010/main" val="2875957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F4764A-A8EE-453A-A4C3-4F2FD052E5C8}" type="datetime1">
              <a:rPr lang="en-CA" smtClean="0"/>
              <a:t>2025-09-04</a:t>
            </a:fld>
            <a:endParaRPr lang="en-CA"/>
          </a:p>
        </p:txBody>
      </p:sp>
      <p:sp>
        <p:nvSpPr>
          <p:cNvPr id="5" name="Footer Placeholder 4"/>
          <p:cNvSpPr>
            <a:spLocks noGrp="1"/>
          </p:cNvSpPr>
          <p:nvPr>
            <p:ph type="ftr" sz="quarter" idx="11"/>
          </p:nvPr>
        </p:nvSpPr>
        <p:spPr/>
        <p:txBody>
          <a:bodyPr/>
          <a:lstStyle/>
          <a:p>
            <a:r>
              <a:rPr lang="fr-FR"/>
              <a:t>2522 Lesson 6: Lambda Expressions</a:t>
            </a:r>
            <a:endParaRPr lang="en-CA"/>
          </a:p>
        </p:txBody>
      </p:sp>
      <p:sp>
        <p:nvSpPr>
          <p:cNvPr id="6" name="Slide Number Placeholder 5"/>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560324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E050F9-57F8-41FA-8BE4-A6977B1BEE9C}" type="datetime1">
              <a:rPr lang="en-CA" smtClean="0"/>
              <a:t>2025-09-04</a:t>
            </a:fld>
            <a:endParaRPr lang="en-CA"/>
          </a:p>
        </p:txBody>
      </p:sp>
      <p:sp>
        <p:nvSpPr>
          <p:cNvPr id="5" name="Footer Placeholder 4"/>
          <p:cNvSpPr>
            <a:spLocks noGrp="1"/>
          </p:cNvSpPr>
          <p:nvPr>
            <p:ph type="ftr" sz="quarter" idx="11"/>
          </p:nvPr>
        </p:nvSpPr>
        <p:spPr/>
        <p:txBody>
          <a:bodyPr/>
          <a:lstStyle/>
          <a:p>
            <a:r>
              <a:rPr lang="fr-FR"/>
              <a:t>2522 Lesson 6: Lambda Expressions</a:t>
            </a:r>
            <a:endParaRPr lang="en-CA"/>
          </a:p>
        </p:txBody>
      </p:sp>
      <p:sp>
        <p:nvSpPr>
          <p:cNvPr id="6" name="Slide Number Placeholder 5"/>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148674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32542-4CEE-4CD0-94A8-DC79C760910D}" type="datetime1">
              <a:rPr lang="en-CA" smtClean="0"/>
              <a:t>2025-09-04</a:t>
            </a:fld>
            <a:endParaRPr lang="en-CA"/>
          </a:p>
        </p:txBody>
      </p:sp>
      <p:sp>
        <p:nvSpPr>
          <p:cNvPr id="5" name="Footer Placeholder 4"/>
          <p:cNvSpPr>
            <a:spLocks noGrp="1"/>
          </p:cNvSpPr>
          <p:nvPr>
            <p:ph type="ftr" sz="quarter" idx="11"/>
          </p:nvPr>
        </p:nvSpPr>
        <p:spPr/>
        <p:txBody>
          <a:bodyPr/>
          <a:lstStyle/>
          <a:p>
            <a:r>
              <a:rPr lang="fr-FR"/>
              <a:t>2522 Lesson 6: Lambda Expressions</a:t>
            </a:r>
            <a:endParaRPr lang="en-CA"/>
          </a:p>
        </p:txBody>
      </p:sp>
      <p:sp>
        <p:nvSpPr>
          <p:cNvPr id="6" name="Slide Number Placeholder 5"/>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740984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9E402C-280C-46A7-8CF7-5963E2E24271}" type="datetime1">
              <a:rPr lang="en-CA" smtClean="0"/>
              <a:t>2025-09-04</a:t>
            </a:fld>
            <a:endParaRPr lang="en-CA"/>
          </a:p>
        </p:txBody>
      </p:sp>
      <p:sp>
        <p:nvSpPr>
          <p:cNvPr id="6" name="Footer Placeholder 5"/>
          <p:cNvSpPr>
            <a:spLocks noGrp="1"/>
          </p:cNvSpPr>
          <p:nvPr>
            <p:ph type="ftr" sz="quarter" idx="11"/>
          </p:nvPr>
        </p:nvSpPr>
        <p:spPr/>
        <p:txBody>
          <a:bodyPr/>
          <a:lstStyle/>
          <a:p>
            <a:r>
              <a:rPr lang="fr-FR"/>
              <a:t>2522 Lesson 6: Lambda Expressions</a:t>
            </a:r>
            <a:endParaRPr lang="en-CA"/>
          </a:p>
        </p:txBody>
      </p:sp>
      <p:sp>
        <p:nvSpPr>
          <p:cNvPr id="7" name="Slide Number Placeholder 6"/>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2067956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B31D1E-89A4-4607-807B-120F5AE5BBCE}" type="datetime1">
              <a:rPr lang="en-CA" smtClean="0"/>
              <a:t>2025-09-04</a:t>
            </a:fld>
            <a:endParaRPr lang="en-CA"/>
          </a:p>
        </p:txBody>
      </p:sp>
      <p:sp>
        <p:nvSpPr>
          <p:cNvPr id="8" name="Footer Placeholder 7"/>
          <p:cNvSpPr>
            <a:spLocks noGrp="1"/>
          </p:cNvSpPr>
          <p:nvPr>
            <p:ph type="ftr" sz="quarter" idx="11"/>
          </p:nvPr>
        </p:nvSpPr>
        <p:spPr/>
        <p:txBody>
          <a:bodyPr/>
          <a:lstStyle/>
          <a:p>
            <a:r>
              <a:rPr lang="fr-FR"/>
              <a:t>2522 Lesson 6: Lambda Expressions</a:t>
            </a:r>
            <a:endParaRPr lang="en-CA"/>
          </a:p>
        </p:txBody>
      </p:sp>
      <p:sp>
        <p:nvSpPr>
          <p:cNvPr id="9" name="Slide Number Placeholder 8"/>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2111211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CC85A-3342-4A0A-A626-BD0842306F28}" type="datetime1">
              <a:rPr lang="en-CA" smtClean="0"/>
              <a:t>2025-09-04</a:t>
            </a:fld>
            <a:endParaRPr lang="en-CA"/>
          </a:p>
        </p:txBody>
      </p:sp>
      <p:sp>
        <p:nvSpPr>
          <p:cNvPr id="4" name="Footer Placeholder 3"/>
          <p:cNvSpPr>
            <a:spLocks noGrp="1"/>
          </p:cNvSpPr>
          <p:nvPr>
            <p:ph type="ftr" sz="quarter" idx="11"/>
          </p:nvPr>
        </p:nvSpPr>
        <p:spPr/>
        <p:txBody>
          <a:bodyPr/>
          <a:lstStyle/>
          <a:p>
            <a:r>
              <a:rPr lang="fr-FR"/>
              <a:t>2522 Lesson 6: Lambda Expressions</a:t>
            </a:r>
            <a:endParaRPr lang="en-CA"/>
          </a:p>
        </p:txBody>
      </p:sp>
      <p:sp>
        <p:nvSpPr>
          <p:cNvPr id="5" name="Slide Number Placeholder 4"/>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2664161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F0EA0A-0E18-4948-A445-FBCCC0F02AA9}" type="datetime1">
              <a:rPr lang="en-CA" smtClean="0"/>
              <a:t>2025-09-04</a:t>
            </a:fld>
            <a:endParaRPr lang="en-CA"/>
          </a:p>
        </p:txBody>
      </p:sp>
      <p:sp>
        <p:nvSpPr>
          <p:cNvPr id="3" name="Footer Placeholder 2"/>
          <p:cNvSpPr>
            <a:spLocks noGrp="1"/>
          </p:cNvSpPr>
          <p:nvPr>
            <p:ph type="ftr" sz="quarter" idx="11"/>
          </p:nvPr>
        </p:nvSpPr>
        <p:spPr/>
        <p:txBody>
          <a:bodyPr/>
          <a:lstStyle/>
          <a:p>
            <a:r>
              <a:rPr lang="fr-FR"/>
              <a:t>2522 Lesson 6: Lambda Expressions</a:t>
            </a:r>
            <a:endParaRPr lang="en-CA"/>
          </a:p>
        </p:txBody>
      </p:sp>
      <p:sp>
        <p:nvSpPr>
          <p:cNvPr id="4" name="Slide Number Placeholder 3"/>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237945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485A28-A2FC-4F34-8EFD-74AB4362991A}" type="datetime1">
              <a:rPr lang="en-CA" smtClean="0"/>
              <a:t>2025-09-04</a:t>
            </a:fld>
            <a:endParaRPr lang="en-CA"/>
          </a:p>
        </p:txBody>
      </p:sp>
      <p:sp>
        <p:nvSpPr>
          <p:cNvPr id="6" name="Footer Placeholder 5"/>
          <p:cNvSpPr>
            <a:spLocks noGrp="1"/>
          </p:cNvSpPr>
          <p:nvPr>
            <p:ph type="ftr" sz="quarter" idx="11"/>
          </p:nvPr>
        </p:nvSpPr>
        <p:spPr/>
        <p:txBody>
          <a:bodyPr/>
          <a:lstStyle/>
          <a:p>
            <a:r>
              <a:rPr lang="fr-FR"/>
              <a:t>2522 Lesson 6: Lambda Expressions</a:t>
            </a:r>
            <a:endParaRPr lang="en-CA"/>
          </a:p>
        </p:txBody>
      </p:sp>
      <p:sp>
        <p:nvSpPr>
          <p:cNvPr id="7" name="Slide Number Placeholder 6"/>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2134941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58FD64-50D0-4EA8-B3F2-C0FA72B152BA}" type="datetime1">
              <a:rPr lang="en-CA" smtClean="0"/>
              <a:t>2025-09-04</a:t>
            </a:fld>
            <a:endParaRPr lang="en-CA"/>
          </a:p>
        </p:txBody>
      </p:sp>
      <p:sp>
        <p:nvSpPr>
          <p:cNvPr id="6" name="Footer Placeholder 5"/>
          <p:cNvSpPr>
            <a:spLocks noGrp="1"/>
          </p:cNvSpPr>
          <p:nvPr>
            <p:ph type="ftr" sz="quarter" idx="11"/>
          </p:nvPr>
        </p:nvSpPr>
        <p:spPr/>
        <p:txBody>
          <a:bodyPr/>
          <a:lstStyle/>
          <a:p>
            <a:r>
              <a:rPr lang="fr-FR"/>
              <a:t>2522 Lesson 6: Lambda Expressions</a:t>
            </a:r>
            <a:endParaRPr lang="en-CA"/>
          </a:p>
        </p:txBody>
      </p:sp>
      <p:sp>
        <p:nvSpPr>
          <p:cNvPr id="7" name="Slide Number Placeholder 6"/>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552069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BD0B11-F8A7-4562-A093-DB4D39B31653}" type="datetime1">
              <a:rPr lang="en-CA" smtClean="0"/>
              <a:t>2025-09-04</a:t>
            </a:fld>
            <a:endParaRPr lang="en-CA"/>
          </a:p>
        </p:txBody>
      </p:sp>
      <p:sp>
        <p:nvSpPr>
          <p:cNvPr id="5" name="Footer Placeholder 4"/>
          <p:cNvSpPr>
            <a:spLocks noGrp="1"/>
          </p:cNvSpPr>
          <p:nvPr>
            <p:ph type="ftr" sz="quarter" idx="11"/>
          </p:nvPr>
        </p:nvSpPr>
        <p:spPr/>
        <p:txBody>
          <a:bodyPr/>
          <a:lstStyle/>
          <a:p>
            <a:r>
              <a:rPr lang="fr-FR"/>
              <a:t>2522 Lesson 6: Lambda Expressions</a:t>
            </a:r>
            <a:endParaRPr lang="en-CA"/>
          </a:p>
        </p:txBody>
      </p:sp>
      <p:sp>
        <p:nvSpPr>
          <p:cNvPr id="6" name="Slide Number Placeholder 5"/>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3985480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C0CCE-E0AF-44DE-BF22-E21D9FC6BEFB}" type="datetime1">
              <a:rPr lang="en-CA" smtClean="0"/>
              <a:t>2025-09-04</a:t>
            </a:fld>
            <a:endParaRPr lang="en-CA"/>
          </a:p>
        </p:txBody>
      </p:sp>
      <p:sp>
        <p:nvSpPr>
          <p:cNvPr id="5" name="Footer Placeholder 4"/>
          <p:cNvSpPr>
            <a:spLocks noGrp="1"/>
          </p:cNvSpPr>
          <p:nvPr>
            <p:ph type="ftr" sz="quarter" idx="11"/>
          </p:nvPr>
        </p:nvSpPr>
        <p:spPr/>
        <p:txBody>
          <a:bodyPr/>
          <a:lstStyle/>
          <a:p>
            <a:r>
              <a:rPr lang="fr-FR"/>
              <a:t>2522 Lesson 6: Lambda Expressions</a:t>
            </a:r>
            <a:endParaRPr lang="en-CA"/>
          </a:p>
        </p:txBody>
      </p:sp>
      <p:sp>
        <p:nvSpPr>
          <p:cNvPr id="6" name="Slide Number Placeholder 5"/>
          <p:cNvSpPr>
            <a:spLocks noGrp="1"/>
          </p:cNvSpPr>
          <p:nvPr>
            <p:ph type="sldNum" sz="quarter" idx="12"/>
          </p:nvPr>
        </p:nvSpPr>
        <p:spPr/>
        <p:txBody>
          <a:bodyPr/>
          <a:lstStyle/>
          <a:p>
            <a:fld id="{63EB1FB8-AB73-4D3C-B227-E13F85389B08}" type="slidenum">
              <a:rPr lang="en-CA" smtClean="0"/>
              <a:t>‹#›</a:t>
            </a:fld>
            <a:endParaRPr lang="en-CA"/>
          </a:p>
        </p:txBody>
      </p:sp>
    </p:spTree>
    <p:extLst>
      <p:ext uri="{BB962C8B-B14F-4D97-AF65-F5344CB8AC3E}">
        <p14:creationId xmlns:p14="http://schemas.microsoft.com/office/powerpoint/2010/main" val="423921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4C20275E-CB4F-4DC9-8B3C-0149E7CA8D90}" type="datetime1">
              <a:rPr lang="en-CA" smtClean="0"/>
              <a:t>2025-09-04</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fr-FR"/>
              <a:t>2522 Lesson 6: Lambda Expressions</a:t>
            </a:r>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63EB1FB8-AB73-4D3C-B227-E13F85389B08}" type="slidenum">
              <a:rPr lang="en-CA" smtClean="0"/>
              <a:t>‹#›</a:t>
            </a:fld>
            <a:endParaRPr lang="en-CA"/>
          </a:p>
        </p:txBody>
      </p:sp>
    </p:spTree>
    <p:extLst>
      <p:ext uri="{BB962C8B-B14F-4D97-AF65-F5344CB8AC3E}">
        <p14:creationId xmlns:p14="http://schemas.microsoft.com/office/powerpoint/2010/main" val="368021720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BFDF-A594-D2BD-6028-407A33A97060}"/>
              </a:ext>
            </a:extLst>
          </p:cNvPr>
          <p:cNvSpPr>
            <a:spLocks noGrp="1"/>
          </p:cNvSpPr>
          <p:nvPr>
            <p:ph type="ctrTitle"/>
          </p:nvPr>
        </p:nvSpPr>
        <p:spPr/>
        <p:txBody>
          <a:bodyPr/>
          <a:lstStyle/>
          <a:p>
            <a:r>
              <a:rPr lang="en-US"/>
              <a:t>COMP2522</a:t>
            </a:r>
            <a:endParaRPr lang="en-CA"/>
          </a:p>
        </p:txBody>
      </p:sp>
      <p:sp>
        <p:nvSpPr>
          <p:cNvPr id="3" name="Subtitle 2">
            <a:extLst>
              <a:ext uri="{FF2B5EF4-FFF2-40B4-BE49-F238E27FC236}">
                <a16:creationId xmlns:a16="http://schemas.microsoft.com/office/drawing/2014/main" id="{03857636-73A5-A620-930C-6810F0C544D0}"/>
              </a:ext>
            </a:extLst>
          </p:cNvPr>
          <p:cNvSpPr>
            <a:spLocks noGrp="1"/>
          </p:cNvSpPr>
          <p:nvPr>
            <p:ph type="subTitle" idx="1"/>
          </p:nvPr>
        </p:nvSpPr>
        <p:spPr/>
        <p:txBody>
          <a:bodyPr/>
          <a:lstStyle/>
          <a:p>
            <a:r>
              <a:rPr lang="en-US"/>
              <a:t>Lesson 6: </a:t>
            </a:r>
            <a:r>
              <a:rPr lang="en-US" dirty="0"/>
              <a:t>Functional Interfaces, </a:t>
            </a:r>
            <a:r>
              <a:rPr lang="en-US"/>
              <a:t>Lambda Expressions</a:t>
            </a:r>
            <a:endParaRPr lang="en-CA" dirty="0"/>
          </a:p>
        </p:txBody>
      </p:sp>
    </p:spTree>
    <p:extLst>
      <p:ext uri="{BB962C8B-B14F-4D97-AF65-F5344CB8AC3E}">
        <p14:creationId xmlns:p14="http://schemas.microsoft.com/office/powerpoint/2010/main" val="4235232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767F-0BAF-591D-03E0-8B183919B9D2}"/>
              </a:ext>
            </a:extLst>
          </p:cNvPr>
          <p:cNvSpPr>
            <a:spLocks noGrp="1"/>
          </p:cNvSpPr>
          <p:nvPr>
            <p:ph type="title"/>
          </p:nvPr>
        </p:nvSpPr>
        <p:spPr/>
        <p:txBody>
          <a:bodyPr/>
          <a:lstStyle/>
          <a:p>
            <a:r>
              <a:rPr lang="en-US" dirty="0"/>
              <a:t>Learning Outcomes</a:t>
            </a:r>
            <a:endParaRPr lang="en-CA" dirty="0"/>
          </a:p>
        </p:txBody>
      </p:sp>
      <p:sp>
        <p:nvSpPr>
          <p:cNvPr id="3" name="Content Placeholder 2">
            <a:extLst>
              <a:ext uri="{FF2B5EF4-FFF2-40B4-BE49-F238E27FC236}">
                <a16:creationId xmlns:a16="http://schemas.microsoft.com/office/drawing/2014/main" id="{75F2BDED-B6DF-8926-EB76-DB25B416BEDE}"/>
              </a:ext>
            </a:extLst>
          </p:cNvPr>
          <p:cNvSpPr>
            <a:spLocks noGrp="1"/>
          </p:cNvSpPr>
          <p:nvPr>
            <p:ph idx="1"/>
          </p:nvPr>
        </p:nvSpPr>
        <p:spPr/>
        <p:txBody>
          <a:bodyPr/>
          <a:lstStyle/>
          <a:p>
            <a:r>
              <a:rPr lang="en-US" dirty="0"/>
              <a:t>Functional interfaces</a:t>
            </a:r>
          </a:p>
          <a:p>
            <a:r>
              <a:rPr lang="en-US"/>
              <a:t>Lambda expressions</a:t>
            </a:r>
            <a:endParaRPr lang="en-US" dirty="0"/>
          </a:p>
        </p:txBody>
      </p:sp>
      <p:sp>
        <p:nvSpPr>
          <p:cNvPr id="4" name="Footer Placeholder 3">
            <a:extLst>
              <a:ext uri="{FF2B5EF4-FFF2-40B4-BE49-F238E27FC236}">
                <a16:creationId xmlns:a16="http://schemas.microsoft.com/office/drawing/2014/main" id="{8D4AE6BD-86C2-C995-B915-8AC0E9E3D368}"/>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E8260E4C-30DA-E125-8B6E-A919AF470ADB}"/>
              </a:ext>
            </a:extLst>
          </p:cNvPr>
          <p:cNvSpPr>
            <a:spLocks noGrp="1"/>
          </p:cNvSpPr>
          <p:nvPr>
            <p:ph type="sldNum" sz="quarter" idx="12"/>
          </p:nvPr>
        </p:nvSpPr>
        <p:spPr/>
        <p:txBody>
          <a:bodyPr/>
          <a:lstStyle/>
          <a:p>
            <a:fld id="{63EB1FB8-AB73-4D3C-B227-E13F85389B08}" type="slidenum">
              <a:rPr lang="en-CA" smtClean="0"/>
              <a:t>2</a:t>
            </a:fld>
            <a:endParaRPr lang="en-CA"/>
          </a:p>
        </p:txBody>
      </p:sp>
    </p:spTree>
    <p:extLst>
      <p:ext uri="{BB962C8B-B14F-4D97-AF65-F5344CB8AC3E}">
        <p14:creationId xmlns:p14="http://schemas.microsoft.com/office/powerpoint/2010/main" val="1999630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A7B579-C6C2-8DAD-EFDD-D24D5CFD1044}"/>
              </a:ext>
            </a:extLst>
          </p:cNvPr>
          <p:cNvSpPr>
            <a:spLocks noGrp="1"/>
          </p:cNvSpPr>
          <p:nvPr>
            <p:ph type="title"/>
          </p:nvPr>
        </p:nvSpPr>
        <p:spPr/>
        <p:txBody>
          <a:bodyPr/>
          <a:lstStyle/>
          <a:p>
            <a:r>
              <a:rPr lang="en-US"/>
              <a:t>Functional Interface</a:t>
            </a:r>
            <a:endParaRPr lang="en-CA"/>
          </a:p>
        </p:txBody>
      </p:sp>
      <p:sp>
        <p:nvSpPr>
          <p:cNvPr id="6" name="Content Placeholder 5">
            <a:extLst>
              <a:ext uri="{FF2B5EF4-FFF2-40B4-BE49-F238E27FC236}">
                <a16:creationId xmlns:a16="http://schemas.microsoft.com/office/drawing/2014/main" id="{393D4013-A9F5-DDCE-C374-8E4C5A39A5FF}"/>
              </a:ext>
            </a:extLst>
          </p:cNvPr>
          <p:cNvSpPr>
            <a:spLocks noGrp="1"/>
          </p:cNvSpPr>
          <p:nvPr>
            <p:ph idx="1"/>
          </p:nvPr>
        </p:nvSpPr>
        <p:spPr/>
        <p:txBody>
          <a:bodyPr>
            <a:normAutofit fontScale="77500" lnSpcReduction="20000"/>
          </a:bodyPr>
          <a:lstStyle/>
          <a:p>
            <a:r>
              <a:rPr lang="en-US" b="1" dirty="0"/>
              <a:t>A functional interface is an interface that contains just a single abstract method</a:t>
            </a:r>
            <a:r>
              <a:rPr lang="en-US" dirty="0"/>
              <a:t> (note: it may also contain default and static methods, but only ONE abstract). </a:t>
            </a:r>
          </a:p>
          <a:p>
            <a:r>
              <a:rPr lang="en-US" dirty="0"/>
              <a:t>We may declare this interface with the @FunctionalInterface annotation if we like (which will complain if we don't have exactly ONE abstract method).</a:t>
            </a:r>
          </a:p>
          <a:p>
            <a:endParaRPr lang="en-US" dirty="0"/>
          </a:p>
          <a:p>
            <a:r>
              <a:rPr lang="en-US" dirty="0"/>
              <a:t>Because there is only one abstract method, when that interface gets implemented, it is obvious which method must be created. Java will know the types and number and order of parameters, and the datatype that method returns also (if any). Because of this, we can skip the @Override full implementation of that method and instead use a shortcut: a lambda expression.</a:t>
            </a:r>
          </a:p>
          <a:p>
            <a:endParaRPr lang="en-US" dirty="0"/>
          </a:p>
          <a:p>
            <a:r>
              <a:rPr lang="en-US" dirty="0"/>
              <a:t>Therefore, a lambda expression is the implementation of a functional interface’s single abstract method, in a way that makes it </a:t>
            </a:r>
            <a:r>
              <a:rPr lang="en-US" u="sng" dirty="0"/>
              <a:t>readable</a:t>
            </a:r>
            <a:r>
              <a:rPr lang="en-US" dirty="0"/>
              <a:t>, </a:t>
            </a:r>
            <a:r>
              <a:rPr lang="en-US" u="sng" dirty="0"/>
              <a:t>flexible</a:t>
            </a:r>
            <a:r>
              <a:rPr lang="en-US" dirty="0"/>
              <a:t>, and </a:t>
            </a:r>
            <a:r>
              <a:rPr lang="en-US" u="sng" dirty="0"/>
              <a:t>short</a:t>
            </a:r>
            <a:r>
              <a:rPr lang="en-US" dirty="0"/>
              <a:t>.</a:t>
            </a:r>
            <a:endParaRPr lang="en-CA" dirty="0"/>
          </a:p>
        </p:txBody>
      </p:sp>
      <p:sp>
        <p:nvSpPr>
          <p:cNvPr id="7" name="Footer Placeholder 6">
            <a:extLst>
              <a:ext uri="{FF2B5EF4-FFF2-40B4-BE49-F238E27FC236}">
                <a16:creationId xmlns:a16="http://schemas.microsoft.com/office/drawing/2014/main" id="{47731493-A3C2-E7E8-8E5C-7D2C1370FA28}"/>
              </a:ext>
            </a:extLst>
          </p:cNvPr>
          <p:cNvSpPr>
            <a:spLocks noGrp="1"/>
          </p:cNvSpPr>
          <p:nvPr>
            <p:ph type="ftr" sz="quarter" idx="11"/>
          </p:nvPr>
        </p:nvSpPr>
        <p:spPr/>
        <p:txBody>
          <a:bodyPr/>
          <a:lstStyle/>
          <a:p>
            <a:r>
              <a:rPr lang="fr-FR"/>
              <a:t>2522 Lesson 6: Lambda Expressions</a:t>
            </a:r>
            <a:endParaRPr lang="en-CA"/>
          </a:p>
        </p:txBody>
      </p:sp>
      <p:sp>
        <p:nvSpPr>
          <p:cNvPr id="8" name="Slide Number Placeholder 7">
            <a:extLst>
              <a:ext uri="{FF2B5EF4-FFF2-40B4-BE49-F238E27FC236}">
                <a16:creationId xmlns:a16="http://schemas.microsoft.com/office/drawing/2014/main" id="{0D351A53-0459-DF6D-490A-8C69BB19325B}"/>
              </a:ext>
            </a:extLst>
          </p:cNvPr>
          <p:cNvSpPr>
            <a:spLocks noGrp="1"/>
          </p:cNvSpPr>
          <p:nvPr>
            <p:ph type="sldNum" sz="quarter" idx="12"/>
          </p:nvPr>
        </p:nvSpPr>
        <p:spPr/>
        <p:txBody>
          <a:bodyPr/>
          <a:lstStyle/>
          <a:p>
            <a:fld id="{173945DC-8F99-45A8-AB5A-6B932A0147A2}" type="slidenum">
              <a:rPr lang="en-CA" smtClean="0"/>
              <a:t>3</a:t>
            </a:fld>
            <a:endParaRPr lang="en-CA"/>
          </a:p>
        </p:txBody>
      </p:sp>
    </p:spTree>
    <p:extLst>
      <p:ext uri="{BB962C8B-B14F-4D97-AF65-F5344CB8AC3E}">
        <p14:creationId xmlns:p14="http://schemas.microsoft.com/office/powerpoint/2010/main" val="2429836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70117-4986-1439-723E-9F75B6C500C6}"/>
              </a:ext>
            </a:extLst>
          </p:cNvPr>
          <p:cNvSpPr>
            <a:spLocks noGrp="1"/>
          </p:cNvSpPr>
          <p:nvPr>
            <p:ph type="title"/>
          </p:nvPr>
        </p:nvSpPr>
        <p:spPr/>
        <p:txBody>
          <a:bodyPr/>
          <a:lstStyle/>
          <a:p>
            <a:r>
              <a:rPr lang="en-US"/>
              <a:t>Lambda Expression: Introduction</a:t>
            </a:r>
            <a:endParaRPr lang="en-CA"/>
          </a:p>
        </p:txBody>
      </p:sp>
      <p:sp>
        <p:nvSpPr>
          <p:cNvPr id="3" name="Content Placeholder 2">
            <a:extLst>
              <a:ext uri="{FF2B5EF4-FFF2-40B4-BE49-F238E27FC236}">
                <a16:creationId xmlns:a16="http://schemas.microsoft.com/office/drawing/2014/main" id="{D4B2D95B-3211-B123-FAA4-41A4952EDE78}"/>
              </a:ext>
            </a:extLst>
          </p:cNvPr>
          <p:cNvSpPr>
            <a:spLocks noGrp="1"/>
          </p:cNvSpPr>
          <p:nvPr>
            <p:ph idx="1"/>
          </p:nvPr>
        </p:nvSpPr>
        <p:spPr/>
        <p:txBody>
          <a:bodyPr>
            <a:normAutofit fontScale="62500" lnSpcReduction="20000"/>
          </a:bodyPr>
          <a:lstStyle/>
          <a:p>
            <a:r>
              <a:rPr lang="en-US"/>
              <a:t>Functional interfaces can be implemented by lambda expressions by creating an anonymous function. This function exists without actually belonging to any class. </a:t>
            </a:r>
          </a:p>
          <a:p>
            <a:r>
              <a:rPr lang="en-US"/>
              <a:t>Reasons to use lambda expressions:</a:t>
            </a:r>
          </a:p>
          <a:p>
            <a:pPr marL="0" indent="0">
              <a:buNone/>
            </a:pPr>
            <a:r>
              <a:rPr lang="en-US"/>
              <a:t>1. This function can even be passed as a parameter (like an object) to methods and executed on demand.</a:t>
            </a:r>
          </a:p>
          <a:p>
            <a:pPr marL="0" indent="0">
              <a:buNone/>
            </a:pPr>
            <a:r>
              <a:rPr lang="en-US"/>
              <a:t>2. We can write functional programming instead of / in addition to OOP</a:t>
            </a:r>
          </a:p>
          <a:p>
            <a:pPr marL="0" indent="0">
              <a:buNone/>
            </a:pPr>
            <a:r>
              <a:rPr lang="en-US"/>
              <a:t>3. Our code will be short yet very readable too.</a:t>
            </a:r>
          </a:p>
          <a:p>
            <a:endParaRPr lang="en-US"/>
          </a:p>
          <a:p>
            <a:r>
              <a:rPr lang="en-US"/>
              <a:t>The syntax for writing a lambda expression is: (arg list)-&gt;{code}. For example:</a:t>
            </a:r>
          </a:p>
          <a:p>
            <a:r>
              <a:rPr lang="en-US"/>
              <a:t>()-&gt;single-line-of code</a:t>
            </a:r>
          </a:p>
          <a:p>
            <a:r>
              <a:rPr lang="en-US"/>
              <a:t>()-&gt;{multiple "lines of code"}</a:t>
            </a:r>
          </a:p>
          <a:p>
            <a:r>
              <a:rPr lang="en-US"/>
              <a:t>(a1)-&gt;{code using a1, whose type is known by the Functional Interface's method signature}</a:t>
            </a:r>
          </a:p>
          <a:p>
            <a:r>
              <a:rPr lang="en-US"/>
              <a:t>(Type a2)-&gt;{code using a2, with the type explicitly declared}</a:t>
            </a:r>
          </a:p>
          <a:p>
            <a:r>
              <a:rPr lang="en-US"/>
              <a:t>(a3, a4, a5, a6)-&gt;{code using a3, a4, a5, a6}</a:t>
            </a:r>
            <a:endParaRPr lang="en-CA"/>
          </a:p>
        </p:txBody>
      </p:sp>
      <p:sp>
        <p:nvSpPr>
          <p:cNvPr id="4" name="Footer Placeholder 3">
            <a:extLst>
              <a:ext uri="{FF2B5EF4-FFF2-40B4-BE49-F238E27FC236}">
                <a16:creationId xmlns:a16="http://schemas.microsoft.com/office/drawing/2014/main" id="{B36A933A-4A0E-2199-51C2-AB3E234255A1}"/>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748A8FBA-D3C9-F7F9-04B0-0568AFC252FE}"/>
              </a:ext>
            </a:extLst>
          </p:cNvPr>
          <p:cNvSpPr>
            <a:spLocks noGrp="1"/>
          </p:cNvSpPr>
          <p:nvPr>
            <p:ph type="sldNum" sz="quarter" idx="12"/>
          </p:nvPr>
        </p:nvSpPr>
        <p:spPr/>
        <p:txBody>
          <a:bodyPr/>
          <a:lstStyle/>
          <a:p>
            <a:fld id="{173945DC-8F99-45A8-AB5A-6B932A0147A2}" type="slidenum">
              <a:rPr lang="en-CA" smtClean="0"/>
              <a:t>4</a:t>
            </a:fld>
            <a:endParaRPr lang="en-CA"/>
          </a:p>
        </p:txBody>
      </p:sp>
    </p:spTree>
    <p:extLst>
      <p:ext uri="{BB962C8B-B14F-4D97-AF65-F5344CB8AC3E}">
        <p14:creationId xmlns:p14="http://schemas.microsoft.com/office/powerpoint/2010/main" val="3550026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5F90F-598E-2D3A-81CF-8CAFEE4FE327}"/>
              </a:ext>
            </a:extLst>
          </p:cNvPr>
          <p:cNvSpPr>
            <a:spLocks noGrp="1"/>
          </p:cNvSpPr>
          <p:nvPr>
            <p:ph type="title"/>
          </p:nvPr>
        </p:nvSpPr>
        <p:spPr>
          <a:xfrm>
            <a:off x="838200" y="136525"/>
            <a:ext cx="10515600" cy="723631"/>
          </a:xfrm>
        </p:spPr>
        <p:txBody>
          <a:bodyPr/>
          <a:lstStyle/>
          <a:p>
            <a:r>
              <a:rPr lang="en-US"/>
              <a:t>Example</a:t>
            </a:r>
            <a:endParaRPr lang="en-CA"/>
          </a:p>
        </p:txBody>
      </p:sp>
      <p:sp>
        <p:nvSpPr>
          <p:cNvPr id="3" name="Content Placeholder 2">
            <a:extLst>
              <a:ext uri="{FF2B5EF4-FFF2-40B4-BE49-F238E27FC236}">
                <a16:creationId xmlns:a16="http://schemas.microsoft.com/office/drawing/2014/main" id="{755E0CD8-D66A-C588-3F7E-C7651BF6280A}"/>
              </a:ext>
            </a:extLst>
          </p:cNvPr>
          <p:cNvSpPr>
            <a:spLocks noGrp="1"/>
          </p:cNvSpPr>
          <p:nvPr>
            <p:ph idx="1"/>
          </p:nvPr>
        </p:nvSpPr>
        <p:spPr>
          <a:xfrm>
            <a:off x="224725" y="759418"/>
            <a:ext cx="11817457" cy="5843684"/>
          </a:xfrm>
        </p:spPr>
        <p:txBody>
          <a:bodyPr>
            <a:noAutofit/>
          </a:bodyPr>
          <a:lstStyle/>
          <a:p>
            <a:pPr marL="0" indent="0">
              <a:lnSpc>
                <a:spcPct val="120000"/>
              </a:lnSpc>
              <a:spcBef>
                <a:spcPts val="0"/>
              </a:spcBef>
              <a:buNone/>
            </a:pPr>
            <a:r>
              <a:rPr lang="en-CA" sz="1400" dirty="0"/>
              <a:t>Examples; note how at runtime we re-define the abstract method over and over again according to our needs:</a:t>
            </a:r>
          </a:p>
          <a:p>
            <a:pPr marL="0" indent="0">
              <a:lnSpc>
                <a:spcPct val="120000"/>
              </a:lnSpc>
              <a:spcBef>
                <a:spcPts val="0"/>
              </a:spcBef>
              <a:buNone/>
            </a:pPr>
            <a:endParaRPr lang="en-CA" sz="1400" dirty="0"/>
          </a:p>
          <a:p>
            <a:pPr marL="0" indent="0">
              <a:lnSpc>
                <a:spcPct val="120000"/>
              </a:lnSpc>
              <a:spcBef>
                <a:spcPts val="0"/>
              </a:spcBef>
              <a:buNone/>
            </a:pPr>
            <a:r>
              <a:rPr lang="en-CA" sz="1400" dirty="0"/>
              <a:t>@FunctionalInterface</a:t>
            </a:r>
          </a:p>
          <a:p>
            <a:pPr marL="0" indent="0">
              <a:lnSpc>
                <a:spcPct val="120000"/>
              </a:lnSpc>
              <a:spcBef>
                <a:spcPts val="0"/>
              </a:spcBef>
              <a:buNone/>
            </a:pPr>
            <a:r>
              <a:rPr lang="en-CA" sz="1400" dirty="0"/>
              <a:t>interface Nameable{</a:t>
            </a:r>
          </a:p>
          <a:p>
            <a:pPr marL="0" indent="0">
              <a:lnSpc>
                <a:spcPct val="120000"/>
              </a:lnSpc>
              <a:spcBef>
                <a:spcPts val="0"/>
              </a:spcBef>
              <a:buNone/>
            </a:pPr>
            <a:r>
              <a:rPr lang="en-CA" sz="1400" dirty="0"/>
              <a:t>    String </a:t>
            </a:r>
            <a:r>
              <a:rPr lang="en-CA" sz="1400" dirty="0" err="1"/>
              <a:t>getOneString</a:t>
            </a:r>
            <a:r>
              <a:rPr lang="en-CA" sz="1400" dirty="0"/>
              <a:t>(String s1, String s2, int n);</a:t>
            </a:r>
          </a:p>
          <a:p>
            <a:pPr marL="0" indent="0">
              <a:lnSpc>
                <a:spcPct val="120000"/>
              </a:lnSpc>
              <a:spcBef>
                <a:spcPts val="0"/>
              </a:spcBef>
              <a:buNone/>
            </a:pPr>
            <a:r>
              <a:rPr lang="en-CA" sz="1400" dirty="0"/>
              <a:t>}</a:t>
            </a:r>
          </a:p>
          <a:p>
            <a:pPr marL="0" indent="0">
              <a:lnSpc>
                <a:spcPct val="120000"/>
              </a:lnSpc>
              <a:spcBef>
                <a:spcPts val="0"/>
              </a:spcBef>
              <a:buNone/>
            </a:pPr>
            <a:endParaRPr lang="en-CA" sz="1400" dirty="0"/>
          </a:p>
          <a:p>
            <a:pPr marL="0" indent="0">
              <a:lnSpc>
                <a:spcPct val="120000"/>
              </a:lnSpc>
              <a:spcBef>
                <a:spcPts val="0"/>
              </a:spcBef>
              <a:buNone/>
            </a:pPr>
            <a:r>
              <a:rPr lang="en-CA" sz="1400" dirty="0"/>
              <a:t>class Main{</a:t>
            </a:r>
          </a:p>
          <a:p>
            <a:pPr marL="0" indent="0">
              <a:lnSpc>
                <a:spcPct val="120000"/>
              </a:lnSpc>
              <a:spcBef>
                <a:spcPts val="0"/>
              </a:spcBef>
              <a:buNone/>
            </a:pPr>
            <a:r>
              <a:rPr lang="en-CA" sz="1400" dirty="0"/>
              <a:t>    public static void main(final String[] </a:t>
            </a:r>
            <a:r>
              <a:rPr lang="en-CA" sz="1400" dirty="0" err="1"/>
              <a:t>args</a:t>
            </a:r>
            <a:r>
              <a:rPr lang="en-CA" sz="1400" dirty="0"/>
              <a:t>)    {</a:t>
            </a:r>
          </a:p>
          <a:p>
            <a:pPr marL="0" indent="0">
              <a:lnSpc>
                <a:spcPct val="120000"/>
              </a:lnSpc>
              <a:spcBef>
                <a:spcPts val="0"/>
              </a:spcBef>
              <a:buNone/>
            </a:pPr>
            <a:r>
              <a:rPr lang="en-CA" sz="1400" dirty="0"/>
              <a:t>        // repeat strings n times</a:t>
            </a:r>
          </a:p>
          <a:p>
            <a:pPr marL="0" indent="0">
              <a:lnSpc>
                <a:spcPct val="120000"/>
              </a:lnSpc>
              <a:spcBef>
                <a:spcPts val="0"/>
              </a:spcBef>
              <a:buNone/>
            </a:pPr>
            <a:r>
              <a:rPr lang="en-CA" sz="1400" dirty="0"/>
              <a:t>        </a:t>
            </a:r>
            <a:r>
              <a:rPr lang="en-CA" sz="1400" dirty="0">
                <a:solidFill>
                  <a:schemeClr val="bg1"/>
                </a:solidFill>
                <a:highlight>
                  <a:srgbClr val="FFFF00"/>
                </a:highlight>
              </a:rPr>
              <a:t>Nameable</a:t>
            </a:r>
            <a:r>
              <a:rPr lang="en-CA" sz="1400" dirty="0"/>
              <a:t> </a:t>
            </a:r>
            <a:r>
              <a:rPr lang="en-CA" sz="1400" dirty="0" err="1"/>
              <a:t>repeatNames</a:t>
            </a:r>
            <a:r>
              <a:rPr lang="en-CA" sz="1400" dirty="0"/>
              <a:t> = (first, last, repeat)-&gt;{String s =""; for(int </a:t>
            </a:r>
            <a:r>
              <a:rPr lang="en-CA" sz="1400" dirty="0" err="1"/>
              <a:t>i</a:t>
            </a:r>
            <a:r>
              <a:rPr lang="en-CA" sz="1400" dirty="0"/>
              <a:t> = 0; </a:t>
            </a:r>
            <a:r>
              <a:rPr lang="en-CA" sz="1400" dirty="0" err="1"/>
              <a:t>i</a:t>
            </a:r>
            <a:r>
              <a:rPr lang="en-CA" sz="1400" dirty="0"/>
              <a:t> &lt; repeat; </a:t>
            </a:r>
            <a:r>
              <a:rPr lang="en-CA" sz="1400" dirty="0" err="1"/>
              <a:t>i</a:t>
            </a:r>
            <a:r>
              <a:rPr lang="en-CA" sz="1400" dirty="0"/>
              <a:t>++){s+=</a:t>
            </a:r>
            <a:r>
              <a:rPr lang="en-CA" sz="1400" dirty="0" err="1"/>
              <a:t>first;s</a:t>
            </a:r>
            <a:r>
              <a:rPr lang="en-CA" sz="1400" dirty="0"/>
              <a:t>+=last;} return s;};</a:t>
            </a:r>
          </a:p>
          <a:p>
            <a:pPr marL="0" indent="0">
              <a:lnSpc>
                <a:spcPct val="120000"/>
              </a:lnSpc>
              <a:spcBef>
                <a:spcPts val="0"/>
              </a:spcBef>
              <a:buNone/>
            </a:pPr>
            <a:r>
              <a:rPr lang="en-CA" sz="1400" dirty="0"/>
              <a:t>        </a:t>
            </a:r>
            <a:r>
              <a:rPr lang="en-CA" sz="1400" dirty="0" err="1"/>
              <a:t>System.out.println</a:t>
            </a:r>
            <a:r>
              <a:rPr lang="en-CA" sz="1400" dirty="0"/>
              <a:t>(</a:t>
            </a:r>
            <a:r>
              <a:rPr lang="en-CA" sz="1400" dirty="0" err="1"/>
              <a:t>repeatNames.getOneString</a:t>
            </a:r>
            <a:r>
              <a:rPr lang="en-CA" sz="1400" dirty="0"/>
              <a:t>("tiger", "woods", 3));</a:t>
            </a:r>
          </a:p>
          <a:p>
            <a:pPr marL="0" indent="0">
              <a:lnSpc>
                <a:spcPct val="120000"/>
              </a:lnSpc>
              <a:spcBef>
                <a:spcPts val="0"/>
              </a:spcBef>
              <a:buNone/>
            </a:pPr>
            <a:endParaRPr lang="en-CA" sz="1400" dirty="0"/>
          </a:p>
          <a:p>
            <a:pPr marL="0" indent="0">
              <a:lnSpc>
                <a:spcPct val="120000"/>
              </a:lnSpc>
              <a:spcBef>
                <a:spcPts val="0"/>
              </a:spcBef>
              <a:buNone/>
            </a:pPr>
            <a:r>
              <a:rPr lang="en-CA" sz="1400" dirty="0"/>
              <a:t>        // string gets first n chars</a:t>
            </a:r>
          </a:p>
          <a:p>
            <a:pPr marL="0" indent="0">
              <a:lnSpc>
                <a:spcPct val="120000"/>
              </a:lnSpc>
              <a:spcBef>
                <a:spcPts val="0"/>
              </a:spcBef>
              <a:buNone/>
            </a:pPr>
            <a:r>
              <a:rPr lang="en-CA" sz="1400" dirty="0"/>
              <a:t>        </a:t>
            </a:r>
            <a:r>
              <a:rPr lang="en-CA" sz="1400" dirty="0">
                <a:solidFill>
                  <a:schemeClr val="bg1"/>
                </a:solidFill>
                <a:highlight>
                  <a:srgbClr val="00FF00"/>
                </a:highlight>
              </a:rPr>
              <a:t>Nameable</a:t>
            </a:r>
            <a:r>
              <a:rPr lang="en-CA" sz="1400" dirty="0"/>
              <a:t> </a:t>
            </a:r>
            <a:r>
              <a:rPr lang="en-CA" sz="1400" dirty="0" err="1"/>
              <a:t>getSubstrings</a:t>
            </a:r>
            <a:r>
              <a:rPr lang="en-CA" sz="1400" dirty="0"/>
              <a:t> = (string1, string2, n)-&gt;{String s=""; s+=string1.substring(0, n); s+=string2.substring(0, n);return s;};</a:t>
            </a:r>
          </a:p>
          <a:p>
            <a:pPr marL="0" indent="0">
              <a:lnSpc>
                <a:spcPct val="120000"/>
              </a:lnSpc>
              <a:spcBef>
                <a:spcPts val="0"/>
              </a:spcBef>
              <a:buNone/>
            </a:pPr>
            <a:r>
              <a:rPr lang="en-CA" sz="1400" dirty="0"/>
              <a:t>        </a:t>
            </a:r>
            <a:r>
              <a:rPr lang="en-CA" sz="1400" dirty="0" err="1"/>
              <a:t>System.out.println</a:t>
            </a:r>
            <a:r>
              <a:rPr lang="en-CA" sz="1400" dirty="0"/>
              <a:t>(</a:t>
            </a:r>
            <a:r>
              <a:rPr lang="en-CA" sz="1400" dirty="0" err="1"/>
              <a:t>getSubstrings.getOneString</a:t>
            </a:r>
            <a:r>
              <a:rPr lang="en-CA" sz="1400" dirty="0"/>
              <a:t>("tiger", "woods", 3));</a:t>
            </a:r>
          </a:p>
          <a:p>
            <a:pPr marL="0" indent="0">
              <a:lnSpc>
                <a:spcPct val="120000"/>
              </a:lnSpc>
              <a:spcBef>
                <a:spcPts val="0"/>
              </a:spcBef>
              <a:buNone/>
            </a:pPr>
            <a:endParaRPr lang="en-CA" sz="1400" dirty="0"/>
          </a:p>
          <a:p>
            <a:pPr marL="0" indent="0">
              <a:lnSpc>
                <a:spcPct val="120000"/>
              </a:lnSpc>
              <a:spcBef>
                <a:spcPts val="0"/>
              </a:spcBef>
              <a:buNone/>
            </a:pPr>
            <a:r>
              <a:rPr lang="en-CA" sz="1400" dirty="0"/>
              <a:t>        // get letters at position n</a:t>
            </a:r>
          </a:p>
          <a:p>
            <a:pPr marL="0" indent="0">
              <a:lnSpc>
                <a:spcPct val="120000"/>
              </a:lnSpc>
              <a:spcBef>
                <a:spcPts val="0"/>
              </a:spcBef>
              <a:buNone/>
            </a:pPr>
            <a:r>
              <a:rPr lang="en-CA" sz="1400" dirty="0"/>
              <a:t>        </a:t>
            </a:r>
            <a:r>
              <a:rPr lang="en-CA" sz="1400" dirty="0">
                <a:solidFill>
                  <a:schemeClr val="bg1"/>
                </a:solidFill>
                <a:highlight>
                  <a:srgbClr val="00FFFF"/>
                </a:highlight>
              </a:rPr>
              <a:t>Nameable</a:t>
            </a:r>
            <a:r>
              <a:rPr lang="en-CA" sz="1400" dirty="0"/>
              <a:t> </a:t>
            </a:r>
            <a:r>
              <a:rPr lang="en-CA" sz="1400" dirty="0" err="1"/>
              <a:t>nthChars</a:t>
            </a:r>
            <a:r>
              <a:rPr lang="en-CA" sz="1400" dirty="0"/>
              <a:t> = (str1, str2, n)-&gt;{return "" + str1.charAt(n) + str2.charAt(n);};</a:t>
            </a:r>
          </a:p>
          <a:p>
            <a:pPr marL="0" indent="0">
              <a:lnSpc>
                <a:spcPct val="120000"/>
              </a:lnSpc>
              <a:spcBef>
                <a:spcPts val="0"/>
              </a:spcBef>
              <a:buNone/>
            </a:pPr>
            <a:r>
              <a:rPr lang="en-CA" sz="1400" dirty="0"/>
              <a:t>        </a:t>
            </a:r>
            <a:r>
              <a:rPr lang="en-CA" sz="1400" dirty="0" err="1"/>
              <a:t>System.out.println</a:t>
            </a:r>
            <a:r>
              <a:rPr lang="en-CA" sz="1400" dirty="0"/>
              <a:t>(</a:t>
            </a:r>
            <a:r>
              <a:rPr lang="en-CA" sz="1400" dirty="0" err="1"/>
              <a:t>nthChars.getOneString</a:t>
            </a:r>
            <a:r>
              <a:rPr lang="en-CA" sz="1400" dirty="0"/>
              <a:t>("tiger", "woods", 3));</a:t>
            </a:r>
          </a:p>
          <a:p>
            <a:pPr marL="0" indent="0">
              <a:lnSpc>
                <a:spcPct val="120000"/>
              </a:lnSpc>
              <a:spcBef>
                <a:spcPts val="0"/>
              </a:spcBef>
              <a:buNone/>
            </a:pPr>
            <a:r>
              <a:rPr lang="en-CA" sz="1400" dirty="0"/>
              <a:t>    }</a:t>
            </a:r>
          </a:p>
          <a:p>
            <a:pPr marL="0" indent="0">
              <a:lnSpc>
                <a:spcPct val="120000"/>
              </a:lnSpc>
              <a:spcBef>
                <a:spcPts val="0"/>
              </a:spcBef>
              <a:buNone/>
            </a:pPr>
            <a:r>
              <a:rPr lang="en-CA" sz="1400" dirty="0"/>
              <a:t>}</a:t>
            </a:r>
          </a:p>
        </p:txBody>
      </p:sp>
      <p:sp>
        <p:nvSpPr>
          <p:cNvPr id="4" name="Footer Placeholder 3">
            <a:extLst>
              <a:ext uri="{FF2B5EF4-FFF2-40B4-BE49-F238E27FC236}">
                <a16:creationId xmlns:a16="http://schemas.microsoft.com/office/drawing/2014/main" id="{EE6AB4E4-D372-2D52-7618-A7FD03D16BB4}"/>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4B05C9DB-095E-207F-1456-DA2B6BD0AEBB}"/>
              </a:ext>
            </a:extLst>
          </p:cNvPr>
          <p:cNvSpPr>
            <a:spLocks noGrp="1"/>
          </p:cNvSpPr>
          <p:nvPr>
            <p:ph type="sldNum" sz="quarter" idx="12"/>
          </p:nvPr>
        </p:nvSpPr>
        <p:spPr/>
        <p:txBody>
          <a:bodyPr/>
          <a:lstStyle/>
          <a:p>
            <a:fld id="{173945DC-8F99-45A8-AB5A-6B932A0147A2}" type="slidenum">
              <a:rPr lang="en-CA" smtClean="0"/>
              <a:t>5</a:t>
            </a:fld>
            <a:endParaRPr lang="en-CA"/>
          </a:p>
        </p:txBody>
      </p:sp>
    </p:spTree>
    <p:extLst>
      <p:ext uri="{BB962C8B-B14F-4D97-AF65-F5344CB8AC3E}">
        <p14:creationId xmlns:p14="http://schemas.microsoft.com/office/powerpoint/2010/main" val="1157428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47652-C975-E80B-F5AB-E4FD620FD4FB}"/>
              </a:ext>
            </a:extLst>
          </p:cNvPr>
          <p:cNvSpPr>
            <a:spLocks noGrp="1"/>
          </p:cNvSpPr>
          <p:nvPr>
            <p:ph type="title"/>
          </p:nvPr>
        </p:nvSpPr>
        <p:spPr/>
        <p:txBody>
          <a:bodyPr/>
          <a:lstStyle/>
          <a:p>
            <a:r>
              <a:rPr lang="en-US"/>
              <a:t>Syntax</a:t>
            </a:r>
            <a:endParaRPr lang="en-CA"/>
          </a:p>
        </p:txBody>
      </p:sp>
      <p:sp>
        <p:nvSpPr>
          <p:cNvPr id="3" name="Content Placeholder 2">
            <a:extLst>
              <a:ext uri="{FF2B5EF4-FFF2-40B4-BE49-F238E27FC236}">
                <a16:creationId xmlns:a16="http://schemas.microsoft.com/office/drawing/2014/main" id="{B530A81E-BA33-7ACD-7A76-E9E7BCCC52DA}"/>
              </a:ext>
            </a:extLst>
          </p:cNvPr>
          <p:cNvSpPr>
            <a:spLocks noGrp="1"/>
          </p:cNvSpPr>
          <p:nvPr>
            <p:ph idx="1"/>
          </p:nvPr>
        </p:nvSpPr>
        <p:spPr>
          <a:xfrm>
            <a:off x="838200" y="1825625"/>
            <a:ext cx="11008540" cy="4351338"/>
          </a:xfrm>
        </p:spPr>
        <p:txBody>
          <a:bodyPr/>
          <a:lstStyle/>
          <a:p>
            <a:r>
              <a:rPr lang="en-US"/>
              <a:t>Syntax rules for lambda expressions:</a:t>
            </a:r>
          </a:p>
          <a:p>
            <a:r>
              <a:rPr lang="en-US"/>
              <a:t>()-&gt;{}	// (parentheses) needed if no parameters</a:t>
            </a:r>
          </a:p>
          <a:p>
            <a:r>
              <a:rPr lang="en-US"/>
              <a:t>x-&gt;{} 	// brackets not needed if there is a single parameter, unless:</a:t>
            </a:r>
          </a:p>
          <a:p>
            <a:r>
              <a:rPr lang="en-US"/>
              <a:t>(int x)-&gt;{} 	// brackets needed if you choose to define the datatype for a single parameter</a:t>
            </a:r>
          </a:p>
          <a:p>
            <a:r>
              <a:rPr lang="en-US"/>
              <a:t>(x, y)-&gt;{} 	// brackets needed for multiple parameters</a:t>
            </a:r>
          </a:p>
          <a:p>
            <a:r>
              <a:rPr lang="en-US"/>
              <a:t>x-&gt;code 	// curly braces not needed if just one single instruction and the evaluation of the code matches the method's return type</a:t>
            </a:r>
            <a:endParaRPr lang="en-CA"/>
          </a:p>
        </p:txBody>
      </p:sp>
      <p:sp>
        <p:nvSpPr>
          <p:cNvPr id="4" name="Footer Placeholder 3">
            <a:extLst>
              <a:ext uri="{FF2B5EF4-FFF2-40B4-BE49-F238E27FC236}">
                <a16:creationId xmlns:a16="http://schemas.microsoft.com/office/drawing/2014/main" id="{68882A8C-CEE7-BBB7-B606-6D7D56EFFEE9}"/>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5ED8E0E3-31D0-A7F9-D797-9AF85DE366F8}"/>
              </a:ext>
            </a:extLst>
          </p:cNvPr>
          <p:cNvSpPr>
            <a:spLocks noGrp="1"/>
          </p:cNvSpPr>
          <p:nvPr>
            <p:ph type="sldNum" sz="quarter" idx="12"/>
          </p:nvPr>
        </p:nvSpPr>
        <p:spPr/>
        <p:txBody>
          <a:bodyPr/>
          <a:lstStyle/>
          <a:p>
            <a:fld id="{173945DC-8F99-45A8-AB5A-6B932A0147A2}" type="slidenum">
              <a:rPr lang="en-CA" smtClean="0"/>
              <a:t>6</a:t>
            </a:fld>
            <a:endParaRPr lang="en-CA"/>
          </a:p>
        </p:txBody>
      </p:sp>
    </p:spTree>
    <p:extLst>
      <p:ext uri="{BB962C8B-B14F-4D97-AF65-F5344CB8AC3E}">
        <p14:creationId xmlns:p14="http://schemas.microsoft.com/office/powerpoint/2010/main" val="2823497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3DFD-F636-9868-39BA-9172900B87FA}"/>
              </a:ext>
            </a:extLst>
          </p:cNvPr>
          <p:cNvSpPr>
            <a:spLocks noGrp="1"/>
          </p:cNvSpPr>
          <p:nvPr>
            <p:ph type="title"/>
          </p:nvPr>
        </p:nvSpPr>
        <p:spPr/>
        <p:txBody>
          <a:bodyPr/>
          <a:lstStyle/>
          <a:p>
            <a:r>
              <a:rPr lang="en-US"/>
              <a:t>Lamba Examples</a:t>
            </a:r>
            <a:endParaRPr lang="en-CA"/>
          </a:p>
        </p:txBody>
      </p:sp>
      <p:sp>
        <p:nvSpPr>
          <p:cNvPr id="3" name="Content Placeholder 2">
            <a:extLst>
              <a:ext uri="{FF2B5EF4-FFF2-40B4-BE49-F238E27FC236}">
                <a16:creationId xmlns:a16="http://schemas.microsoft.com/office/drawing/2014/main" id="{7A2A4083-1D90-726D-9D59-9A28ED5C2C1B}"/>
              </a:ext>
            </a:extLst>
          </p:cNvPr>
          <p:cNvSpPr>
            <a:spLocks noGrp="1"/>
          </p:cNvSpPr>
          <p:nvPr>
            <p:ph idx="1"/>
          </p:nvPr>
        </p:nvSpPr>
        <p:spPr>
          <a:xfrm>
            <a:off x="838200" y="1340603"/>
            <a:ext cx="10515600" cy="4836360"/>
          </a:xfrm>
        </p:spPr>
        <p:txBody>
          <a:bodyPr>
            <a:normAutofit fontScale="47500" lnSpcReduction="20000"/>
          </a:bodyPr>
          <a:lstStyle/>
          <a:p>
            <a:pPr marL="0" indent="0">
              <a:buNone/>
            </a:pPr>
            <a:r>
              <a:rPr lang="en-CA"/>
              <a:t>@FunctionalInterface</a:t>
            </a:r>
          </a:p>
          <a:p>
            <a:pPr marL="0" indent="0">
              <a:buNone/>
            </a:pPr>
            <a:r>
              <a:rPr lang="en-CA"/>
              <a:t>interface Mathable</a:t>
            </a:r>
          </a:p>
          <a:p>
            <a:pPr marL="0" indent="0">
              <a:buNone/>
            </a:pPr>
            <a:r>
              <a:rPr lang="en-CA"/>
              <a:t>{</a:t>
            </a:r>
          </a:p>
          <a:p>
            <a:pPr marL="0" indent="0">
              <a:buNone/>
            </a:pPr>
            <a:r>
              <a:rPr lang="en-CA"/>
              <a:t>    double doMath(int op1, int op2);</a:t>
            </a:r>
          </a:p>
          <a:p>
            <a:pPr marL="0" indent="0">
              <a:buNone/>
            </a:pPr>
            <a:r>
              <a:rPr lang="en-CA"/>
              <a:t>}</a:t>
            </a:r>
          </a:p>
          <a:p>
            <a:pPr marL="0" indent="0">
              <a:buNone/>
            </a:pPr>
            <a:endParaRPr lang="en-CA"/>
          </a:p>
          <a:p>
            <a:pPr marL="0" indent="0">
              <a:buNone/>
            </a:pPr>
            <a:r>
              <a:rPr lang="en-CA"/>
              <a:t>class MathStuff</a:t>
            </a:r>
          </a:p>
          <a:p>
            <a:pPr marL="0" indent="0">
              <a:buNone/>
            </a:pPr>
            <a:r>
              <a:rPr lang="en-CA"/>
              <a:t>{</a:t>
            </a:r>
          </a:p>
          <a:p>
            <a:pPr marL="0" indent="0">
              <a:buNone/>
            </a:pPr>
            <a:r>
              <a:rPr lang="en-CA"/>
              <a:t>    public static void main(final String[] args)</a:t>
            </a:r>
          </a:p>
          <a:p>
            <a:pPr marL="0" indent="0">
              <a:buNone/>
            </a:pPr>
            <a:r>
              <a:rPr lang="en-CA"/>
              <a:t>    {</a:t>
            </a:r>
          </a:p>
          <a:p>
            <a:pPr marL="0" indent="0">
              <a:buNone/>
            </a:pPr>
            <a:r>
              <a:rPr lang="en-CA"/>
              <a:t>        </a:t>
            </a:r>
            <a:r>
              <a:rPr lang="en-CA">
                <a:solidFill>
                  <a:schemeClr val="bg1"/>
                </a:solidFill>
                <a:highlight>
                  <a:srgbClr val="FFFF00"/>
                </a:highlight>
              </a:rPr>
              <a:t>Mathable</a:t>
            </a:r>
            <a:r>
              <a:rPr lang="en-CA"/>
              <a:t> add = (a,b)-&gt;a+b;</a:t>
            </a:r>
          </a:p>
          <a:p>
            <a:pPr marL="0" indent="0">
              <a:buNone/>
            </a:pPr>
            <a:r>
              <a:rPr lang="en-CA"/>
              <a:t>        System.out.println(add.doMath(2, 6)); 	// 8.0</a:t>
            </a:r>
          </a:p>
          <a:p>
            <a:pPr marL="0" indent="0">
              <a:buNone/>
            </a:pPr>
            <a:endParaRPr lang="en-CA"/>
          </a:p>
          <a:p>
            <a:pPr marL="0" indent="0">
              <a:buNone/>
            </a:pPr>
            <a:r>
              <a:rPr lang="en-CA"/>
              <a:t>        </a:t>
            </a:r>
            <a:r>
              <a:rPr lang="en-CA">
                <a:solidFill>
                  <a:schemeClr val="bg1"/>
                </a:solidFill>
                <a:highlight>
                  <a:srgbClr val="00FF00"/>
                </a:highlight>
              </a:rPr>
              <a:t>Mathable</a:t>
            </a:r>
            <a:r>
              <a:rPr lang="en-CA"/>
              <a:t> power = (x,y)-&gt;Math.pow(x,y);  		// or power = (x,y)-&gt;{return Math.pow(x,y);}</a:t>
            </a:r>
          </a:p>
          <a:p>
            <a:pPr marL="0" indent="0">
              <a:buNone/>
            </a:pPr>
            <a:r>
              <a:rPr lang="en-CA"/>
              <a:t>        System.out.println(power.doMath(2, 6)); 	// 64.0</a:t>
            </a:r>
          </a:p>
          <a:p>
            <a:pPr marL="0" indent="0">
              <a:buNone/>
            </a:pPr>
            <a:r>
              <a:rPr lang="en-CA"/>
              <a:t>    }</a:t>
            </a:r>
          </a:p>
          <a:p>
            <a:pPr marL="0" indent="0">
              <a:buNone/>
            </a:pPr>
            <a:r>
              <a:rPr lang="en-CA"/>
              <a:t>}</a:t>
            </a:r>
          </a:p>
        </p:txBody>
      </p:sp>
      <p:sp>
        <p:nvSpPr>
          <p:cNvPr id="4" name="Footer Placeholder 3">
            <a:extLst>
              <a:ext uri="{FF2B5EF4-FFF2-40B4-BE49-F238E27FC236}">
                <a16:creationId xmlns:a16="http://schemas.microsoft.com/office/drawing/2014/main" id="{2F7B85A7-FBF1-F17A-817B-9BC95DC6F774}"/>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2FA7E7D8-D751-07B5-7D37-7D2259E213BD}"/>
              </a:ext>
            </a:extLst>
          </p:cNvPr>
          <p:cNvSpPr>
            <a:spLocks noGrp="1"/>
          </p:cNvSpPr>
          <p:nvPr>
            <p:ph type="sldNum" sz="quarter" idx="12"/>
          </p:nvPr>
        </p:nvSpPr>
        <p:spPr/>
        <p:txBody>
          <a:bodyPr/>
          <a:lstStyle/>
          <a:p>
            <a:fld id="{173945DC-8F99-45A8-AB5A-6B932A0147A2}" type="slidenum">
              <a:rPr lang="en-CA" smtClean="0"/>
              <a:t>7</a:t>
            </a:fld>
            <a:endParaRPr lang="en-CA"/>
          </a:p>
        </p:txBody>
      </p:sp>
    </p:spTree>
    <p:extLst>
      <p:ext uri="{BB962C8B-B14F-4D97-AF65-F5344CB8AC3E}">
        <p14:creationId xmlns:p14="http://schemas.microsoft.com/office/powerpoint/2010/main" val="376018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D24DE9-90A5-AFAD-56F1-1C9294160DC9}"/>
              </a:ext>
            </a:extLst>
          </p:cNvPr>
          <p:cNvSpPr>
            <a:spLocks noGrp="1"/>
          </p:cNvSpPr>
          <p:nvPr>
            <p:ph type="title"/>
          </p:nvPr>
        </p:nvSpPr>
        <p:spPr/>
        <p:txBody>
          <a:bodyPr/>
          <a:lstStyle/>
          <a:p>
            <a:r>
              <a:rPr lang="en-US"/>
              <a:t>Java’s Functional Interfaces</a:t>
            </a:r>
            <a:endParaRPr lang="en-CA"/>
          </a:p>
        </p:txBody>
      </p:sp>
      <p:sp>
        <p:nvSpPr>
          <p:cNvPr id="5" name="Content Placeholder 4">
            <a:extLst>
              <a:ext uri="{FF2B5EF4-FFF2-40B4-BE49-F238E27FC236}">
                <a16:creationId xmlns:a16="http://schemas.microsoft.com/office/drawing/2014/main" id="{FE290752-3DA9-CE08-06DD-6947D6D7675E}"/>
              </a:ext>
            </a:extLst>
          </p:cNvPr>
          <p:cNvSpPr>
            <a:spLocks noGrp="1"/>
          </p:cNvSpPr>
          <p:nvPr>
            <p:ph sz="half" idx="1"/>
          </p:nvPr>
        </p:nvSpPr>
        <p:spPr>
          <a:xfrm>
            <a:off x="838199" y="1480842"/>
            <a:ext cx="4979973" cy="4696121"/>
          </a:xfrm>
        </p:spPr>
        <p:txBody>
          <a:bodyPr>
            <a:noAutofit/>
          </a:bodyPr>
          <a:lstStyle/>
          <a:p>
            <a:pPr marL="0" indent="0">
              <a:buNone/>
            </a:pPr>
            <a:r>
              <a:rPr lang="en-CA"/>
              <a:t>The java.lang.Iterable interface is a Functional Interface; but we are interested in its default forEach method, which takes one parameter: a </a:t>
            </a:r>
            <a:r>
              <a:rPr lang="en-CA" u="sng"/>
              <a:t>Consumer</a:t>
            </a:r>
            <a:r>
              <a:rPr lang="en-CA"/>
              <a:t> Functional Interface which has one abstract method: void accept(T t); in other words, the forEach method can take a lambda expression that takes any single type as an argument, and returns void. For example:</a:t>
            </a:r>
          </a:p>
        </p:txBody>
      </p:sp>
      <p:sp>
        <p:nvSpPr>
          <p:cNvPr id="6" name="Content Placeholder 5">
            <a:extLst>
              <a:ext uri="{FF2B5EF4-FFF2-40B4-BE49-F238E27FC236}">
                <a16:creationId xmlns:a16="http://schemas.microsoft.com/office/drawing/2014/main" id="{3F34362D-BF8C-38E8-ED99-B19EB993AEFC}"/>
              </a:ext>
            </a:extLst>
          </p:cNvPr>
          <p:cNvSpPr>
            <a:spLocks noGrp="1"/>
          </p:cNvSpPr>
          <p:nvPr>
            <p:ph sz="half" idx="2"/>
          </p:nvPr>
        </p:nvSpPr>
        <p:spPr>
          <a:xfrm>
            <a:off x="6172199" y="1238081"/>
            <a:ext cx="5877733" cy="4938882"/>
          </a:xfrm>
        </p:spPr>
        <p:txBody>
          <a:bodyPr>
            <a:noAutofit/>
          </a:bodyPr>
          <a:lstStyle/>
          <a:p>
            <a:pPr marL="0" indent="0">
              <a:lnSpc>
                <a:spcPct val="120000"/>
              </a:lnSpc>
              <a:spcBef>
                <a:spcPts val="0"/>
              </a:spcBef>
              <a:buNone/>
            </a:pPr>
            <a:r>
              <a:rPr lang="en-CA" sz="1100"/>
              <a:t>import java.util.ArrayList;</a:t>
            </a:r>
          </a:p>
          <a:p>
            <a:pPr marL="0" indent="0">
              <a:lnSpc>
                <a:spcPct val="120000"/>
              </a:lnSpc>
              <a:spcBef>
                <a:spcPts val="0"/>
              </a:spcBef>
              <a:buNone/>
            </a:pPr>
            <a:r>
              <a:rPr lang="en-CA" sz="1100"/>
              <a:t>import java.util.Arrays;</a:t>
            </a:r>
          </a:p>
          <a:p>
            <a:pPr marL="0" indent="0">
              <a:lnSpc>
                <a:spcPct val="120000"/>
              </a:lnSpc>
              <a:spcBef>
                <a:spcPts val="0"/>
              </a:spcBef>
              <a:buNone/>
            </a:pPr>
            <a:r>
              <a:rPr lang="en-CA" sz="1100"/>
              <a:t>import java.util.List;</a:t>
            </a:r>
          </a:p>
          <a:p>
            <a:pPr marL="0" indent="0">
              <a:lnSpc>
                <a:spcPct val="120000"/>
              </a:lnSpc>
              <a:spcBef>
                <a:spcPts val="0"/>
              </a:spcBef>
              <a:buNone/>
            </a:pPr>
            <a:r>
              <a:rPr lang="en-CA" sz="1100"/>
              <a:t>class BookStore{</a:t>
            </a:r>
          </a:p>
          <a:p>
            <a:pPr marL="0" indent="0">
              <a:lnSpc>
                <a:spcPct val="120000"/>
              </a:lnSpc>
              <a:spcBef>
                <a:spcPts val="0"/>
              </a:spcBef>
              <a:buNone/>
            </a:pPr>
            <a:r>
              <a:rPr lang="en-CA" sz="1100"/>
              <a:t>    public static void main(final String[] args)    {</a:t>
            </a:r>
          </a:p>
          <a:p>
            <a:pPr marL="0" indent="0">
              <a:lnSpc>
                <a:spcPct val="120000"/>
              </a:lnSpc>
              <a:spcBef>
                <a:spcPts val="0"/>
              </a:spcBef>
              <a:buNone/>
            </a:pPr>
            <a:r>
              <a:rPr lang="en-CA" sz="1100"/>
              <a:t>        List&lt;String&gt; titles;</a:t>
            </a:r>
          </a:p>
          <a:p>
            <a:pPr marL="0" indent="0">
              <a:lnSpc>
                <a:spcPct val="120000"/>
              </a:lnSpc>
              <a:spcBef>
                <a:spcPts val="0"/>
              </a:spcBef>
              <a:buNone/>
            </a:pPr>
            <a:r>
              <a:rPr lang="en-CA" sz="1100"/>
              <a:t>        titles = new ArrayList&lt;&gt;();</a:t>
            </a:r>
          </a:p>
          <a:p>
            <a:pPr marL="0" indent="0">
              <a:lnSpc>
                <a:spcPct val="120000"/>
              </a:lnSpc>
              <a:spcBef>
                <a:spcPts val="0"/>
              </a:spcBef>
              <a:buNone/>
            </a:pPr>
            <a:r>
              <a:rPr lang="en-CA" sz="1100"/>
              <a:t>        String[] data = {"Anna Karenina", "Madame Bovary", "War and Peace", "The Great Gatsby", </a:t>
            </a:r>
            <a:br>
              <a:rPr lang="en-CA" sz="1100"/>
            </a:br>
            <a:r>
              <a:rPr lang="en-CA" sz="1100"/>
              <a:t>                                    "Lolita", "Middlemarch",  "The Adventures of Huckleberry Finn",</a:t>
            </a:r>
          </a:p>
          <a:p>
            <a:pPr marL="0" indent="0">
              <a:lnSpc>
                <a:spcPct val="120000"/>
              </a:lnSpc>
              <a:spcBef>
                <a:spcPts val="0"/>
              </a:spcBef>
              <a:buNone/>
            </a:pPr>
            <a:r>
              <a:rPr lang="en-CA" sz="1100"/>
              <a:t>        "The Stories of Anton Chekhov", "In Search of Lost Time", "Hamlet"};</a:t>
            </a:r>
          </a:p>
          <a:p>
            <a:pPr marL="0" indent="0">
              <a:lnSpc>
                <a:spcPct val="120000"/>
              </a:lnSpc>
              <a:spcBef>
                <a:spcPts val="0"/>
              </a:spcBef>
              <a:buNone/>
            </a:pPr>
            <a:r>
              <a:rPr lang="en-CA" sz="1100"/>
              <a:t>        titles = Arrays.stream(data).toList();</a:t>
            </a:r>
          </a:p>
          <a:p>
            <a:pPr marL="0" indent="0">
              <a:lnSpc>
                <a:spcPct val="120000"/>
              </a:lnSpc>
              <a:spcBef>
                <a:spcPts val="0"/>
              </a:spcBef>
              <a:buNone/>
            </a:pPr>
            <a:r>
              <a:rPr lang="en-CA" sz="1100" b="1"/>
              <a:t>        titles.forEach(title -&gt; {</a:t>
            </a:r>
          </a:p>
          <a:p>
            <a:pPr marL="0" indent="0">
              <a:lnSpc>
                <a:spcPct val="120000"/>
              </a:lnSpc>
              <a:spcBef>
                <a:spcPts val="0"/>
              </a:spcBef>
              <a:buNone/>
            </a:pPr>
            <a:r>
              <a:rPr lang="en-CA" sz="1100" b="1"/>
              <a:t>            if(title.length() &lt; 10)</a:t>
            </a:r>
          </a:p>
          <a:p>
            <a:pPr marL="0" indent="0">
              <a:lnSpc>
                <a:spcPct val="120000"/>
              </a:lnSpc>
              <a:spcBef>
                <a:spcPts val="0"/>
              </a:spcBef>
              <a:buNone/>
            </a:pPr>
            <a:r>
              <a:rPr lang="en-CA" sz="1100" b="1"/>
              <a:t>            {</a:t>
            </a:r>
          </a:p>
          <a:p>
            <a:pPr marL="0" indent="0">
              <a:lnSpc>
                <a:spcPct val="120000"/>
              </a:lnSpc>
              <a:spcBef>
                <a:spcPts val="0"/>
              </a:spcBef>
              <a:buNone/>
            </a:pPr>
            <a:r>
              <a:rPr lang="en-CA" sz="1100" b="1"/>
              <a:t>                System.out.println(title);</a:t>
            </a:r>
          </a:p>
          <a:p>
            <a:pPr marL="0" indent="0">
              <a:lnSpc>
                <a:spcPct val="120000"/>
              </a:lnSpc>
              <a:spcBef>
                <a:spcPts val="0"/>
              </a:spcBef>
              <a:buNone/>
            </a:pPr>
            <a:r>
              <a:rPr lang="en-CA" sz="1100" b="1"/>
              <a:t>            }</a:t>
            </a:r>
          </a:p>
          <a:p>
            <a:pPr marL="0" indent="0">
              <a:lnSpc>
                <a:spcPct val="120000"/>
              </a:lnSpc>
              <a:spcBef>
                <a:spcPts val="0"/>
              </a:spcBef>
              <a:buNone/>
            </a:pPr>
            <a:r>
              <a:rPr lang="en-CA" sz="1100" b="1"/>
              <a:t>        });</a:t>
            </a:r>
          </a:p>
          <a:p>
            <a:pPr marL="0" indent="0">
              <a:lnSpc>
                <a:spcPct val="120000"/>
              </a:lnSpc>
              <a:spcBef>
                <a:spcPts val="0"/>
              </a:spcBef>
              <a:buNone/>
            </a:pPr>
            <a:r>
              <a:rPr lang="en-CA" sz="1100"/>
              <a:t>        titles.forEach(t -&gt; {</a:t>
            </a:r>
          </a:p>
          <a:p>
            <a:pPr marL="0" indent="0">
              <a:lnSpc>
                <a:spcPct val="120000"/>
              </a:lnSpc>
              <a:spcBef>
                <a:spcPts val="0"/>
              </a:spcBef>
              <a:buNone/>
            </a:pPr>
            <a:r>
              <a:rPr lang="en-CA" sz="1100"/>
              <a:t>            if(t.contains("of"))</a:t>
            </a:r>
          </a:p>
          <a:p>
            <a:pPr marL="0" indent="0">
              <a:lnSpc>
                <a:spcPct val="120000"/>
              </a:lnSpc>
              <a:spcBef>
                <a:spcPts val="0"/>
              </a:spcBef>
              <a:buNone/>
            </a:pPr>
            <a:r>
              <a:rPr lang="en-CA" sz="1100"/>
              <a:t>            {</a:t>
            </a:r>
          </a:p>
          <a:p>
            <a:pPr marL="0" indent="0">
              <a:lnSpc>
                <a:spcPct val="120000"/>
              </a:lnSpc>
              <a:spcBef>
                <a:spcPts val="0"/>
              </a:spcBef>
              <a:buNone/>
            </a:pPr>
            <a:r>
              <a:rPr lang="en-CA" sz="1100"/>
              <a:t>                System.out.println(t);</a:t>
            </a:r>
          </a:p>
          <a:p>
            <a:pPr marL="0" indent="0">
              <a:lnSpc>
                <a:spcPct val="120000"/>
              </a:lnSpc>
              <a:spcBef>
                <a:spcPts val="0"/>
              </a:spcBef>
              <a:buNone/>
            </a:pPr>
            <a:r>
              <a:rPr lang="en-CA" sz="1100"/>
              <a:t>            }</a:t>
            </a:r>
          </a:p>
          <a:p>
            <a:pPr marL="0" indent="0">
              <a:lnSpc>
                <a:spcPct val="120000"/>
              </a:lnSpc>
              <a:spcBef>
                <a:spcPts val="0"/>
              </a:spcBef>
              <a:buNone/>
            </a:pPr>
            <a:r>
              <a:rPr lang="en-CA" sz="1100"/>
              <a:t>        });</a:t>
            </a:r>
          </a:p>
          <a:p>
            <a:pPr marL="0" indent="0">
              <a:lnSpc>
                <a:spcPct val="120000"/>
              </a:lnSpc>
              <a:spcBef>
                <a:spcPts val="0"/>
              </a:spcBef>
              <a:buNone/>
            </a:pPr>
            <a:r>
              <a:rPr lang="en-CA" sz="1100"/>
              <a:t>    }</a:t>
            </a:r>
          </a:p>
          <a:p>
            <a:pPr marL="0" indent="0">
              <a:lnSpc>
                <a:spcPct val="120000"/>
              </a:lnSpc>
              <a:spcBef>
                <a:spcPts val="0"/>
              </a:spcBef>
              <a:buNone/>
            </a:pPr>
            <a:r>
              <a:rPr lang="en-CA" sz="1100"/>
              <a:t>}</a:t>
            </a:r>
          </a:p>
        </p:txBody>
      </p:sp>
      <p:sp>
        <p:nvSpPr>
          <p:cNvPr id="7" name="Footer Placeholder 6">
            <a:extLst>
              <a:ext uri="{FF2B5EF4-FFF2-40B4-BE49-F238E27FC236}">
                <a16:creationId xmlns:a16="http://schemas.microsoft.com/office/drawing/2014/main" id="{1468ABF5-AAD4-4833-C067-EE64562AA595}"/>
              </a:ext>
            </a:extLst>
          </p:cNvPr>
          <p:cNvSpPr>
            <a:spLocks noGrp="1"/>
          </p:cNvSpPr>
          <p:nvPr>
            <p:ph type="ftr" sz="quarter" idx="11"/>
          </p:nvPr>
        </p:nvSpPr>
        <p:spPr/>
        <p:txBody>
          <a:bodyPr/>
          <a:lstStyle/>
          <a:p>
            <a:r>
              <a:rPr lang="fr-FR"/>
              <a:t>2522 Lesson 6: Lambda Expressions</a:t>
            </a:r>
            <a:endParaRPr lang="en-CA"/>
          </a:p>
        </p:txBody>
      </p:sp>
      <p:sp>
        <p:nvSpPr>
          <p:cNvPr id="8" name="Slide Number Placeholder 7">
            <a:extLst>
              <a:ext uri="{FF2B5EF4-FFF2-40B4-BE49-F238E27FC236}">
                <a16:creationId xmlns:a16="http://schemas.microsoft.com/office/drawing/2014/main" id="{EEA9B156-8D10-8B45-68F6-3B1B5B3FA8A2}"/>
              </a:ext>
            </a:extLst>
          </p:cNvPr>
          <p:cNvSpPr>
            <a:spLocks noGrp="1"/>
          </p:cNvSpPr>
          <p:nvPr>
            <p:ph type="sldNum" sz="quarter" idx="12"/>
          </p:nvPr>
        </p:nvSpPr>
        <p:spPr/>
        <p:txBody>
          <a:bodyPr/>
          <a:lstStyle/>
          <a:p>
            <a:fld id="{173945DC-8F99-45A8-AB5A-6B932A0147A2}" type="slidenum">
              <a:rPr lang="en-CA" smtClean="0"/>
              <a:t>8</a:t>
            </a:fld>
            <a:endParaRPr lang="en-CA"/>
          </a:p>
        </p:txBody>
      </p:sp>
    </p:spTree>
    <p:extLst>
      <p:ext uri="{BB962C8B-B14F-4D97-AF65-F5344CB8AC3E}">
        <p14:creationId xmlns:p14="http://schemas.microsoft.com/office/powerpoint/2010/main" val="2246954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DA1D69-E4E2-E25C-29CA-6114633E6CD3}"/>
              </a:ext>
            </a:extLst>
          </p:cNvPr>
          <p:cNvSpPr>
            <a:spLocks noGrp="1"/>
          </p:cNvSpPr>
          <p:nvPr>
            <p:ph type="title"/>
          </p:nvPr>
        </p:nvSpPr>
        <p:spPr/>
        <p:txBody>
          <a:bodyPr/>
          <a:lstStyle/>
          <a:p>
            <a:r>
              <a:rPr lang="en-US"/>
              <a:t>Lambda (and a bit of method reference!)</a:t>
            </a:r>
            <a:endParaRPr lang="en-CA"/>
          </a:p>
        </p:txBody>
      </p:sp>
      <p:sp>
        <p:nvSpPr>
          <p:cNvPr id="6" name="Content Placeholder 5">
            <a:extLst>
              <a:ext uri="{FF2B5EF4-FFF2-40B4-BE49-F238E27FC236}">
                <a16:creationId xmlns:a16="http://schemas.microsoft.com/office/drawing/2014/main" id="{9315A388-12F1-A23F-DD3B-9D57B3E8CE1B}"/>
              </a:ext>
            </a:extLst>
          </p:cNvPr>
          <p:cNvSpPr>
            <a:spLocks noGrp="1"/>
          </p:cNvSpPr>
          <p:nvPr>
            <p:ph idx="1"/>
          </p:nvPr>
        </p:nvSpPr>
        <p:spPr>
          <a:xfrm>
            <a:off x="838200" y="1278542"/>
            <a:ext cx="10515600" cy="4898421"/>
          </a:xfrm>
        </p:spPr>
        <p:txBody>
          <a:bodyPr>
            <a:noAutofit/>
          </a:bodyPr>
          <a:lstStyle/>
          <a:p>
            <a:pPr marL="0" indent="0">
              <a:lnSpc>
                <a:spcPct val="120000"/>
              </a:lnSpc>
              <a:spcBef>
                <a:spcPts val="0"/>
              </a:spcBef>
              <a:buNone/>
            </a:pPr>
            <a:r>
              <a:rPr lang="en-CA" sz="1100"/>
              <a:t>import java.util.ArrayList;</a:t>
            </a:r>
          </a:p>
          <a:p>
            <a:pPr marL="0" indent="0">
              <a:lnSpc>
                <a:spcPct val="120000"/>
              </a:lnSpc>
              <a:spcBef>
                <a:spcPts val="0"/>
              </a:spcBef>
              <a:buNone/>
            </a:pPr>
            <a:r>
              <a:rPr lang="en-CA" sz="1100"/>
              <a:t>import java.util.List;</a:t>
            </a:r>
          </a:p>
          <a:p>
            <a:pPr marL="0" indent="0">
              <a:lnSpc>
                <a:spcPct val="120000"/>
              </a:lnSpc>
              <a:spcBef>
                <a:spcPts val="0"/>
              </a:spcBef>
              <a:buNone/>
            </a:pPr>
            <a:r>
              <a:rPr lang="en-CA" sz="1100"/>
              <a:t>public class Notebook{</a:t>
            </a:r>
          </a:p>
          <a:p>
            <a:pPr marL="0" indent="0">
              <a:lnSpc>
                <a:spcPct val="120000"/>
              </a:lnSpc>
              <a:spcBef>
                <a:spcPts val="0"/>
              </a:spcBef>
              <a:buNone/>
            </a:pPr>
            <a:r>
              <a:rPr lang="en-CA" sz="1100"/>
              <a:t>    public static void main(final String[] args)    {</a:t>
            </a:r>
          </a:p>
          <a:p>
            <a:pPr marL="0" indent="0">
              <a:lnSpc>
                <a:spcPct val="120000"/>
              </a:lnSpc>
              <a:spcBef>
                <a:spcPts val="0"/>
              </a:spcBef>
              <a:buNone/>
            </a:pPr>
            <a:r>
              <a:rPr lang="en-CA" sz="1100"/>
              <a:t>        final List&lt;String&gt; notes;</a:t>
            </a:r>
          </a:p>
          <a:p>
            <a:pPr marL="0" indent="0">
              <a:lnSpc>
                <a:spcPct val="120000"/>
              </a:lnSpc>
              <a:spcBef>
                <a:spcPts val="0"/>
              </a:spcBef>
              <a:buNone/>
            </a:pPr>
            <a:r>
              <a:rPr lang="en-CA" sz="1100"/>
              <a:t>        notes = new ArrayList&lt;&gt;();</a:t>
            </a:r>
          </a:p>
          <a:p>
            <a:pPr marL="0" indent="0">
              <a:lnSpc>
                <a:spcPct val="120000"/>
              </a:lnSpc>
              <a:spcBef>
                <a:spcPts val="0"/>
              </a:spcBef>
              <a:buNone/>
            </a:pPr>
            <a:r>
              <a:rPr lang="en-CA" sz="1100"/>
              <a:t>        notes.add("Work Hard");</a:t>
            </a:r>
          </a:p>
          <a:p>
            <a:pPr marL="0" indent="0">
              <a:lnSpc>
                <a:spcPct val="120000"/>
              </a:lnSpc>
              <a:spcBef>
                <a:spcPts val="0"/>
              </a:spcBef>
              <a:buNone/>
            </a:pPr>
            <a:r>
              <a:rPr lang="en-CA" sz="1100"/>
              <a:t>        notes.add("Have Fun");</a:t>
            </a:r>
          </a:p>
          <a:p>
            <a:pPr marL="0" indent="0">
              <a:lnSpc>
                <a:spcPct val="120000"/>
              </a:lnSpc>
              <a:spcBef>
                <a:spcPts val="0"/>
              </a:spcBef>
              <a:buNone/>
            </a:pPr>
            <a:r>
              <a:rPr lang="en-CA" sz="1100" b="1"/>
              <a:t>        //display(notes, Notebook::upperIt);</a:t>
            </a:r>
          </a:p>
          <a:p>
            <a:pPr marL="0" indent="0">
              <a:lnSpc>
                <a:spcPct val="120000"/>
              </a:lnSpc>
              <a:spcBef>
                <a:spcPts val="0"/>
              </a:spcBef>
              <a:buNone/>
            </a:pPr>
            <a:r>
              <a:rPr lang="en-CA" sz="1100"/>
              <a:t>        display(notes, s -&gt; s.toUpperCase());</a:t>
            </a:r>
          </a:p>
          <a:p>
            <a:pPr marL="0" indent="0">
              <a:lnSpc>
                <a:spcPct val="120000"/>
              </a:lnSpc>
              <a:spcBef>
                <a:spcPts val="0"/>
              </a:spcBef>
              <a:buNone/>
            </a:pPr>
            <a:r>
              <a:rPr lang="en-CA" sz="1100"/>
              <a:t>    }</a:t>
            </a:r>
          </a:p>
          <a:p>
            <a:pPr marL="0" indent="0">
              <a:lnSpc>
                <a:spcPct val="120000"/>
              </a:lnSpc>
              <a:spcBef>
                <a:spcPts val="0"/>
              </a:spcBef>
              <a:buNone/>
            </a:pPr>
            <a:r>
              <a:rPr lang="en-CA" sz="1100"/>
              <a:t>    private static String lowerIt(String input)    {</a:t>
            </a:r>
          </a:p>
          <a:p>
            <a:pPr marL="0" indent="0">
              <a:lnSpc>
                <a:spcPct val="120000"/>
              </a:lnSpc>
              <a:spcBef>
                <a:spcPts val="0"/>
              </a:spcBef>
              <a:buNone/>
            </a:pPr>
            <a:r>
              <a:rPr lang="en-CA" sz="1100"/>
              <a:t>        return input.toLowerCase();</a:t>
            </a:r>
          </a:p>
          <a:p>
            <a:pPr marL="0" indent="0">
              <a:lnSpc>
                <a:spcPct val="120000"/>
              </a:lnSpc>
              <a:spcBef>
                <a:spcPts val="0"/>
              </a:spcBef>
              <a:buNone/>
            </a:pPr>
            <a:r>
              <a:rPr lang="en-CA" sz="1100"/>
              <a:t>    }</a:t>
            </a:r>
          </a:p>
          <a:p>
            <a:pPr marL="0" indent="0">
              <a:lnSpc>
                <a:spcPct val="120000"/>
              </a:lnSpc>
              <a:spcBef>
                <a:spcPts val="0"/>
              </a:spcBef>
              <a:buNone/>
            </a:pPr>
            <a:r>
              <a:rPr lang="en-CA" sz="1100"/>
              <a:t>    private static String upperIt(String input)    {</a:t>
            </a:r>
          </a:p>
          <a:p>
            <a:pPr marL="0" indent="0">
              <a:lnSpc>
                <a:spcPct val="120000"/>
              </a:lnSpc>
              <a:spcBef>
                <a:spcPts val="0"/>
              </a:spcBef>
              <a:buNone/>
            </a:pPr>
            <a:r>
              <a:rPr lang="en-CA" sz="1100"/>
              <a:t>        return input.toUpperCase();</a:t>
            </a:r>
          </a:p>
          <a:p>
            <a:pPr marL="0" indent="0">
              <a:lnSpc>
                <a:spcPct val="120000"/>
              </a:lnSpc>
              <a:spcBef>
                <a:spcPts val="0"/>
              </a:spcBef>
              <a:buNone/>
            </a:pPr>
            <a:r>
              <a:rPr lang="en-CA" sz="1100"/>
              <a:t>    }</a:t>
            </a:r>
          </a:p>
          <a:p>
            <a:pPr marL="0" indent="0">
              <a:lnSpc>
                <a:spcPct val="120000"/>
              </a:lnSpc>
              <a:spcBef>
                <a:spcPts val="0"/>
              </a:spcBef>
              <a:buNone/>
            </a:pPr>
            <a:r>
              <a:rPr lang="en-CA" sz="1100"/>
              <a:t>    private static void display(List&lt;String&gt; list, </a:t>
            </a:r>
            <a:r>
              <a:rPr lang="en-CA" sz="1100" b="1"/>
              <a:t>Converter converter</a:t>
            </a:r>
            <a:r>
              <a:rPr lang="en-CA" sz="1100"/>
              <a:t>)    {</a:t>
            </a:r>
          </a:p>
          <a:p>
            <a:pPr marL="0" indent="0">
              <a:lnSpc>
                <a:spcPct val="120000"/>
              </a:lnSpc>
              <a:spcBef>
                <a:spcPts val="0"/>
              </a:spcBef>
              <a:buNone/>
            </a:pPr>
            <a:r>
              <a:rPr lang="en-CA" sz="1100"/>
              <a:t>        for(String s: list)        {</a:t>
            </a:r>
          </a:p>
          <a:p>
            <a:pPr marL="0" indent="0">
              <a:lnSpc>
                <a:spcPct val="120000"/>
              </a:lnSpc>
              <a:spcBef>
                <a:spcPts val="0"/>
              </a:spcBef>
              <a:buNone/>
            </a:pPr>
            <a:r>
              <a:rPr lang="en-CA" sz="1100"/>
              <a:t>            System.out.println(converter.convert(s));</a:t>
            </a:r>
          </a:p>
          <a:p>
            <a:pPr marL="0" indent="0">
              <a:lnSpc>
                <a:spcPct val="120000"/>
              </a:lnSpc>
              <a:spcBef>
                <a:spcPts val="0"/>
              </a:spcBef>
              <a:buNone/>
            </a:pPr>
            <a:r>
              <a:rPr lang="en-CA" sz="1100"/>
              <a:t>        }</a:t>
            </a:r>
          </a:p>
          <a:p>
            <a:pPr marL="0" indent="0">
              <a:lnSpc>
                <a:spcPct val="120000"/>
              </a:lnSpc>
              <a:spcBef>
                <a:spcPts val="0"/>
              </a:spcBef>
              <a:buNone/>
            </a:pPr>
            <a:r>
              <a:rPr lang="en-CA" sz="1100"/>
              <a:t>    }</a:t>
            </a:r>
          </a:p>
          <a:p>
            <a:pPr marL="0" indent="0">
              <a:lnSpc>
                <a:spcPct val="120000"/>
              </a:lnSpc>
              <a:spcBef>
                <a:spcPts val="0"/>
              </a:spcBef>
              <a:buNone/>
            </a:pPr>
            <a:r>
              <a:rPr lang="en-CA" sz="1100"/>
              <a:t>}</a:t>
            </a:r>
          </a:p>
          <a:p>
            <a:pPr marL="0" indent="0">
              <a:lnSpc>
                <a:spcPct val="120000"/>
              </a:lnSpc>
              <a:spcBef>
                <a:spcPts val="0"/>
              </a:spcBef>
              <a:buNone/>
            </a:pPr>
            <a:r>
              <a:rPr lang="en-CA" sz="1100" b="1"/>
              <a:t>interface Converter{</a:t>
            </a:r>
          </a:p>
          <a:p>
            <a:pPr marL="0" indent="0">
              <a:lnSpc>
                <a:spcPct val="120000"/>
              </a:lnSpc>
              <a:spcBef>
                <a:spcPts val="0"/>
              </a:spcBef>
              <a:buNone/>
            </a:pPr>
            <a:r>
              <a:rPr lang="en-CA" sz="1100" b="1"/>
              <a:t>    String convert(String input);</a:t>
            </a:r>
          </a:p>
          <a:p>
            <a:pPr marL="0" indent="0">
              <a:lnSpc>
                <a:spcPct val="120000"/>
              </a:lnSpc>
              <a:spcBef>
                <a:spcPts val="0"/>
              </a:spcBef>
              <a:buNone/>
            </a:pPr>
            <a:r>
              <a:rPr lang="en-CA" sz="1100" b="1"/>
              <a:t>}</a:t>
            </a:r>
          </a:p>
          <a:p>
            <a:pPr marL="0" indent="0">
              <a:lnSpc>
                <a:spcPct val="120000"/>
              </a:lnSpc>
              <a:spcBef>
                <a:spcPts val="0"/>
              </a:spcBef>
              <a:buNone/>
            </a:pPr>
            <a:endParaRPr lang="en-CA" sz="1100"/>
          </a:p>
        </p:txBody>
      </p:sp>
      <p:sp>
        <p:nvSpPr>
          <p:cNvPr id="7" name="Footer Placeholder 6">
            <a:extLst>
              <a:ext uri="{FF2B5EF4-FFF2-40B4-BE49-F238E27FC236}">
                <a16:creationId xmlns:a16="http://schemas.microsoft.com/office/drawing/2014/main" id="{A1E86CE7-2F97-BCB0-851C-EDA8678ABD97}"/>
              </a:ext>
            </a:extLst>
          </p:cNvPr>
          <p:cNvSpPr>
            <a:spLocks noGrp="1"/>
          </p:cNvSpPr>
          <p:nvPr>
            <p:ph type="ftr" sz="quarter" idx="11"/>
          </p:nvPr>
        </p:nvSpPr>
        <p:spPr/>
        <p:txBody>
          <a:bodyPr/>
          <a:lstStyle/>
          <a:p>
            <a:r>
              <a:rPr lang="fr-FR"/>
              <a:t>2522 Lesson 6: Lambda Expressions</a:t>
            </a:r>
            <a:endParaRPr lang="en-CA"/>
          </a:p>
        </p:txBody>
      </p:sp>
      <p:sp>
        <p:nvSpPr>
          <p:cNvPr id="8" name="Slide Number Placeholder 7">
            <a:extLst>
              <a:ext uri="{FF2B5EF4-FFF2-40B4-BE49-F238E27FC236}">
                <a16:creationId xmlns:a16="http://schemas.microsoft.com/office/drawing/2014/main" id="{3E0AC6CE-C873-D33F-58AE-12A760DFE6D9}"/>
              </a:ext>
            </a:extLst>
          </p:cNvPr>
          <p:cNvSpPr>
            <a:spLocks noGrp="1"/>
          </p:cNvSpPr>
          <p:nvPr>
            <p:ph type="sldNum" sz="quarter" idx="12"/>
          </p:nvPr>
        </p:nvSpPr>
        <p:spPr/>
        <p:txBody>
          <a:bodyPr/>
          <a:lstStyle/>
          <a:p>
            <a:fld id="{173945DC-8F99-45A8-AB5A-6B932A0147A2}" type="slidenum">
              <a:rPr lang="en-CA" smtClean="0"/>
              <a:t>9</a:t>
            </a:fld>
            <a:endParaRPr lang="en-CA"/>
          </a:p>
        </p:txBody>
      </p:sp>
    </p:spTree>
    <p:extLst>
      <p:ext uri="{BB962C8B-B14F-4D97-AF65-F5344CB8AC3E}">
        <p14:creationId xmlns:p14="http://schemas.microsoft.com/office/powerpoint/2010/main" val="151879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FBFC-F3CA-76AC-A5F8-F9C013082836}"/>
              </a:ext>
            </a:extLst>
          </p:cNvPr>
          <p:cNvSpPr>
            <a:spLocks noGrp="1"/>
          </p:cNvSpPr>
          <p:nvPr>
            <p:ph type="title"/>
          </p:nvPr>
        </p:nvSpPr>
        <p:spPr/>
        <p:txBody>
          <a:bodyPr/>
          <a:lstStyle/>
          <a:p>
            <a:r>
              <a:rPr lang="en-US"/>
              <a:t>Lambda Expression Examples</a:t>
            </a:r>
            <a:endParaRPr lang="en-CA"/>
          </a:p>
        </p:txBody>
      </p:sp>
      <p:sp>
        <p:nvSpPr>
          <p:cNvPr id="3" name="Content Placeholder 2">
            <a:extLst>
              <a:ext uri="{FF2B5EF4-FFF2-40B4-BE49-F238E27FC236}">
                <a16:creationId xmlns:a16="http://schemas.microsoft.com/office/drawing/2014/main" id="{2E2042CA-0D56-D563-1A34-B5C09500D1BF}"/>
              </a:ext>
            </a:extLst>
          </p:cNvPr>
          <p:cNvSpPr>
            <a:spLocks noGrp="1"/>
          </p:cNvSpPr>
          <p:nvPr>
            <p:ph idx="1"/>
          </p:nvPr>
        </p:nvSpPr>
        <p:spPr/>
        <p:txBody>
          <a:bodyPr>
            <a:normAutofit fontScale="40000" lnSpcReduction="20000"/>
          </a:bodyPr>
          <a:lstStyle/>
          <a:p>
            <a:pPr marL="0" indent="0">
              <a:buNone/>
            </a:pPr>
            <a:r>
              <a:rPr lang="en-CA"/>
              <a:t>@FunctionalInterface</a:t>
            </a:r>
          </a:p>
          <a:p>
            <a:pPr marL="0" indent="0">
              <a:buNone/>
            </a:pPr>
            <a:r>
              <a:rPr lang="en-CA"/>
              <a:t>interface Mathable</a:t>
            </a:r>
          </a:p>
          <a:p>
            <a:pPr marL="0" indent="0">
              <a:buNone/>
            </a:pPr>
            <a:r>
              <a:rPr lang="en-CA"/>
              <a:t>{</a:t>
            </a:r>
          </a:p>
          <a:p>
            <a:pPr marL="0" indent="0">
              <a:buNone/>
            </a:pPr>
            <a:r>
              <a:rPr lang="en-CA"/>
              <a:t>    double doMath(int op1, int op2);</a:t>
            </a:r>
          </a:p>
          <a:p>
            <a:pPr marL="0" indent="0">
              <a:buNone/>
            </a:pPr>
            <a:r>
              <a:rPr lang="en-CA"/>
              <a:t>}</a:t>
            </a:r>
          </a:p>
          <a:p>
            <a:pPr marL="0" indent="0">
              <a:buNone/>
            </a:pPr>
            <a:endParaRPr lang="en-CA"/>
          </a:p>
          <a:p>
            <a:pPr marL="0" indent="0">
              <a:buNone/>
            </a:pPr>
            <a:r>
              <a:rPr lang="en-CA"/>
              <a:t>class MathStuff</a:t>
            </a:r>
          </a:p>
          <a:p>
            <a:pPr marL="0" indent="0">
              <a:buNone/>
            </a:pPr>
            <a:r>
              <a:rPr lang="en-CA"/>
              <a:t>{</a:t>
            </a:r>
          </a:p>
          <a:p>
            <a:pPr marL="0" indent="0">
              <a:buNone/>
            </a:pPr>
            <a:r>
              <a:rPr lang="en-CA"/>
              <a:t>    public static void main(final String[] args)</a:t>
            </a:r>
          </a:p>
          <a:p>
            <a:pPr marL="0" indent="0">
              <a:buNone/>
            </a:pPr>
            <a:r>
              <a:rPr lang="en-CA"/>
              <a:t>    {</a:t>
            </a:r>
          </a:p>
          <a:p>
            <a:pPr marL="0" indent="0">
              <a:buNone/>
            </a:pPr>
            <a:r>
              <a:rPr lang="en-CA"/>
              <a:t>        Mathable add = (a,b)-&gt;a+b;</a:t>
            </a:r>
          </a:p>
          <a:p>
            <a:pPr marL="0" indent="0">
              <a:buNone/>
            </a:pPr>
            <a:r>
              <a:rPr lang="en-CA"/>
              <a:t>        System.out.println(add.doMath(1, 40));</a:t>
            </a:r>
          </a:p>
          <a:p>
            <a:pPr marL="0" indent="0">
              <a:buNone/>
            </a:pPr>
            <a:endParaRPr lang="en-CA"/>
          </a:p>
          <a:p>
            <a:pPr marL="0" indent="0">
              <a:buNone/>
            </a:pPr>
            <a:r>
              <a:rPr lang="en-CA"/>
              <a:t>        Mathable power = (x,y)-&gt;Math.pow(x,y);</a:t>
            </a:r>
          </a:p>
          <a:p>
            <a:pPr marL="0" indent="0">
              <a:buNone/>
            </a:pPr>
            <a:r>
              <a:rPr lang="en-CA"/>
              <a:t>        System.out.println(power.doMath(2, 6));</a:t>
            </a:r>
          </a:p>
          <a:p>
            <a:pPr marL="0" indent="0">
              <a:buNone/>
            </a:pPr>
            <a:r>
              <a:rPr lang="en-CA"/>
              <a:t>    }</a:t>
            </a:r>
          </a:p>
          <a:p>
            <a:pPr marL="0" indent="0">
              <a:buNone/>
            </a:pPr>
            <a:r>
              <a:rPr lang="en-CA"/>
              <a:t>}</a:t>
            </a:r>
          </a:p>
        </p:txBody>
      </p:sp>
      <p:sp>
        <p:nvSpPr>
          <p:cNvPr id="4" name="Footer Placeholder 3">
            <a:extLst>
              <a:ext uri="{FF2B5EF4-FFF2-40B4-BE49-F238E27FC236}">
                <a16:creationId xmlns:a16="http://schemas.microsoft.com/office/drawing/2014/main" id="{4AA112AE-4119-5A93-595B-7E0E8E3DE119}"/>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267B75BD-678D-9621-A2FC-30387FD284E7}"/>
              </a:ext>
            </a:extLst>
          </p:cNvPr>
          <p:cNvSpPr>
            <a:spLocks noGrp="1"/>
          </p:cNvSpPr>
          <p:nvPr>
            <p:ph type="sldNum" sz="quarter" idx="12"/>
          </p:nvPr>
        </p:nvSpPr>
        <p:spPr/>
        <p:txBody>
          <a:bodyPr/>
          <a:lstStyle/>
          <a:p>
            <a:fld id="{173945DC-8F99-45A8-AB5A-6B932A0147A2}" type="slidenum">
              <a:rPr lang="en-CA" smtClean="0"/>
              <a:t>10</a:t>
            </a:fld>
            <a:endParaRPr lang="en-CA"/>
          </a:p>
        </p:txBody>
      </p:sp>
    </p:spTree>
    <p:extLst>
      <p:ext uri="{BB962C8B-B14F-4D97-AF65-F5344CB8AC3E}">
        <p14:creationId xmlns:p14="http://schemas.microsoft.com/office/powerpoint/2010/main" val="1175403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6030-5BBF-6908-2C28-D83216145AF6}"/>
              </a:ext>
            </a:extLst>
          </p:cNvPr>
          <p:cNvSpPr>
            <a:spLocks noGrp="1"/>
          </p:cNvSpPr>
          <p:nvPr>
            <p:ph type="title"/>
          </p:nvPr>
        </p:nvSpPr>
        <p:spPr/>
        <p:txBody>
          <a:bodyPr/>
          <a:lstStyle/>
          <a:p>
            <a:r>
              <a:rPr lang="en-US"/>
              <a:t>More Examples</a:t>
            </a:r>
            <a:endParaRPr lang="en-CA"/>
          </a:p>
        </p:txBody>
      </p:sp>
      <p:sp>
        <p:nvSpPr>
          <p:cNvPr id="3" name="Content Placeholder 2">
            <a:extLst>
              <a:ext uri="{FF2B5EF4-FFF2-40B4-BE49-F238E27FC236}">
                <a16:creationId xmlns:a16="http://schemas.microsoft.com/office/drawing/2014/main" id="{F4F6B577-5A7E-2A0E-0D87-F40C6E9C35DE}"/>
              </a:ext>
            </a:extLst>
          </p:cNvPr>
          <p:cNvSpPr>
            <a:spLocks noGrp="1"/>
          </p:cNvSpPr>
          <p:nvPr>
            <p:ph sz="half" idx="1"/>
          </p:nvPr>
        </p:nvSpPr>
        <p:spPr>
          <a:xfrm>
            <a:off x="364142" y="1456566"/>
            <a:ext cx="5655658" cy="5114167"/>
          </a:xfrm>
        </p:spPr>
        <p:txBody>
          <a:bodyPr>
            <a:noAutofit/>
          </a:bodyPr>
          <a:lstStyle/>
          <a:p>
            <a:pPr marL="0" indent="0">
              <a:lnSpc>
                <a:spcPct val="120000"/>
              </a:lnSpc>
              <a:spcBef>
                <a:spcPts val="0"/>
              </a:spcBef>
              <a:buNone/>
            </a:pPr>
            <a:r>
              <a:rPr lang="en-CA" sz="1200"/>
              <a:t>@FunctionalInterface</a:t>
            </a:r>
          </a:p>
          <a:p>
            <a:pPr marL="0" indent="0">
              <a:lnSpc>
                <a:spcPct val="120000"/>
              </a:lnSpc>
              <a:spcBef>
                <a:spcPts val="0"/>
              </a:spcBef>
              <a:buNone/>
            </a:pPr>
            <a:r>
              <a:rPr lang="en-CA" sz="1200"/>
              <a:t>interface Importantable{</a:t>
            </a:r>
          </a:p>
          <a:p>
            <a:pPr marL="0" indent="0">
              <a:lnSpc>
                <a:spcPct val="120000"/>
              </a:lnSpc>
              <a:spcBef>
                <a:spcPts val="0"/>
              </a:spcBef>
              <a:buNone/>
            </a:pPr>
            <a:r>
              <a:rPr lang="en-CA" sz="1200"/>
              <a:t>    String getImportantValue();</a:t>
            </a:r>
          </a:p>
          <a:p>
            <a:pPr marL="0" indent="0">
              <a:lnSpc>
                <a:spcPct val="120000"/>
              </a:lnSpc>
              <a:spcBef>
                <a:spcPts val="0"/>
              </a:spcBef>
              <a:buNone/>
            </a:pPr>
            <a:r>
              <a:rPr lang="en-CA" sz="1200"/>
              <a:t>}</a:t>
            </a:r>
          </a:p>
          <a:p>
            <a:pPr marL="0" indent="0">
              <a:lnSpc>
                <a:spcPct val="120000"/>
              </a:lnSpc>
              <a:spcBef>
                <a:spcPts val="0"/>
              </a:spcBef>
              <a:buNone/>
            </a:pPr>
            <a:endParaRPr lang="en-CA" sz="1200"/>
          </a:p>
          <a:p>
            <a:pPr marL="0" indent="0">
              <a:lnSpc>
                <a:spcPct val="120000"/>
              </a:lnSpc>
              <a:spcBef>
                <a:spcPts val="0"/>
              </a:spcBef>
              <a:buNone/>
            </a:pPr>
            <a:r>
              <a:rPr lang="en-CA" sz="1200"/>
              <a:t>interface Mathyable{</a:t>
            </a:r>
          </a:p>
          <a:p>
            <a:pPr marL="0" indent="0">
              <a:lnSpc>
                <a:spcPct val="120000"/>
              </a:lnSpc>
              <a:spcBef>
                <a:spcPts val="0"/>
              </a:spcBef>
              <a:buNone/>
            </a:pPr>
            <a:r>
              <a:rPr lang="en-CA" sz="1200"/>
              <a:t>    double doOperation(double x, double y);</a:t>
            </a:r>
          </a:p>
          <a:p>
            <a:pPr marL="0" indent="0">
              <a:lnSpc>
                <a:spcPct val="120000"/>
              </a:lnSpc>
              <a:spcBef>
                <a:spcPts val="0"/>
              </a:spcBef>
              <a:buNone/>
            </a:pPr>
            <a:r>
              <a:rPr lang="en-CA" sz="1200"/>
              <a:t>}</a:t>
            </a:r>
          </a:p>
          <a:p>
            <a:pPr marL="0" indent="0">
              <a:lnSpc>
                <a:spcPct val="120000"/>
              </a:lnSpc>
              <a:spcBef>
                <a:spcPts val="0"/>
              </a:spcBef>
              <a:buNone/>
            </a:pPr>
            <a:r>
              <a:rPr lang="en-CA" sz="1200"/>
              <a:t>class Arithmetic{</a:t>
            </a:r>
          </a:p>
          <a:p>
            <a:pPr marL="0" indent="0">
              <a:lnSpc>
                <a:spcPct val="120000"/>
              </a:lnSpc>
              <a:spcBef>
                <a:spcPts val="0"/>
              </a:spcBef>
              <a:buNone/>
            </a:pPr>
            <a:r>
              <a:rPr lang="en-CA" sz="1200"/>
              <a:t>    double add(Mathyable m, double a, double b)    {</a:t>
            </a:r>
          </a:p>
          <a:p>
            <a:pPr marL="0" indent="0">
              <a:lnSpc>
                <a:spcPct val="120000"/>
              </a:lnSpc>
              <a:spcBef>
                <a:spcPts val="0"/>
              </a:spcBef>
              <a:buNone/>
            </a:pPr>
            <a:r>
              <a:rPr lang="en-CA" sz="1200"/>
              <a:t>        return m.doOperation(a, b);</a:t>
            </a:r>
          </a:p>
          <a:p>
            <a:pPr marL="0" indent="0">
              <a:lnSpc>
                <a:spcPct val="120000"/>
              </a:lnSpc>
              <a:spcBef>
                <a:spcPts val="0"/>
              </a:spcBef>
              <a:buNone/>
            </a:pPr>
            <a:r>
              <a:rPr lang="en-CA" sz="1200"/>
              <a:t>    }</a:t>
            </a:r>
          </a:p>
          <a:p>
            <a:pPr marL="0" indent="0">
              <a:lnSpc>
                <a:spcPct val="120000"/>
              </a:lnSpc>
              <a:spcBef>
                <a:spcPts val="0"/>
              </a:spcBef>
              <a:buNone/>
            </a:pPr>
            <a:endParaRPr lang="en-CA" sz="1200"/>
          </a:p>
          <a:p>
            <a:pPr marL="0" indent="0">
              <a:lnSpc>
                <a:spcPct val="120000"/>
              </a:lnSpc>
              <a:spcBef>
                <a:spcPts val="0"/>
              </a:spcBef>
              <a:buNone/>
            </a:pPr>
            <a:r>
              <a:rPr lang="en-CA" sz="1200"/>
              <a:t>    double subtract(Mathyable m, double a, double b)    {</a:t>
            </a:r>
          </a:p>
          <a:p>
            <a:pPr marL="0" indent="0">
              <a:lnSpc>
                <a:spcPct val="120000"/>
              </a:lnSpc>
              <a:spcBef>
                <a:spcPts val="0"/>
              </a:spcBef>
              <a:buNone/>
            </a:pPr>
            <a:r>
              <a:rPr lang="en-CA" sz="1200"/>
              <a:t>        return m.doOperation(a, b);</a:t>
            </a:r>
          </a:p>
          <a:p>
            <a:pPr marL="0" indent="0">
              <a:lnSpc>
                <a:spcPct val="120000"/>
              </a:lnSpc>
              <a:spcBef>
                <a:spcPts val="0"/>
              </a:spcBef>
              <a:buNone/>
            </a:pPr>
            <a:r>
              <a:rPr lang="en-CA" sz="1200"/>
              <a:t>    }</a:t>
            </a:r>
          </a:p>
          <a:p>
            <a:pPr marL="0" indent="0">
              <a:lnSpc>
                <a:spcPct val="120000"/>
              </a:lnSpc>
              <a:spcBef>
                <a:spcPts val="0"/>
              </a:spcBef>
              <a:buNone/>
            </a:pPr>
            <a:r>
              <a:rPr lang="en-CA" sz="1200"/>
              <a:t>    double getRectangleArea(Mathyable m, double a, double b)    {</a:t>
            </a:r>
          </a:p>
          <a:p>
            <a:pPr marL="0" indent="0">
              <a:lnSpc>
                <a:spcPct val="120000"/>
              </a:lnSpc>
              <a:spcBef>
                <a:spcPts val="0"/>
              </a:spcBef>
              <a:buNone/>
            </a:pPr>
            <a:r>
              <a:rPr lang="en-CA" sz="1200"/>
              <a:t>        return m.doOperation(a, b);</a:t>
            </a:r>
          </a:p>
          <a:p>
            <a:pPr marL="0" indent="0">
              <a:lnSpc>
                <a:spcPct val="120000"/>
              </a:lnSpc>
              <a:spcBef>
                <a:spcPts val="0"/>
              </a:spcBef>
              <a:buNone/>
            </a:pPr>
            <a:r>
              <a:rPr lang="en-CA" sz="1200"/>
              <a:t>    }</a:t>
            </a:r>
          </a:p>
          <a:p>
            <a:pPr marL="0" indent="0">
              <a:lnSpc>
                <a:spcPct val="120000"/>
              </a:lnSpc>
              <a:spcBef>
                <a:spcPts val="0"/>
              </a:spcBef>
              <a:buNone/>
            </a:pPr>
            <a:r>
              <a:rPr lang="en-CA" sz="1200"/>
              <a:t>}</a:t>
            </a:r>
          </a:p>
          <a:p>
            <a:pPr marL="0" indent="0">
              <a:lnSpc>
                <a:spcPct val="120000"/>
              </a:lnSpc>
              <a:spcBef>
                <a:spcPts val="0"/>
              </a:spcBef>
              <a:buNone/>
            </a:pPr>
            <a:endParaRPr lang="en-CA" sz="1000"/>
          </a:p>
        </p:txBody>
      </p:sp>
      <p:sp>
        <p:nvSpPr>
          <p:cNvPr id="4" name="Content Placeholder 3">
            <a:extLst>
              <a:ext uri="{FF2B5EF4-FFF2-40B4-BE49-F238E27FC236}">
                <a16:creationId xmlns:a16="http://schemas.microsoft.com/office/drawing/2014/main" id="{24FFD52E-6600-8198-EA0A-4AF22F32D059}"/>
              </a:ext>
            </a:extLst>
          </p:cNvPr>
          <p:cNvSpPr>
            <a:spLocks noGrp="1"/>
          </p:cNvSpPr>
          <p:nvPr>
            <p:ph sz="half" idx="2"/>
          </p:nvPr>
        </p:nvSpPr>
        <p:spPr>
          <a:xfrm>
            <a:off x="6172199" y="365125"/>
            <a:ext cx="5655657" cy="5811838"/>
          </a:xfrm>
        </p:spPr>
        <p:txBody>
          <a:bodyPr>
            <a:noAutofit/>
          </a:bodyPr>
          <a:lstStyle/>
          <a:p>
            <a:pPr marL="0" indent="0">
              <a:lnSpc>
                <a:spcPct val="120000"/>
              </a:lnSpc>
              <a:spcBef>
                <a:spcPts val="0"/>
              </a:spcBef>
              <a:buNone/>
            </a:pPr>
            <a:r>
              <a:rPr lang="en-CA" sz="1200"/>
              <a:t>class Whatever {</a:t>
            </a:r>
          </a:p>
          <a:p>
            <a:pPr marL="0" indent="0">
              <a:lnSpc>
                <a:spcPct val="120000"/>
              </a:lnSpc>
              <a:spcBef>
                <a:spcPts val="0"/>
              </a:spcBef>
              <a:buNone/>
            </a:pPr>
            <a:endParaRPr lang="en-CA" sz="1200"/>
          </a:p>
          <a:p>
            <a:pPr marL="0" indent="0">
              <a:lnSpc>
                <a:spcPct val="120000"/>
              </a:lnSpc>
              <a:spcBef>
                <a:spcPts val="0"/>
              </a:spcBef>
              <a:buNone/>
            </a:pPr>
            <a:r>
              <a:rPr lang="en-CA" sz="1200"/>
              <a:t>    public static void main(final String[] args ) {</a:t>
            </a:r>
          </a:p>
          <a:p>
            <a:pPr marL="0" indent="0">
              <a:lnSpc>
                <a:spcPct val="120000"/>
              </a:lnSpc>
              <a:spcBef>
                <a:spcPts val="0"/>
              </a:spcBef>
              <a:buNone/>
            </a:pPr>
            <a:endParaRPr lang="en-CA" sz="1200"/>
          </a:p>
          <a:p>
            <a:pPr marL="0" indent="0">
              <a:lnSpc>
                <a:spcPct val="120000"/>
              </a:lnSpc>
              <a:spcBef>
                <a:spcPts val="0"/>
              </a:spcBef>
              <a:buNone/>
            </a:pPr>
            <a:r>
              <a:rPr lang="en-CA" sz="1200"/>
              <a:t>        Importantable pi;</a:t>
            </a:r>
          </a:p>
          <a:p>
            <a:pPr marL="0" indent="0">
              <a:lnSpc>
                <a:spcPct val="120000"/>
              </a:lnSpc>
              <a:spcBef>
                <a:spcPts val="0"/>
              </a:spcBef>
              <a:buNone/>
            </a:pPr>
            <a:r>
              <a:rPr lang="en-CA" sz="1200"/>
              <a:t>        pi = () -&gt; "3.14159";</a:t>
            </a:r>
          </a:p>
          <a:p>
            <a:pPr marL="0" indent="0">
              <a:lnSpc>
                <a:spcPct val="120000"/>
              </a:lnSpc>
              <a:spcBef>
                <a:spcPts val="0"/>
              </a:spcBef>
              <a:buNone/>
            </a:pPr>
            <a:r>
              <a:rPr lang="en-CA" sz="1200"/>
              <a:t>        System.out.println("Value of Pi = " + pi.getImportantValue());</a:t>
            </a:r>
          </a:p>
          <a:p>
            <a:pPr marL="0" indent="0">
              <a:lnSpc>
                <a:spcPct val="120000"/>
              </a:lnSpc>
              <a:spcBef>
                <a:spcPts val="0"/>
              </a:spcBef>
              <a:buNone/>
            </a:pPr>
            <a:endParaRPr lang="en-CA" sz="1200"/>
          </a:p>
          <a:p>
            <a:pPr marL="0" indent="0">
              <a:lnSpc>
                <a:spcPct val="120000"/>
              </a:lnSpc>
              <a:spcBef>
                <a:spcPts val="0"/>
              </a:spcBef>
              <a:buNone/>
            </a:pPr>
            <a:r>
              <a:rPr lang="en-CA" sz="1200"/>
              <a:t>        Importantable bcSchools;</a:t>
            </a:r>
          </a:p>
          <a:p>
            <a:pPr marL="0" indent="0">
              <a:lnSpc>
                <a:spcPct val="120000"/>
              </a:lnSpc>
              <a:spcBef>
                <a:spcPts val="0"/>
              </a:spcBef>
              <a:buNone/>
            </a:pPr>
            <a:r>
              <a:rPr lang="en-CA" sz="1200"/>
              <a:t>        bcSchools = ()-&gt;"bcit";</a:t>
            </a:r>
          </a:p>
          <a:p>
            <a:pPr marL="0" indent="0">
              <a:lnSpc>
                <a:spcPct val="120000"/>
              </a:lnSpc>
              <a:spcBef>
                <a:spcPts val="0"/>
              </a:spcBef>
              <a:buNone/>
            </a:pPr>
            <a:r>
              <a:rPr lang="en-CA" sz="1200"/>
              <a:t>        System.out.println("important BC school = " + bcSchools.getImportantValue());</a:t>
            </a:r>
          </a:p>
          <a:p>
            <a:pPr marL="0" indent="0">
              <a:lnSpc>
                <a:spcPct val="120000"/>
              </a:lnSpc>
              <a:spcBef>
                <a:spcPts val="0"/>
              </a:spcBef>
              <a:buNone/>
            </a:pPr>
            <a:endParaRPr lang="en-CA" sz="1200"/>
          </a:p>
          <a:p>
            <a:pPr marL="0" indent="0">
              <a:lnSpc>
                <a:spcPct val="120000"/>
              </a:lnSpc>
              <a:spcBef>
                <a:spcPts val="0"/>
              </a:spcBef>
              <a:buNone/>
            </a:pPr>
            <a:r>
              <a:rPr lang="en-CA" sz="1200"/>
              <a:t>        String first = "tiger";</a:t>
            </a:r>
          </a:p>
          <a:p>
            <a:pPr marL="0" indent="0">
              <a:lnSpc>
                <a:spcPct val="120000"/>
              </a:lnSpc>
              <a:spcBef>
                <a:spcPts val="0"/>
              </a:spcBef>
              <a:buNone/>
            </a:pPr>
            <a:r>
              <a:rPr lang="en-CA" sz="1200"/>
              <a:t>        String last = "woods";</a:t>
            </a:r>
          </a:p>
          <a:p>
            <a:pPr marL="0" indent="0">
              <a:lnSpc>
                <a:spcPct val="120000"/>
              </a:lnSpc>
              <a:spcBef>
                <a:spcPts val="0"/>
              </a:spcBef>
              <a:buNone/>
            </a:pPr>
            <a:r>
              <a:rPr lang="en-CA" sz="1200"/>
              <a:t>        Importantable fullName;</a:t>
            </a:r>
          </a:p>
          <a:p>
            <a:pPr marL="0" indent="0">
              <a:lnSpc>
                <a:spcPct val="120000"/>
              </a:lnSpc>
              <a:spcBef>
                <a:spcPts val="0"/>
              </a:spcBef>
              <a:buNone/>
            </a:pPr>
            <a:r>
              <a:rPr lang="en-CA" sz="1200"/>
              <a:t>        fullName = ()-&gt;first+" " + last;</a:t>
            </a:r>
          </a:p>
          <a:p>
            <a:pPr marL="0" indent="0">
              <a:lnSpc>
                <a:spcPct val="120000"/>
              </a:lnSpc>
              <a:spcBef>
                <a:spcPts val="0"/>
              </a:spcBef>
              <a:buNone/>
            </a:pPr>
            <a:r>
              <a:rPr lang="en-CA" sz="1200"/>
              <a:t>        System.out.println("important name = " + fullName.getImportantValue());</a:t>
            </a:r>
          </a:p>
          <a:p>
            <a:pPr marL="0" indent="0">
              <a:lnSpc>
                <a:spcPct val="120000"/>
              </a:lnSpc>
              <a:spcBef>
                <a:spcPts val="0"/>
              </a:spcBef>
              <a:buNone/>
            </a:pPr>
            <a:endParaRPr lang="en-CA" sz="1200"/>
          </a:p>
          <a:p>
            <a:pPr marL="0" indent="0">
              <a:lnSpc>
                <a:spcPct val="120000"/>
              </a:lnSpc>
              <a:spcBef>
                <a:spcPts val="0"/>
              </a:spcBef>
              <a:buNone/>
            </a:pPr>
            <a:r>
              <a:rPr lang="en-CA" sz="1200"/>
              <a:t>        Arithmetic a = new Arithmetic();</a:t>
            </a:r>
          </a:p>
          <a:p>
            <a:pPr marL="0" indent="0">
              <a:lnSpc>
                <a:spcPct val="120000"/>
              </a:lnSpc>
              <a:spcBef>
                <a:spcPts val="0"/>
              </a:spcBef>
              <a:buNone/>
            </a:pPr>
            <a:r>
              <a:rPr lang="en-CA" sz="1200"/>
              <a:t>        System.out.println(a.add((c,d)-&gt;c+d, 7, 8));</a:t>
            </a:r>
          </a:p>
          <a:p>
            <a:pPr marL="0" indent="0">
              <a:lnSpc>
                <a:spcPct val="120000"/>
              </a:lnSpc>
              <a:spcBef>
                <a:spcPts val="0"/>
              </a:spcBef>
              <a:buNone/>
            </a:pPr>
            <a:r>
              <a:rPr lang="en-CA" sz="1200"/>
              <a:t>        System.out.println(a.subtract((c,d)-&gt;c-d, 7, 8));</a:t>
            </a:r>
          </a:p>
          <a:p>
            <a:pPr marL="0" indent="0">
              <a:lnSpc>
                <a:spcPct val="120000"/>
              </a:lnSpc>
              <a:spcBef>
                <a:spcPts val="0"/>
              </a:spcBef>
              <a:buNone/>
            </a:pPr>
            <a:r>
              <a:rPr lang="en-CA" sz="1200"/>
              <a:t>        System.out.println(a.getRectangleArea((c,d)-&gt;c*d, 7, 8));</a:t>
            </a:r>
          </a:p>
          <a:p>
            <a:pPr marL="0" indent="0">
              <a:lnSpc>
                <a:spcPct val="120000"/>
              </a:lnSpc>
              <a:spcBef>
                <a:spcPts val="0"/>
              </a:spcBef>
              <a:buNone/>
            </a:pPr>
            <a:r>
              <a:rPr lang="en-CA" sz="1200"/>
              <a:t>    }</a:t>
            </a:r>
          </a:p>
          <a:p>
            <a:pPr marL="0" indent="0">
              <a:lnSpc>
                <a:spcPct val="120000"/>
              </a:lnSpc>
              <a:spcBef>
                <a:spcPts val="0"/>
              </a:spcBef>
              <a:buNone/>
            </a:pPr>
            <a:r>
              <a:rPr lang="en-CA" sz="1200"/>
              <a:t>}</a:t>
            </a:r>
          </a:p>
        </p:txBody>
      </p:sp>
      <p:sp>
        <p:nvSpPr>
          <p:cNvPr id="5" name="Footer Placeholder 4">
            <a:extLst>
              <a:ext uri="{FF2B5EF4-FFF2-40B4-BE49-F238E27FC236}">
                <a16:creationId xmlns:a16="http://schemas.microsoft.com/office/drawing/2014/main" id="{407DE663-ABE2-03F2-2F0F-99A7314A4ECD}"/>
              </a:ext>
            </a:extLst>
          </p:cNvPr>
          <p:cNvSpPr>
            <a:spLocks noGrp="1"/>
          </p:cNvSpPr>
          <p:nvPr>
            <p:ph type="ftr" sz="quarter" idx="11"/>
          </p:nvPr>
        </p:nvSpPr>
        <p:spPr/>
        <p:txBody>
          <a:bodyPr/>
          <a:lstStyle/>
          <a:p>
            <a:r>
              <a:rPr lang="fr-FR"/>
              <a:t>2522 Lesson 6: Lambda Expressions</a:t>
            </a:r>
            <a:endParaRPr lang="en-CA"/>
          </a:p>
        </p:txBody>
      </p:sp>
      <p:sp>
        <p:nvSpPr>
          <p:cNvPr id="6" name="Slide Number Placeholder 5">
            <a:extLst>
              <a:ext uri="{FF2B5EF4-FFF2-40B4-BE49-F238E27FC236}">
                <a16:creationId xmlns:a16="http://schemas.microsoft.com/office/drawing/2014/main" id="{7A46D307-B448-020B-CEF9-3E525B7DBD89}"/>
              </a:ext>
            </a:extLst>
          </p:cNvPr>
          <p:cNvSpPr>
            <a:spLocks noGrp="1"/>
          </p:cNvSpPr>
          <p:nvPr>
            <p:ph type="sldNum" sz="quarter" idx="12"/>
          </p:nvPr>
        </p:nvSpPr>
        <p:spPr/>
        <p:txBody>
          <a:bodyPr/>
          <a:lstStyle/>
          <a:p>
            <a:fld id="{173945DC-8F99-45A8-AB5A-6B932A0147A2}" type="slidenum">
              <a:rPr lang="en-CA" smtClean="0"/>
              <a:t>11</a:t>
            </a:fld>
            <a:endParaRPr lang="en-CA"/>
          </a:p>
        </p:txBody>
      </p:sp>
    </p:spTree>
    <p:extLst>
      <p:ext uri="{BB962C8B-B14F-4D97-AF65-F5344CB8AC3E}">
        <p14:creationId xmlns:p14="http://schemas.microsoft.com/office/powerpoint/2010/main" val="321264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79E8D3-DFC9-C007-1560-DD68ED13ACB2}"/>
              </a:ext>
            </a:extLst>
          </p:cNvPr>
          <p:cNvSpPr>
            <a:spLocks noGrp="1"/>
          </p:cNvSpPr>
          <p:nvPr>
            <p:ph type="title"/>
          </p:nvPr>
        </p:nvSpPr>
        <p:spPr/>
        <p:txBody>
          <a:bodyPr/>
          <a:lstStyle/>
          <a:p>
            <a:r>
              <a:rPr lang="en-US"/>
              <a:t>Redefining at Runtime</a:t>
            </a:r>
            <a:endParaRPr lang="en-CA"/>
          </a:p>
        </p:txBody>
      </p:sp>
      <p:sp>
        <p:nvSpPr>
          <p:cNvPr id="6" name="Content Placeholder 5">
            <a:extLst>
              <a:ext uri="{FF2B5EF4-FFF2-40B4-BE49-F238E27FC236}">
                <a16:creationId xmlns:a16="http://schemas.microsoft.com/office/drawing/2014/main" id="{B961440F-2A4A-5888-7079-366AB2B327C4}"/>
              </a:ext>
            </a:extLst>
          </p:cNvPr>
          <p:cNvSpPr>
            <a:spLocks noGrp="1"/>
          </p:cNvSpPr>
          <p:nvPr>
            <p:ph idx="1"/>
          </p:nvPr>
        </p:nvSpPr>
        <p:spPr>
          <a:xfrm>
            <a:off x="838200" y="1456566"/>
            <a:ext cx="10515600" cy="4720397"/>
          </a:xfrm>
        </p:spPr>
        <p:txBody>
          <a:bodyPr>
            <a:noAutofit/>
          </a:bodyPr>
          <a:lstStyle/>
          <a:p>
            <a:pPr marL="0" indent="0">
              <a:lnSpc>
                <a:spcPct val="120000"/>
              </a:lnSpc>
              <a:spcBef>
                <a:spcPts val="0"/>
              </a:spcBef>
              <a:buNone/>
            </a:pPr>
            <a:r>
              <a:rPr lang="en-CA" sz="1200"/>
              <a:t>@FunctionalInterface</a:t>
            </a:r>
          </a:p>
          <a:p>
            <a:pPr marL="0" indent="0">
              <a:lnSpc>
                <a:spcPct val="120000"/>
              </a:lnSpc>
              <a:spcBef>
                <a:spcPts val="0"/>
              </a:spcBef>
              <a:buNone/>
            </a:pPr>
            <a:r>
              <a:rPr lang="en-CA" sz="1200"/>
              <a:t>interface Nameable</a:t>
            </a:r>
          </a:p>
          <a:p>
            <a:pPr marL="0" indent="0">
              <a:lnSpc>
                <a:spcPct val="120000"/>
              </a:lnSpc>
              <a:spcBef>
                <a:spcPts val="0"/>
              </a:spcBef>
              <a:buNone/>
            </a:pPr>
            <a:r>
              <a:rPr lang="en-CA" sz="1200"/>
              <a:t>{</a:t>
            </a:r>
          </a:p>
          <a:p>
            <a:pPr marL="0" indent="0">
              <a:lnSpc>
                <a:spcPct val="120000"/>
              </a:lnSpc>
              <a:spcBef>
                <a:spcPts val="0"/>
              </a:spcBef>
              <a:buNone/>
            </a:pPr>
            <a:r>
              <a:rPr lang="en-CA" sz="1200"/>
              <a:t>    String getOneString(String s1, String s2, int n);</a:t>
            </a:r>
          </a:p>
          <a:p>
            <a:pPr marL="0" indent="0">
              <a:lnSpc>
                <a:spcPct val="120000"/>
              </a:lnSpc>
              <a:spcBef>
                <a:spcPts val="0"/>
              </a:spcBef>
              <a:buNone/>
            </a:pPr>
            <a:r>
              <a:rPr lang="en-CA" sz="1200"/>
              <a:t>}</a:t>
            </a:r>
          </a:p>
          <a:p>
            <a:pPr marL="0" indent="0">
              <a:lnSpc>
                <a:spcPct val="120000"/>
              </a:lnSpc>
              <a:spcBef>
                <a:spcPts val="0"/>
              </a:spcBef>
              <a:buNone/>
            </a:pPr>
            <a:endParaRPr lang="en-CA" sz="1200"/>
          </a:p>
          <a:p>
            <a:pPr marL="0" indent="0">
              <a:lnSpc>
                <a:spcPct val="120000"/>
              </a:lnSpc>
              <a:spcBef>
                <a:spcPts val="0"/>
              </a:spcBef>
              <a:buNone/>
            </a:pPr>
            <a:r>
              <a:rPr lang="en-CA" sz="1200"/>
              <a:t>class Main</a:t>
            </a:r>
          </a:p>
          <a:p>
            <a:pPr marL="0" indent="0">
              <a:lnSpc>
                <a:spcPct val="120000"/>
              </a:lnSpc>
              <a:spcBef>
                <a:spcPts val="0"/>
              </a:spcBef>
              <a:buNone/>
            </a:pPr>
            <a:r>
              <a:rPr lang="en-CA" sz="1200"/>
              <a:t>{</a:t>
            </a:r>
          </a:p>
          <a:p>
            <a:pPr marL="0" indent="0">
              <a:lnSpc>
                <a:spcPct val="120000"/>
              </a:lnSpc>
              <a:spcBef>
                <a:spcPts val="0"/>
              </a:spcBef>
              <a:buNone/>
            </a:pPr>
            <a:r>
              <a:rPr lang="en-CA" sz="1200"/>
              <a:t>    public static void main(final String[] args)</a:t>
            </a:r>
          </a:p>
          <a:p>
            <a:pPr marL="0" indent="0">
              <a:lnSpc>
                <a:spcPct val="120000"/>
              </a:lnSpc>
              <a:spcBef>
                <a:spcPts val="0"/>
              </a:spcBef>
              <a:buNone/>
            </a:pPr>
            <a:r>
              <a:rPr lang="en-CA" sz="1200"/>
              <a:t>    {</a:t>
            </a:r>
          </a:p>
          <a:p>
            <a:pPr marL="0" indent="0">
              <a:lnSpc>
                <a:spcPct val="120000"/>
              </a:lnSpc>
              <a:spcBef>
                <a:spcPts val="0"/>
              </a:spcBef>
              <a:buNone/>
            </a:pPr>
            <a:r>
              <a:rPr lang="en-CA" sz="1200"/>
              <a:t>        // repeat strings n times</a:t>
            </a:r>
          </a:p>
          <a:p>
            <a:pPr marL="0" indent="0">
              <a:lnSpc>
                <a:spcPct val="120000"/>
              </a:lnSpc>
              <a:spcBef>
                <a:spcPts val="0"/>
              </a:spcBef>
              <a:buNone/>
            </a:pPr>
            <a:r>
              <a:rPr lang="en-CA" sz="1200"/>
              <a:t>        Nameable repeatNames = (first, last, repeat)-&gt;{String s =""; for(int i = 0; i &lt; repeat; i++){s+=first;s+=last;} return s;};</a:t>
            </a:r>
          </a:p>
          <a:p>
            <a:pPr marL="0" indent="0">
              <a:lnSpc>
                <a:spcPct val="120000"/>
              </a:lnSpc>
              <a:spcBef>
                <a:spcPts val="0"/>
              </a:spcBef>
              <a:buNone/>
            </a:pPr>
            <a:r>
              <a:rPr lang="en-CA" sz="1200"/>
              <a:t>        System.out.println(repeatNames.getOneString("tiger", "woods", 3));</a:t>
            </a:r>
          </a:p>
          <a:p>
            <a:pPr marL="0" indent="0">
              <a:lnSpc>
                <a:spcPct val="120000"/>
              </a:lnSpc>
              <a:spcBef>
                <a:spcPts val="0"/>
              </a:spcBef>
              <a:buNone/>
            </a:pPr>
            <a:endParaRPr lang="en-CA" sz="1200"/>
          </a:p>
          <a:p>
            <a:pPr marL="0" indent="0">
              <a:lnSpc>
                <a:spcPct val="120000"/>
              </a:lnSpc>
              <a:spcBef>
                <a:spcPts val="0"/>
              </a:spcBef>
              <a:buNone/>
            </a:pPr>
            <a:r>
              <a:rPr lang="en-CA" sz="1200"/>
              <a:t>        // string gets first n chars</a:t>
            </a:r>
          </a:p>
          <a:p>
            <a:pPr marL="0" indent="0">
              <a:lnSpc>
                <a:spcPct val="120000"/>
              </a:lnSpc>
              <a:spcBef>
                <a:spcPts val="0"/>
              </a:spcBef>
              <a:buNone/>
            </a:pPr>
            <a:r>
              <a:rPr lang="en-CA" sz="1200"/>
              <a:t>        Nameable getSubstrings = (string1, string2, numLetters)-&gt;{String s=""; s+=string1.substring(0, numLetters); s+=string2.substring(0, numLetters);return s;};</a:t>
            </a:r>
          </a:p>
          <a:p>
            <a:pPr marL="0" indent="0">
              <a:lnSpc>
                <a:spcPct val="120000"/>
              </a:lnSpc>
              <a:spcBef>
                <a:spcPts val="0"/>
              </a:spcBef>
              <a:buNone/>
            </a:pPr>
            <a:r>
              <a:rPr lang="en-CA" sz="1200"/>
              <a:t>        System.out.println(getSubstrings.getOneString("tiger", "woods", 3));</a:t>
            </a:r>
          </a:p>
          <a:p>
            <a:pPr marL="0" indent="0">
              <a:lnSpc>
                <a:spcPct val="120000"/>
              </a:lnSpc>
              <a:spcBef>
                <a:spcPts val="0"/>
              </a:spcBef>
              <a:buNone/>
            </a:pPr>
            <a:endParaRPr lang="en-CA" sz="1200"/>
          </a:p>
          <a:p>
            <a:pPr marL="0" indent="0">
              <a:lnSpc>
                <a:spcPct val="120000"/>
              </a:lnSpc>
              <a:spcBef>
                <a:spcPts val="0"/>
              </a:spcBef>
              <a:buNone/>
            </a:pPr>
            <a:r>
              <a:rPr lang="en-CA" sz="1200"/>
              <a:t>        // get letters at position n</a:t>
            </a:r>
          </a:p>
          <a:p>
            <a:pPr marL="0" indent="0">
              <a:lnSpc>
                <a:spcPct val="120000"/>
              </a:lnSpc>
              <a:spcBef>
                <a:spcPts val="0"/>
              </a:spcBef>
              <a:buNone/>
            </a:pPr>
            <a:r>
              <a:rPr lang="en-CA" sz="1200"/>
              <a:t>        Nameable nthChars = (str1, str2, n)-&gt;{return "" + str1.charAt(n) + str2.charAt(n);};</a:t>
            </a:r>
          </a:p>
          <a:p>
            <a:pPr marL="0" indent="0">
              <a:lnSpc>
                <a:spcPct val="120000"/>
              </a:lnSpc>
              <a:spcBef>
                <a:spcPts val="0"/>
              </a:spcBef>
              <a:buNone/>
            </a:pPr>
            <a:r>
              <a:rPr lang="en-CA" sz="1200"/>
              <a:t>        System.out.println(nthChars.getOneString("tiger", "woods", 3));</a:t>
            </a:r>
          </a:p>
          <a:p>
            <a:pPr marL="0" indent="0">
              <a:lnSpc>
                <a:spcPct val="120000"/>
              </a:lnSpc>
              <a:spcBef>
                <a:spcPts val="0"/>
              </a:spcBef>
              <a:buNone/>
            </a:pPr>
            <a:r>
              <a:rPr lang="en-CA" sz="1200"/>
              <a:t>    }</a:t>
            </a:r>
          </a:p>
          <a:p>
            <a:pPr marL="0" indent="0">
              <a:lnSpc>
                <a:spcPct val="120000"/>
              </a:lnSpc>
              <a:spcBef>
                <a:spcPts val="0"/>
              </a:spcBef>
              <a:buNone/>
            </a:pPr>
            <a:r>
              <a:rPr lang="en-CA" sz="1200"/>
              <a:t>}</a:t>
            </a:r>
          </a:p>
        </p:txBody>
      </p:sp>
      <p:sp>
        <p:nvSpPr>
          <p:cNvPr id="7" name="Footer Placeholder 6">
            <a:extLst>
              <a:ext uri="{FF2B5EF4-FFF2-40B4-BE49-F238E27FC236}">
                <a16:creationId xmlns:a16="http://schemas.microsoft.com/office/drawing/2014/main" id="{77AF67D5-FD4D-4C6D-40FA-3741FD7DB20C}"/>
              </a:ext>
            </a:extLst>
          </p:cNvPr>
          <p:cNvSpPr>
            <a:spLocks noGrp="1"/>
          </p:cNvSpPr>
          <p:nvPr>
            <p:ph type="ftr" sz="quarter" idx="11"/>
          </p:nvPr>
        </p:nvSpPr>
        <p:spPr/>
        <p:txBody>
          <a:bodyPr/>
          <a:lstStyle/>
          <a:p>
            <a:r>
              <a:rPr lang="fr-FR"/>
              <a:t>2522 Lesson 6: Lambda Expressions</a:t>
            </a:r>
            <a:endParaRPr lang="en-CA"/>
          </a:p>
        </p:txBody>
      </p:sp>
      <p:sp>
        <p:nvSpPr>
          <p:cNvPr id="8" name="Slide Number Placeholder 7">
            <a:extLst>
              <a:ext uri="{FF2B5EF4-FFF2-40B4-BE49-F238E27FC236}">
                <a16:creationId xmlns:a16="http://schemas.microsoft.com/office/drawing/2014/main" id="{DF0BAACB-EE4E-0CB8-07FE-BA31F6493678}"/>
              </a:ext>
            </a:extLst>
          </p:cNvPr>
          <p:cNvSpPr>
            <a:spLocks noGrp="1"/>
          </p:cNvSpPr>
          <p:nvPr>
            <p:ph type="sldNum" sz="quarter" idx="12"/>
          </p:nvPr>
        </p:nvSpPr>
        <p:spPr/>
        <p:txBody>
          <a:bodyPr/>
          <a:lstStyle/>
          <a:p>
            <a:fld id="{173945DC-8F99-45A8-AB5A-6B932A0147A2}" type="slidenum">
              <a:rPr lang="en-CA" smtClean="0"/>
              <a:t>12</a:t>
            </a:fld>
            <a:endParaRPr lang="en-CA"/>
          </a:p>
        </p:txBody>
      </p:sp>
    </p:spTree>
    <p:extLst>
      <p:ext uri="{BB962C8B-B14F-4D97-AF65-F5344CB8AC3E}">
        <p14:creationId xmlns:p14="http://schemas.microsoft.com/office/powerpoint/2010/main" val="2447259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947F8-D594-39D6-B9DB-51AA21486518}"/>
              </a:ext>
            </a:extLst>
          </p:cNvPr>
          <p:cNvSpPr>
            <a:spLocks noGrp="1"/>
          </p:cNvSpPr>
          <p:nvPr>
            <p:ph type="title"/>
          </p:nvPr>
        </p:nvSpPr>
        <p:spPr/>
        <p:txBody>
          <a:bodyPr/>
          <a:lstStyle/>
          <a:p>
            <a:r>
              <a:rPr lang="en-US"/>
              <a:t>Final Example</a:t>
            </a:r>
            <a:endParaRPr lang="en-CA"/>
          </a:p>
        </p:txBody>
      </p:sp>
      <p:sp>
        <p:nvSpPr>
          <p:cNvPr id="3" name="Content Placeholder 2">
            <a:extLst>
              <a:ext uri="{FF2B5EF4-FFF2-40B4-BE49-F238E27FC236}">
                <a16:creationId xmlns:a16="http://schemas.microsoft.com/office/drawing/2014/main" id="{4A07457B-6336-1C4A-062E-C360185845F3}"/>
              </a:ext>
            </a:extLst>
          </p:cNvPr>
          <p:cNvSpPr>
            <a:spLocks noGrp="1"/>
          </p:cNvSpPr>
          <p:nvPr>
            <p:ph idx="1"/>
          </p:nvPr>
        </p:nvSpPr>
        <p:spPr>
          <a:xfrm>
            <a:off x="838200" y="1402597"/>
            <a:ext cx="10515600" cy="5318878"/>
          </a:xfrm>
        </p:spPr>
        <p:txBody>
          <a:bodyPr>
            <a:normAutofit fontScale="40000" lnSpcReduction="20000"/>
          </a:bodyPr>
          <a:lstStyle/>
          <a:p>
            <a:pPr marL="0" indent="0">
              <a:lnSpc>
                <a:spcPct val="120000"/>
              </a:lnSpc>
              <a:spcBef>
                <a:spcPts val="0"/>
              </a:spcBef>
              <a:buNone/>
            </a:pPr>
            <a:r>
              <a:rPr lang="en-CA"/>
              <a:t>import org.w3c.dom.ls.LSOutput;</a:t>
            </a:r>
          </a:p>
          <a:p>
            <a:pPr marL="0" indent="0">
              <a:lnSpc>
                <a:spcPct val="120000"/>
              </a:lnSpc>
              <a:spcBef>
                <a:spcPts val="0"/>
              </a:spcBef>
              <a:buNone/>
            </a:pPr>
            <a:endParaRPr lang="en-CA"/>
          </a:p>
          <a:p>
            <a:pPr marL="0" indent="0">
              <a:lnSpc>
                <a:spcPct val="120000"/>
              </a:lnSpc>
              <a:spcBef>
                <a:spcPts val="0"/>
              </a:spcBef>
              <a:buNone/>
            </a:pPr>
            <a:r>
              <a:rPr lang="en-CA"/>
              <a:t>interface Caseable{</a:t>
            </a:r>
          </a:p>
          <a:p>
            <a:pPr marL="0" indent="0">
              <a:lnSpc>
                <a:spcPct val="120000"/>
              </a:lnSpc>
              <a:spcBef>
                <a:spcPts val="0"/>
              </a:spcBef>
              <a:buNone/>
            </a:pPr>
            <a:r>
              <a:rPr lang="en-CA"/>
              <a:t>    String changeCase(String s);</a:t>
            </a:r>
          </a:p>
          <a:p>
            <a:pPr marL="0" indent="0">
              <a:lnSpc>
                <a:spcPct val="120000"/>
              </a:lnSpc>
              <a:spcBef>
                <a:spcPts val="0"/>
              </a:spcBef>
              <a:buNone/>
            </a:pPr>
            <a:r>
              <a:rPr lang="en-CA"/>
              <a:t>}</a:t>
            </a:r>
          </a:p>
          <a:p>
            <a:pPr marL="0" indent="0">
              <a:lnSpc>
                <a:spcPct val="120000"/>
              </a:lnSpc>
              <a:spcBef>
                <a:spcPts val="0"/>
              </a:spcBef>
              <a:buNone/>
            </a:pPr>
            <a:r>
              <a:rPr lang="en-CA"/>
              <a:t>class StringStuff{</a:t>
            </a:r>
          </a:p>
          <a:p>
            <a:pPr marL="0" indent="0">
              <a:lnSpc>
                <a:spcPct val="120000"/>
              </a:lnSpc>
              <a:spcBef>
                <a:spcPts val="0"/>
              </a:spcBef>
              <a:buNone/>
            </a:pPr>
            <a:r>
              <a:rPr lang="en-CA"/>
              <a:t>    public static void main(String[] args)</a:t>
            </a:r>
          </a:p>
          <a:p>
            <a:pPr marL="0" indent="0">
              <a:lnSpc>
                <a:spcPct val="120000"/>
              </a:lnSpc>
              <a:spcBef>
                <a:spcPts val="0"/>
              </a:spcBef>
              <a:buNone/>
            </a:pPr>
            <a:r>
              <a:rPr lang="en-CA"/>
              <a:t>    {</a:t>
            </a:r>
          </a:p>
          <a:p>
            <a:pPr marL="0" indent="0">
              <a:lnSpc>
                <a:spcPct val="120000"/>
              </a:lnSpc>
              <a:spcBef>
                <a:spcPts val="0"/>
              </a:spcBef>
              <a:buNone/>
            </a:pPr>
            <a:r>
              <a:rPr lang="en-CA"/>
              <a:t>        Caseable upper = s-&gt;s.toUpperCase();</a:t>
            </a:r>
          </a:p>
          <a:p>
            <a:pPr marL="0" indent="0">
              <a:lnSpc>
                <a:spcPct val="120000"/>
              </a:lnSpc>
              <a:spcBef>
                <a:spcPts val="0"/>
              </a:spcBef>
              <a:buNone/>
            </a:pPr>
            <a:r>
              <a:rPr lang="en-CA"/>
              <a:t>        Caseable lower = s-&gt;s.toLowerCase();</a:t>
            </a:r>
          </a:p>
          <a:p>
            <a:pPr marL="0" indent="0">
              <a:lnSpc>
                <a:spcPct val="120000"/>
              </a:lnSpc>
              <a:spcBef>
                <a:spcPts val="0"/>
              </a:spcBef>
              <a:buNone/>
            </a:pPr>
            <a:r>
              <a:rPr lang="en-CA"/>
              <a:t>        Caseable title = s -&gt;{</a:t>
            </a:r>
          </a:p>
          <a:p>
            <a:pPr marL="0" indent="0">
              <a:lnSpc>
                <a:spcPct val="120000"/>
              </a:lnSpc>
              <a:spcBef>
                <a:spcPts val="0"/>
              </a:spcBef>
              <a:buNone/>
            </a:pPr>
            <a:r>
              <a:rPr lang="en-CA"/>
              <a:t>            return s.toUpperCase().charAt(0) +</a:t>
            </a:r>
          </a:p>
          <a:p>
            <a:pPr marL="0" indent="0">
              <a:lnSpc>
                <a:spcPct val="120000"/>
              </a:lnSpc>
              <a:spcBef>
                <a:spcPts val="0"/>
              </a:spcBef>
              <a:buNone/>
            </a:pPr>
            <a:r>
              <a:rPr lang="en-CA"/>
              <a:t>                    s.toLowerCase().substring(1);</a:t>
            </a:r>
          </a:p>
          <a:p>
            <a:pPr marL="0" indent="0">
              <a:lnSpc>
                <a:spcPct val="120000"/>
              </a:lnSpc>
              <a:spcBef>
                <a:spcPts val="0"/>
              </a:spcBef>
              <a:buNone/>
            </a:pPr>
            <a:r>
              <a:rPr lang="en-CA"/>
              <a:t>        };</a:t>
            </a:r>
          </a:p>
          <a:p>
            <a:pPr marL="0" indent="0">
              <a:lnSpc>
                <a:spcPct val="120000"/>
              </a:lnSpc>
              <a:spcBef>
                <a:spcPts val="0"/>
              </a:spcBef>
              <a:buNone/>
            </a:pPr>
            <a:endParaRPr lang="en-CA"/>
          </a:p>
          <a:p>
            <a:pPr marL="0" indent="0">
              <a:lnSpc>
                <a:spcPct val="120000"/>
              </a:lnSpc>
              <a:spcBef>
                <a:spcPts val="0"/>
              </a:spcBef>
              <a:buNone/>
            </a:pPr>
            <a:r>
              <a:rPr lang="en-CA"/>
              <a:t>        Person p = new Person("tigEr");</a:t>
            </a:r>
          </a:p>
          <a:p>
            <a:pPr marL="0" indent="0">
              <a:lnSpc>
                <a:spcPct val="120000"/>
              </a:lnSpc>
              <a:spcBef>
                <a:spcPts val="0"/>
              </a:spcBef>
              <a:buNone/>
            </a:pPr>
            <a:r>
              <a:rPr lang="en-CA"/>
              <a:t>        System.out.println(p.getName(upper));</a:t>
            </a:r>
          </a:p>
          <a:p>
            <a:pPr marL="0" indent="0">
              <a:lnSpc>
                <a:spcPct val="120000"/>
              </a:lnSpc>
              <a:spcBef>
                <a:spcPts val="0"/>
              </a:spcBef>
              <a:buNone/>
            </a:pPr>
            <a:r>
              <a:rPr lang="en-CA"/>
              <a:t>        System.out.println(p.getName(lower));</a:t>
            </a:r>
          </a:p>
          <a:p>
            <a:pPr marL="0" indent="0">
              <a:lnSpc>
                <a:spcPct val="120000"/>
              </a:lnSpc>
              <a:spcBef>
                <a:spcPts val="0"/>
              </a:spcBef>
              <a:buNone/>
            </a:pPr>
            <a:r>
              <a:rPr lang="en-CA"/>
              <a:t>        System.out.println(p.getName(title));</a:t>
            </a:r>
          </a:p>
          <a:p>
            <a:pPr marL="0" indent="0">
              <a:lnSpc>
                <a:spcPct val="120000"/>
              </a:lnSpc>
              <a:spcBef>
                <a:spcPts val="0"/>
              </a:spcBef>
              <a:buNone/>
            </a:pPr>
            <a:r>
              <a:rPr lang="en-CA"/>
              <a:t>    }</a:t>
            </a:r>
          </a:p>
          <a:p>
            <a:pPr marL="0" indent="0">
              <a:lnSpc>
                <a:spcPct val="120000"/>
              </a:lnSpc>
              <a:spcBef>
                <a:spcPts val="0"/>
              </a:spcBef>
              <a:buNone/>
            </a:pPr>
            <a:r>
              <a:rPr lang="en-CA"/>
              <a:t>}</a:t>
            </a:r>
          </a:p>
          <a:p>
            <a:pPr marL="0" indent="0">
              <a:lnSpc>
                <a:spcPct val="120000"/>
              </a:lnSpc>
              <a:spcBef>
                <a:spcPts val="0"/>
              </a:spcBef>
              <a:buNone/>
            </a:pPr>
            <a:r>
              <a:rPr lang="en-CA"/>
              <a:t>class Person{</a:t>
            </a:r>
          </a:p>
          <a:p>
            <a:pPr marL="0" indent="0">
              <a:lnSpc>
                <a:spcPct val="120000"/>
              </a:lnSpc>
              <a:spcBef>
                <a:spcPts val="0"/>
              </a:spcBef>
              <a:buNone/>
            </a:pPr>
            <a:r>
              <a:rPr lang="en-CA"/>
              <a:t>    private String name;</a:t>
            </a:r>
          </a:p>
          <a:p>
            <a:pPr marL="0" indent="0">
              <a:lnSpc>
                <a:spcPct val="120000"/>
              </a:lnSpc>
              <a:spcBef>
                <a:spcPts val="0"/>
              </a:spcBef>
              <a:buNone/>
            </a:pPr>
            <a:r>
              <a:rPr lang="en-CA"/>
              <a:t>    Person(String n){</a:t>
            </a:r>
          </a:p>
          <a:p>
            <a:pPr marL="0" indent="0">
              <a:lnSpc>
                <a:spcPct val="120000"/>
              </a:lnSpc>
              <a:spcBef>
                <a:spcPts val="0"/>
              </a:spcBef>
              <a:buNone/>
            </a:pPr>
            <a:r>
              <a:rPr lang="en-CA"/>
              <a:t>        name = n;</a:t>
            </a:r>
          </a:p>
          <a:p>
            <a:pPr marL="0" indent="0">
              <a:lnSpc>
                <a:spcPct val="120000"/>
              </a:lnSpc>
              <a:spcBef>
                <a:spcPts val="0"/>
              </a:spcBef>
              <a:buNone/>
            </a:pPr>
            <a:r>
              <a:rPr lang="en-CA"/>
              <a:t>    }</a:t>
            </a:r>
          </a:p>
          <a:p>
            <a:pPr marL="0" indent="0">
              <a:lnSpc>
                <a:spcPct val="120000"/>
              </a:lnSpc>
              <a:spcBef>
                <a:spcPts val="0"/>
              </a:spcBef>
              <a:buNone/>
            </a:pPr>
            <a:r>
              <a:rPr lang="en-CA"/>
              <a:t>    String getName(Caseable c){</a:t>
            </a:r>
          </a:p>
          <a:p>
            <a:pPr marL="0" indent="0">
              <a:lnSpc>
                <a:spcPct val="120000"/>
              </a:lnSpc>
              <a:spcBef>
                <a:spcPts val="0"/>
              </a:spcBef>
              <a:buNone/>
            </a:pPr>
            <a:r>
              <a:rPr lang="en-CA"/>
              <a:t>        return c.changeCase(name);</a:t>
            </a:r>
          </a:p>
          <a:p>
            <a:pPr marL="0" indent="0">
              <a:lnSpc>
                <a:spcPct val="120000"/>
              </a:lnSpc>
              <a:spcBef>
                <a:spcPts val="0"/>
              </a:spcBef>
              <a:buNone/>
            </a:pPr>
            <a:r>
              <a:rPr lang="en-CA"/>
              <a:t>    }</a:t>
            </a:r>
          </a:p>
          <a:p>
            <a:pPr marL="0" indent="0">
              <a:lnSpc>
                <a:spcPct val="120000"/>
              </a:lnSpc>
              <a:spcBef>
                <a:spcPts val="0"/>
              </a:spcBef>
              <a:buNone/>
            </a:pPr>
            <a:r>
              <a:rPr lang="en-CA"/>
              <a:t>}</a:t>
            </a:r>
          </a:p>
          <a:p>
            <a:pPr marL="0" indent="0">
              <a:lnSpc>
                <a:spcPct val="120000"/>
              </a:lnSpc>
              <a:spcBef>
                <a:spcPts val="0"/>
              </a:spcBef>
              <a:buNone/>
            </a:pPr>
            <a:endParaRPr lang="en-CA"/>
          </a:p>
        </p:txBody>
      </p:sp>
      <p:sp>
        <p:nvSpPr>
          <p:cNvPr id="4" name="Footer Placeholder 3">
            <a:extLst>
              <a:ext uri="{FF2B5EF4-FFF2-40B4-BE49-F238E27FC236}">
                <a16:creationId xmlns:a16="http://schemas.microsoft.com/office/drawing/2014/main" id="{8239EEB9-3602-192D-94D8-1541F245B2BE}"/>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FEB5DE03-59BD-12AA-CCD9-CB56BCC83B96}"/>
              </a:ext>
            </a:extLst>
          </p:cNvPr>
          <p:cNvSpPr>
            <a:spLocks noGrp="1"/>
          </p:cNvSpPr>
          <p:nvPr>
            <p:ph type="sldNum" sz="quarter" idx="12"/>
          </p:nvPr>
        </p:nvSpPr>
        <p:spPr/>
        <p:txBody>
          <a:bodyPr/>
          <a:lstStyle/>
          <a:p>
            <a:fld id="{173945DC-8F99-45A8-AB5A-6B932A0147A2}" type="slidenum">
              <a:rPr lang="en-CA" smtClean="0"/>
              <a:t>13</a:t>
            </a:fld>
            <a:endParaRPr lang="en-CA"/>
          </a:p>
        </p:txBody>
      </p:sp>
    </p:spTree>
    <p:extLst>
      <p:ext uri="{BB962C8B-B14F-4D97-AF65-F5344CB8AC3E}">
        <p14:creationId xmlns:p14="http://schemas.microsoft.com/office/powerpoint/2010/main" val="16752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6140-F4D2-D982-6A98-B6332AA598EA}"/>
              </a:ext>
            </a:extLst>
          </p:cNvPr>
          <p:cNvSpPr>
            <a:spLocks noGrp="1"/>
          </p:cNvSpPr>
          <p:nvPr>
            <p:ph type="title"/>
          </p:nvPr>
        </p:nvSpPr>
        <p:spPr/>
        <p:txBody>
          <a:bodyPr/>
          <a:lstStyle/>
          <a:p>
            <a:r>
              <a:rPr lang="en-US"/>
              <a:t>Use Java’s “built-in” Functional Interfaces</a:t>
            </a:r>
            <a:endParaRPr lang="en-CA"/>
          </a:p>
        </p:txBody>
      </p:sp>
      <p:sp>
        <p:nvSpPr>
          <p:cNvPr id="3" name="Content Placeholder 2">
            <a:extLst>
              <a:ext uri="{FF2B5EF4-FFF2-40B4-BE49-F238E27FC236}">
                <a16:creationId xmlns:a16="http://schemas.microsoft.com/office/drawing/2014/main" id="{4FA00D7B-4F13-FE90-9DBE-39F710741558}"/>
              </a:ext>
            </a:extLst>
          </p:cNvPr>
          <p:cNvSpPr>
            <a:spLocks noGrp="1"/>
          </p:cNvSpPr>
          <p:nvPr>
            <p:ph idx="1"/>
          </p:nvPr>
        </p:nvSpPr>
        <p:spPr>
          <a:xfrm>
            <a:off x="202301" y="1825625"/>
            <a:ext cx="11151499" cy="4351338"/>
          </a:xfrm>
        </p:spPr>
        <p:txBody>
          <a:bodyPr>
            <a:normAutofit/>
          </a:bodyPr>
          <a:lstStyle/>
          <a:p>
            <a:r>
              <a:rPr lang="en-CA" sz="2400"/>
              <a:t>https://docs.oracle.com/en/java/javase/22/docs/api/java.base/java/util/function/package-summary.html</a:t>
            </a:r>
          </a:p>
        </p:txBody>
      </p:sp>
      <p:sp>
        <p:nvSpPr>
          <p:cNvPr id="4" name="Footer Placeholder 3">
            <a:extLst>
              <a:ext uri="{FF2B5EF4-FFF2-40B4-BE49-F238E27FC236}">
                <a16:creationId xmlns:a16="http://schemas.microsoft.com/office/drawing/2014/main" id="{BC011189-14D1-240C-7EE1-B89FB092D957}"/>
              </a:ext>
            </a:extLst>
          </p:cNvPr>
          <p:cNvSpPr>
            <a:spLocks noGrp="1"/>
          </p:cNvSpPr>
          <p:nvPr>
            <p:ph type="ftr" sz="quarter" idx="11"/>
          </p:nvPr>
        </p:nvSpPr>
        <p:spPr/>
        <p:txBody>
          <a:bodyPr/>
          <a:lstStyle/>
          <a:p>
            <a:r>
              <a:rPr lang="fr-FR"/>
              <a:t>2522 Lesson 6: Lambda Expressions</a:t>
            </a:r>
            <a:endParaRPr lang="en-CA"/>
          </a:p>
        </p:txBody>
      </p:sp>
      <p:sp>
        <p:nvSpPr>
          <p:cNvPr id="5" name="Slide Number Placeholder 4">
            <a:extLst>
              <a:ext uri="{FF2B5EF4-FFF2-40B4-BE49-F238E27FC236}">
                <a16:creationId xmlns:a16="http://schemas.microsoft.com/office/drawing/2014/main" id="{8527A814-9712-5082-BB68-20BAA6A9F563}"/>
              </a:ext>
            </a:extLst>
          </p:cNvPr>
          <p:cNvSpPr>
            <a:spLocks noGrp="1"/>
          </p:cNvSpPr>
          <p:nvPr>
            <p:ph type="sldNum" sz="quarter" idx="12"/>
          </p:nvPr>
        </p:nvSpPr>
        <p:spPr/>
        <p:txBody>
          <a:bodyPr/>
          <a:lstStyle/>
          <a:p>
            <a:fld id="{173945DC-8F99-45A8-AB5A-6B932A0147A2}" type="slidenum">
              <a:rPr lang="en-CA" smtClean="0"/>
              <a:t>14</a:t>
            </a:fld>
            <a:endParaRPr lang="en-CA"/>
          </a:p>
        </p:txBody>
      </p:sp>
    </p:spTree>
    <p:extLst>
      <p:ext uri="{BB962C8B-B14F-4D97-AF65-F5344CB8AC3E}">
        <p14:creationId xmlns:p14="http://schemas.microsoft.com/office/powerpoint/2010/main" val="215539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E187B9A-800E-07C1-76EF-4CEAA415B8AC}"/>
              </a:ext>
            </a:extLst>
          </p:cNvPr>
          <p:cNvSpPr>
            <a:spLocks noGrp="1"/>
          </p:cNvSpPr>
          <p:nvPr>
            <p:ph type="title"/>
          </p:nvPr>
        </p:nvSpPr>
        <p:spPr/>
        <p:txBody>
          <a:bodyPr/>
          <a:lstStyle/>
          <a:p>
            <a:r>
              <a:rPr lang="en-US" dirty="0"/>
              <a:t>Lambda Expressions</a:t>
            </a:r>
            <a:endParaRPr lang="en-CA" dirty="0"/>
          </a:p>
        </p:txBody>
      </p:sp>
      <p:sp>
        <p:nvSpPr>
          <p:cNvPr id="8" name="Content Placeholder 7">
            <a:extLst>
              <a:ext uri="{FF2B5EF4-FFF2-40B4-BE49-F238E27FC236}">
                <a16:creationId xmlns:a16="http://schemas.microsoft.com/office/drawing/2014/main" id="{E879142B-9518-4E41-D0EF-530415DFEFA3}"/>
              </a:ext>
            </a:extLst>
          </p:cNvPr>
          <p:cNvSpPr>
            <a:spLocks noGrp="1"/>
          </p:cNvSpPr>
          <p:nvPr>
            <p:ph sz="half" idx="1"/>
          </p:nvPr>
        </p:nvSpPr>
        <p:spPr/>
        <p:txBody>
          <a:bodyPr>
            <a:noAutofit/>
          </a:bodyPr>
          <a:lstStyle/>
          <a:p>
            <a:r>
              <a:rPr lang="en-US" sz="2000"/>
              <a:t>We can use </a:t>
            </a:r>
            <a:r>
              <a:rPr lang="en-US" sz="2000" dirty="0"/>
              <a:t>lambda </a:t>
            </a:r>
            <a:r>
              <a:rPr lang="en-US" sz="2000"/>
              <a:t>expressions to shorten our code substantially. </a:t>
            </a:r>
          </a:p>
          <a:p>
            <a:r>
              <a:rPr lang="en-US" sz="2000"/>
              <a:t>When you see the </a:t>
            </a:r>
            <a:r>
              <a:rPr lang="en-US" sz="2000">
                <a:sym typeface="Wingdings" panose="05000000000000000000" pitchFamily="2" charset="2"/>
              </a:rPr>
              <a:t> arrow operator, you are likely seeing a lambda expression.</a:t>
            </a:r>
            <a:endParaRPr lang="en-US" sz="2000" dirty="0"/>
          </a:p>
        </p:txBody>
      </p:sp>
      <p:sp>
        <p:nvSpPr>
          <p:cNvPr id="9" name="Content Placeholder 8">
            <a:extLst>
              <a:ext uri="{FF2B5EF4-FFF2-40B4-BE49-F238E27FC236}">
                <a16:creationId xmlns:a16="http://schemas.microsoft.com/office/drawing/2014/main" id="{53B302ED-D125-974E-F3C8-389C2497BA1A}"/>
              </a:ext>
            </a:extLst>
          </p:cNvPr>
          <p:cNvSpPr>
            <a:spLocks noGrp="1"/>
          </p:cNvSpPr>
          <p:nvPr>
            <p:ph sz="half" idx="2"/>
          </p:nvPr>
        </p:nvSpPr>
        <p:spPr>
          <a:xfrm>
            <a:off x="6172200" y="365125"/>
            <a:ext cx="5680166" cy="6262098"/>
          </a:xfrm>
        </p:spPr>
        <p:txBody>
          <a:bodyPr>
            <a:normAutofit fontScale="47500" lnSpcReduction="20000"/>
          </a:bodyPr>
          <a:lstStyle/>
          <a:p>
            <a:pPr marL="0" indent="0">
              <a:lnSpc>
                <a:spcPct val="120000"/>
              </a:lnSpc>
              <a:spcBef>
                <a:spcPts val="0"/>
              </a:spcBef>
              <a:buNone/>
            </a:pPr>
            <a:r>
              <a:rPr lang="en-CA" dirty="0"/>
              <a:t>class Person {</a:t>
            </a:r>
          </a:p>
          <a:p>
            <a:pPr marL="0" indent="0">
              <a:lnSpc>
                <a:spcPct val="120000"/>
              </a:lnSpc>
              <a:spcBef>
                <a:spcPts val="0"/>
              </a:spcBef>
              <a:buNone/>
            </a:pPr>
            <a:r>
              <a:rPr lang="en-CA" dirty="0"/>
              <a:t>    private final String name;</a:t>
            </a:r>
          </a:p>
          <a:p>
            <a:pPr marL="0" indent="0">
              <a:lnSpc>
                <a:spcPct val="120000"/>
              </a:lnSpc>
              <a:spcBef>
                <a:spcPts val="0"/>
              </a:spcBef>
              <a:buNone/>
            </a:pPr>
            <a:r>
              <a:rPr lang="en-CA" dirty="0"/>
              <a:t>    private final int </a:t>
            </a:r>
            <a:r>
              <a:rPr lang="en-CA" dirty="0" err="1"/>
              <a:t>yearBorn</a:t>
            </a:r>
            <a:r>
              <a:rPr lang="en-CA" dirty="0"/>
              <a:t>;</a:t>
            </a:r>
          </a:p>
          <a:p>
            <a:pPr marL="0" indent="0">
              <a:lnSpc>
                <a:spcPct val="120000"/>
              </a:lnSpc>
              <a:spcBef>
                <a:spcPts val="0"/>
              </a:spcBef>
              <a:buNone/>
            </a:pPr>
            <a:r>
              <a:rPr lang="en-CA" dirty="0"/>
              <a:t>    public Person(final String name, final int </a:t>
            </a:r>
            <a:r>
              <a:rPr lang="en-CA" dirty="0" err="1"/>
              <a:t>yearBorn</a:t>
            </a:r>
            <a:r>
              <a:rPr lang="en-CA" dirty="0"/>
              <a:t>) {</a:t>
            </a:r>
          </a:p>
          <a:p>
            <a:pPr marL="0" indent="0">
              <a:lnSpc>
                <a:spcPct val="120000"/>
              </a:lnSpc>
              <a:spcBef>
                <a:spcPts val="0"/>
              </a:spcBef>
              <a:buNone/>
            </a:pPr>
            <a:r>
              <a:rPr lang="en-CA" dirty="0"/>
              <a:t>        this.name = name;</a:t>
            </a:r>
          </a:p>
          <a:p>
            <a:pPr marL="0" indent="0">
              <a:lnSpc>
                <a:spcPct val="120000"/>
              </a:lnSpc>
              <a:spcBef>
                <a:spcPts val="0"/>
              </a:spcBef>
              <a:buNone/>
            </a:pPr>
            <a:r>
              <a:rPr lang="en-CA" dirty="0"/>
              <a:t>        </a:t>
            </a:r>
            <a:r>
              <a:rPr lang="en-CA" dirty="0" err="1"/>
              <a:t>this.yearBorn</a:t>
            </a:r>
            <a:r>
              <a:rPr lang="en-CA" dirty="0"/>
              <a:t> = </a:t>
            </a:r>
            <a:r>
              <a:rPr lang="en-CA" dirty="0" err="1"/>
              <a:t>yearBorn</a:t>
            </a:r>
            <a:r>
              <a:rPr lang="en-CA" dirty="0"/>
              <a:t>;</a:t>
            </a:r>
          </a:p>
          <a:p>
            <a:pPr marL="0" indent="0">
              <a:lnSpc>
                <a:spcPct val="120000"/>
              </a:lnSpc>
              <a:spcBef>
                <a:spcPts val="0"/>
              </a:spcBef>
              <a:buNone/>
            </a:pPr>
            <a:r>
              <a:rPr lang="en-CA" dirty="0"/>
              <a:t>    }</a:t>
            </a:r>
          </a:p>
          <a:p>
            <a:pPr marL="0" indent="0">
              <a:lnSpc>
                <a:spcPct val="120000"/>
              </a:lnSpc>
              <a:spcBef>
                <a:spcPts val="0"/>
              </a:spcBef>
              <a:buNone/>
            </a:pPr>
            <a:r>
              <a:rPr lang="en-CA" dirty="0"/>
              <a:t>    @Override</a:t>
            </a:r>
          </a:p>
          <a:p>
            <a:pPr marL="0" indent="0">
              <a:lnSpc>
                <a:spcPct val="120000"/>
              </a:lnSpc>
              <a:spcBef>
                <a:spcPts val="0"/>
              </a:spcBef>
              <a:buNone/>
            </a:pPr>
            <a:r>
              <a:rPr lang="en-CA" dirty="0"/>
              <a:t>    public String </a:t>
            </a:r>
            <a:r>
              <a:rPr lang="en-CA" dirty="0" err="1"/>
              <a:t>toString</a:t>
            </a:r>
            <a:r>
              <a:rPr lang="en-CA" dirty="0"/>
              <a:t>() {</a:t>
            </a:r>
          </a:p>
          <a:p>
            <a:pPr marL="0" indent="0">
              <a:lnSpc>
                <a:spcPct val="120000"/>
              </a:lnSpc>
              <a:spcBef>
                <a:spcPts val="0"/>
              </a:spcBef>
              <a:buNone/>
            </a:pPr>
            <a:r>
              <a:rPr lang="en-CA" dirty="0"/>
              <a:t>        return name + " (" + </a:t>
            </a:r>
            <a:r>
              <a:rPr lang="en-CA" dirty="0" err="1"/>
              <a:t>yearBorn</a:t>
            </a:r>
            <a:r>
              <a:rPr lang="en-CA" dirty="0"/>
              <a:t> + ")";</a:t>
            </a:r>
          </a:p>
          <a:p>
            <a:pPr marL="0" indent="0">
              <a:lnSpc>
                <a:spcPct val="120000"/>
              </a:lnSpc>
              <a:spcBef>
                <a:spcPts val="0"/>
              </a:spcBef>
              <a:buNone/>
            </a:pPr>
            <a:r>
              <a:rPr lang="en-CA" dirty="0"/>
              <a:t>    }</a:t>
            </a:r>
          </a:p>
          <a:p>
            <a:pPr marL="0" indent="0">
              <a:lnSpc>
                <a:spcPct val="120000"/>
              </a:lnSpc>
              <a:spcBef>
                <a:spcPts val="0"/>
              </a:spcBef>
              <a:buNone/>
            </a:pPr>
            <a:endParaRPr lang="en-CA" dirty="0"/>
          </a:p>
          <a:p>
            <a:pPr marL="0" indent="0">
              <a:lnSpc>
                <a:spcPct val="120000"/>
              </a:lnSpc>
              <a:spcBef>
                <a:spcPts val="0"/>
              </a:spcBef>
              <a:buNone/>
            </a:pPr>
            <a:r>
              <a:rPr lang="en-CA" dirty="0"/>
              <a:t>    public static void main(final String[] </a:t>
            </a:r>
            <a:r>
              <a:rPr lang="en-CA" dirty="0" err="1"/>
              <a:t>args</a:t>
            </a:r>
            <a:r>
              <a:rPr lang="en-CA" dirty="0"/>
              <a:t>) {</a:t>
            </a:r>
          </a:p>
          <a:p>
            <a:pPr marL="0" indent="0">
              <a:lnSpc>
                <a:spcPct val="120000"/>
              </a:lnSpc>
              <a:spcBef>
                <a:spcPts val="0"/>
              </a:spcBef>
              <a:buNone/>
            </a:pPr>
            <a:r>
              <a:rPr lang="en-CA" dirty="0"/>
              <a:t>        final List&lt;Person</a:t>
            </a:r>
            <a:r>
              <a:rPr lang="en-CA"/>
              <a:t>&gt; people;</a:t>
            </a:r>
            <a:br>
              <a:rPr lang="en-CA"/>
            </a:br>
            <a:r>
              <a:rPr lang="en-CA"/>
              <a:t>        people </a:t>
            </a:r>
            <a:r>
              <a:rPr lang="en-CA" dirty="0"/>
              <a:t>= new </a:t>
            </a:r>
            <a:r>
              <a:rPr lang="en-CA" dirty="0" err="1"/>
              <a:t>ArrayList</a:t>
            </a:r>
            <a:r>
              <a:rPr lang="en-CA" dirty="0"/>
              <a:t>&lt;&gt;();</a:t>
            </a:r>
          </a:p>
          <a:p>
            <a:pPr marL="0" indent="0">
              <a:lnSpc>
                <a:spcPct val="120000"/>
              </a:lnSpc>
              <a:spcBef>
                <a:spcPts val="0"/>
              </a:spcBef>
              <a:buNone/>
            </a:pPr>
            <a:r>
              <a:rPr lang="en-CA" dirty="0"/>
              <a:t>        </a:t>
            </a:r>
            <a:r>
              <a:rPr lang="en-CA" dirty="0" err="1"/>
              <a:t>people.add</a:t>
            </a:r>
            <a:r>
              <a:rPr lang="en-CA" dirty="0"/>
              <a:t>(new Person("Alice", 2000));</a:t>
            </a:r>
          </a:p>
          <a:p>
            <a:pPr marL="0" indent="0">
              <a:lnSpc>
                <a:spcPct val="120000"/>
              </a:lnSpc>
              <a:spcBef>
                <a:spcPts val="0"/>
              </a:spcBef>
              <a:buNone/>
            </a:pPr>
            <a:r>
              <a:rPr lang="en-CA" dirty="0"/>
              <a:t>        </a:t>
            </a:r>
            <a:r>
              <a:rPr lang="en-CA" dirty="0" err="1"/>
              <a:t>people.add</a:t>
            </a:r>
            <a:r>
              <a:rPr lang="en-CA" dirty="0"/>
              <a:t>(new Person("Bob", 1999));</a:t>
            </a:r>
          </a:p>
          <a:p>
            <a:pPr marL="0" indent="0">
              <a:lnSpc>
                <a:spcPct val="120000"/>
              </a:lnSpc>
              <a:spcBef>
                <a:spcPts val="0"/>
              </a:spcBef>
              <a:buNone/>
            </a:pPr>
            <a:r>
              <a:rPr lang="en-CA" dirty="0"/>
              <a:t>        </a:t>
            </a:r>
            <a:r>
              <a:rPr lang="en-CA" dirty="0" err="1"/>
              <a:t>people.add</a:t>
            </a:r>
            <a:r>
              <a:rPr lang="en-CA" dirty="0"/>
              <a:t>(new Person("Charlie", 1988));</a:t>
            </a:r>
          </a:p>
          <a:p>
            <a:pPr marL="0" indent="0">
              <a:lnSpc>
                <a:spcPct val="120000"/>
              </a:lnSpc>
              <a:spcBef>
                <a:spcPts val="0"/>
              </a:spcBef>
              <a:buNone/>
            </a:pPr>
            <a:endParaRPr lang="en-CA"/>
          </a:p>
          <a:p>
            <a:pPr marL="0" indent="0">
              <a:lnSpc>
                <a:spcPct val="120000"/>
              </a:lnSpc>
              <a:spcBef>
                <a:spcPts val="0"/>
              </a:spcBef>
              <a:buNone/>
            </a:pPr>
            <a:r>
              <a:rPr lang="en-CA"/>
              <a:t>        // Sort by year of birth</a:t>
            </a:r>
            <a:endParaRPr lang="en-CA" dirty="0"/>
          </a:p>
          <a:p>
            <a:pPr marL="0" indent="0">
              <a:lnSpc>
                <a:spcPct val="120000"/>
              </a:lnSpc>
              <a:spcBef>
                <a:spcPts val="0"/>
              </a:spcBef>
              <a:buNone/>
            </a:pPr>
            <a:r>
              <a:rPr lang="en-CA" dirty="0"/>
              <a:t>        </a:t>
            </a:r>
            <a:r>
              <a:rPr lang="en-CA" b="1" dirty="0" err="1"/>
              <a:t>Collections.sort</a:t>
            </a:r>
            <a:r>
              <a:rPr lang="en-CA" b="1" dirty="0"/>
              <a:t>(people, (p1, p2) -&gt; p1.yearBorn - p2.yearBorn);</a:t>
            </a:r>
          </a:p>
          <a:p>
            <a:pPr marL="0" indent="0">
              <a:lnSpc>
                <a:spcPct val="120000"/>
              </a:lnSpc>
              <a:spcBef>
                <a:spcPts val="0"/>
              </a:spcBef>
              <a:buNone/>
            </a:pPr>
            <a:r>
              <a:rPr lang="en-CA"/>
              <a:t>        </a:t>
            </a:r>
            <a:r>
              <a:rPr lang="en-CA" dirty="0" err="1"/>
              <a:t>System.out.println</a:t>
            </a:r>
            <a:r>
              <a:rPr lang="en-CA" dirty="0"/>
              <a:t>("Sorted by age: " + people);</a:t>
            </a:r>
          </a:p>
          <a:p>
            <a:pPr marL="0" indent="0">
              <a:lnSpc>
                <a:spcPct val="120000"/>
              </a:lnSpc>
              <a:spcBef>
                <a:spcPts val="0"/>
              </a:spcBef>
              <a:buNone/>
            </a:pPr>
            <a:endParaRPr lang="en-CA" dirty="0"/>
          </a:p>
          <a:p>
            <a:pPr marL="0" indent="0">
              <a:lnSpc>
                <a:spcPct val="120000"/>
              </a:lnSpc>
              <a:spcBef>
                <a:spcPts val="0"/>
              </a:spcBef>
              <a:buNone/>
            </a:pPr>
            <a:r>
              <a:rPr lang="en-CA" dirty="0"/>
              <a:t>        // Sort by name using another Comparator</a:t>
            </a:r>
          </a:p>
          <a:p>
            <a:pPr marL="0" indent="0">
              <a:lnSpc>
                <a:spcPct val="120000"/>
              </a:lnSpc>
              <a:spcBef>
                <a:spcPts val="0"/>
              </a:spcBef>
              <a:buNone/>
            </a:pPr>
            <a:r>
              <a:rPr lang="en-CA" b="1" dirty="0"/>
              <a:t>        </a:t>
            </a:r>
            <a:r>
              <a:rPr lang="en-CA" b="1" dirty="0" err="1"/>
              <a:t>Collections.sort</a:t>
            </a:r>
            <a:r>
              <a:rPr lang="en-CA" b="1" dirty="0"/>
              <a:t>(people, (p1, p2) -&gt; p1.name.compareTo(p2.name));</a:t>
            </a:r>
          </a:p>
          <a:p>
            <a:pPr marL="0" indent="0">
              <a:lnSpc>
                <a:spcPct val="120000"/>
              </a:lnSpc>
              <a:spcBef>
                <a:spcPts val="0"/>
              </a:spcBef>
              <a:buNone/>
            </a:pPr>
            <a:r>
              <a:rPr lang="en-CA"/>
              <a:t>        </a:t>
            </a:r>
            <a:r>
              <a:rPr lang="en-CA" dirty="0" err="1"/>
              <a:t>System.out.println</a:t>
            </a:r>
            <a:r>
              <a:rPr lang="en-CA" dirty="0"/>
              <a:t>("Sorted by name: " + people);</a:t>
            </a:r>
          </a:p>
          <a:p>
            <a:pPr marL="0" indent="0">
              <a:lnSpc>
                <a:spcPct val="120000"/>
              </a:lnSpc>
              <a:spcBef>
                <a:spcPts val="0"/>
              </a:spcBef>
              <a:buNone/>
            </a:pPr>
            <a:r>
              <a:rPr lang="en-CA" dirty="0"/>
              <a:t>    }</a:t>
            </a:r>
          </a:p>
          <a:p>
            <a:pPr marL="0" indent="0">
              <a:lnSpc>
                <a:spcPct val="120000"/>
              </a:lnSpc>
              <a:spcBef>
                <a:spcPts val="0"/>
              </a:spcBef>
              <a:buNone/>
            </a:pPr>
            <a:r>
              <a:rPr lang="en-CA" dirty="0"/>
              <a:t>}</a:t>
            </a:r>
          </a:p>
        </p:txBody>
      </p:sp>
      <p:sp>
        <p:nvSpPr>
          <p:cNvPr id="5" name="Footer Placeholder 4">
            <a:extLst>
              <a:ext uri="{FF2B5EF4-FFF2-40B4-BE49-F238E27FC236}">
                <a16:creationId xmlns:a16="http://schemas.microsoft.com/office/drawing/2014/main" id="{C4118698-C4FC-6618-85AD-FF5CA8CEDEEA}"/>
              </a:ext>
            </a:extLst>
          </p:cNvPr>
          <p:cNvSpPr>
            <a:spLocks noGrp="1"/>
          </p:cNvSpPr>
          <p:nvPr>
            <p:ph type="ftr" sz="quarter" idx="11"/>
          </p:nvPr>
        </p:nvSpPr>
        <p:spPr/>
        <p:txBody>
          <a:bodyPr/>
          <a:lstStyle/>
          <a:p>
            <a:r>
              <a:rPr lang="fr-FR"/>
              <a:t>2522 Lesson 6: Lambda Expressions</a:t>
            </a:r>
            <a:endParaRPr lang="en-CA"/>
          </a:p>
        </p:txBody>
      </p:sp>
      <p:sp>
        <p:nvSpPr>
          <p:cNvPr id="6" name="Slide Number Placeholder 5">
            <a:extLst>
              <a:ext uri="{FF2B5EF4-FFF2-40B4-BE49-F238E27FC236}">
                <a16:creationId xmlns:a16="http://schemas.microsoft.com/office/drawing/2014/main" id="{14CC6F2C-A09E-5477-301E-54505BD584FD}"/>
              </a:ext>
            </a:extLst>
          </p:cNvPr>
          <p:cNvSpPr>
            <a:spLocks noGrp="1"/>
          </p:cNvSpPr>
          <p:nvPr>
            <p:ph type="sldNum" sz="quarter" idx="12"/>
          </p:nvPr>
        </p:nvSpPr>
        <p:spPr/>
        <p:txBody>
          <a:bodyPr/>
          <a:lstStyle/>
          <a:p>
            <a:fld id="{63EB1FB8-AB73-4D3C-B227-E13F85389B08}" type="slidenum">
              <a:rPr lang="en-CA" smtClean="0"/>
              <a:t>15</a:t>
            </a:fld>
            <a:endParaRPr lang="en-CA"/>
          </a:p>
        </p:txBody>
      </p:sp>
    </p:spTree>
    <p:extLst>
      <p:ext uri="{BB962C8B-B14F-4D97-AF65-F5344CB8AC3E}">
        <p14:creationId xmlns:p14="http://schemas.microsoft.com/office/powerpoint/2010/main" val="3004659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DD25DF-8CE7-71C5-50F4-AE43B3937B1E}"/>
              </a:ext>
            </a:extLst>
          </p:cNvPr>
          <p:cNvSpPr>
            <a:spLocks noGrp="1"/>
          </p:cNvSpPr>
          <p:nvPr>
            <p:ph type="title"/>
          </p:nvPr>
        </p:nvSpPr>
        <p:spPr/>
        <p:txBody>
          <a:bodyPr/>
          <a:lstStyle/>
          <a:p>
            <a:r>
              <a:rPr lang="en-US"/>
              <a:t>Lambda Expressions</a:t>
            </a:r>
            <a:endParaRPr lang="en-CA"/>
          </a:p>
        </p:txBody>
      </p:sp>
      <p:sp>
        <p:nvSpPr>
          <p:cNvPr id="8" name="Content Placeholder 7">
            <a:extLst>
              <a:ext uri="{FF2B5EF4-FFF2-40B4-BE49-F238E27FC236}">
                <a16:creationId xmlns:a16="http://schemas.microsoft.com/office/drawing/2014/main" id="{D91BA0AC-4B27-D4A7-53B6-73BB9D173AAC}"/>
              </a:ext>
            </a:extLst>
          </p:cNvPr>
          <p:cNvSpPr>
            <a:spLocks noGrp="1"/>
          </p:cNvSpPr>
          <p:nvPr>
            <p:ph sz="half" idx="1"/>
          </p:nvPr>
        </p:nvSpPr>
        <p:spPr>
          <a:xfrm>
            <a:off x="461554" y="1445623"/>
            <a:ext cx="5558246" cy="4731340"/>
          </a:xfrm>
        </p:spPr>
        <p:txBody>
          <a:bodyPr>
            <a:noAutofit/>
          </a:bodyPr>
          <a:lstStyle/>
          <a:p>
            <a:r>
              <a:rPr lang="en-US" sz="2400" dirty="0"/>
              <a:t>In modern Java (since Java 8), it's often better and more concise to </a:t>
            </a:r>
            <a:r>
              <a:rPr lang="en-US" sz="2400" b="1" dirty="0"/>
              <a:t>use lambda expressions instead of anonymous inner classes</a:t>
            </a:r>
            <a:r>
              <a:rPr lang="en-US" sz="2400" dirty="0"/>
              <a:t>, especially for functional interfaces (interfaces with a single abstract method) like Comparator.</a:t>
            </a:r>
          </a:p>
          <a:p>
            <a:r>
              <a:rPr lang="en-US" sz="2400" dirty="0"/>
              <a:t> Lambdas provide a more readable and concise way to implement functional interfaces.</a:t>
            </a:r>
          </a:p>
          <a:p>
            <a:r>
              <a:rPr lang="en-US" sz="2400" dirty="0"/>
              <a:t>Anonymous inner classes are still necessary in cases where you're implementing interfaces with multiple methods or using non-functional interfaces.</a:t>
            </a:r>
            <a:endParaRPr lang="en-CA" sz="2400" dirty="0"/>
          </a:p>
        </p:txBody>
      </p:sp>
      <p:sp>
        <p:nvSpPr>
          <p:cNvPr id="9" name="Content Placeholder 8">
            <a:extLst>
              <a:ext uri="{FF2B5EF4-FFF2-40B4-BE49-F238E27FC236}">
                <a16:creationId xmlns:a16="http://schemas.microsoft.com/office/drawing/2014/main" id="{BE5E2687-BD6F-7C1B-9FCA-B0989CC47341}"/>
              </a:ext>
            </a:extLst>
          </p:cNvPr>
          <p:cNvSpPr>
            <a:spLocks noGrp="1"/>
          </p:cNvSpPr>
          <p:nvPr>
            <p:ph sz="half" idx="2"/>
          </p:nvPr>
        </p:nvSpPr>
        <p:spPr/>
        <p:txBody>
          <a:bodyPr>
            <a:normAutofit fontScale="47500" lnSpcReduction="20000"/>
          </a:bodyPr>
          <a:lstStyle/>
          <a:p>
            <a:pPr marL="0" indent="0">
              <a:buNone/>
            </a:pPr>
            <a:r>
              <a:rPr lang="en-CA" dirty="0"/>
              <a:t>public class Main {</a:t>
            </a:r>
          </a:p>
          <a:p>
            <a:pPr marL="0" indent="0">
              <a:buNone/>
            </a:pPr>
            <a:r>
              <a:rPr lang="en-CA" dirty="0"/>
              <a:t>    public static void main(final String[] </a:t>
            </a:r>
            <a:r>
              <a:rPr lang="en-CA" dirty="0" err="1"/>
              <a:t>args</a:t>
            </a:r>
            <a:r>
              <a:rPr lang="en-CA" dirty="0"/>
              <a:t>) {</a:t>
            </a:r>
          </a:p>
          <a:p>
            <a:pPr marL="0" indent="0">
              <a:buNone/>
            </a:pPr>
            <a:r>
              <a:rPr lang="en-CA" dirty="0"/>
              <a:t>        // Create a list of integers</a:t>
            </a:r>
          </a:p>
          <a:p>
            <a:pPr marL="0" indent="0">
              <a:buNone/>
            </a:pPr>
            <a:r>
              <a:rPr lang="en-CA" dirty="0"/>
              <a:t>        List&lt;Integer&gt; numbers = new </a:t>
            </a:r>
            <a:r>
              <a:rPr lang="en-CA" dirty="0" err="1"/>
              <a:t>ArrayList</a:t>
            </a:r>
            <a:r>
              <a:rPr lang="en-CA" dirty="0"/>
              <a:t>&lt;&gt;();</a:t>
            </a:r>
          </a:p>
          <a:p>
            <a:pPr marL="0" indent="0">
              <a:buNone/>
            </a:pPr>
            <a:r>
              <a:rPr lang="en-CA" dirty="0"/>
              <a:t>        </a:t>
            </a:r>
            <a:r>
              <a:rPr lang="en-CA" dirty="0" err="1"/>
              <a:t>numbers.add</a:t>
            </a:r>
            <a:r>
              <a:rPr lang="en-CA" dirty="0"/>
              <a:t>(10);</a:t>
            </a:r>
          </a:p>
          <a:p>
            <a:pPr marL="0" indent="0">
              <a:buNone/>
            </a:pPr>
            <a:r>
              <a:rPr lang="en-CA" dirty="0"/>
              <a:t>        </a:t>
            </a:r>
            <a:r>
              <a:rPr lang="en-CA" dirty="0" err="1"/>
              <a:t>numbers.add</a:t>
            </a:r>
            <a:r>
              <a:rPr lang="en-CA" dirty="0"/>
              <a:t>(5);</a:t>
            </a:r>
          </a:p>
          <a:p>
            <a:pPr marL="0" indent="0">
              <a:buNone/>
            </a:pPr>
            <a:r>
              <a:rPr lang="en-CA" dirty="0"/>
              <a:t>        </a:t>
            </a:r>
            <a:r>
              <a:rPr lang="en-CA" dirty="0" err="1"/>
              <a:t>numbers.add</a:t>
            </a:r>
            <a:r>
              <a:rPr lang="en-CA" dirty="0"/>
              <a:t>(20);</a:t>
            </a:r>
          </a:p>
          <a:p>
            <a:pPr marL="0" indent="0">
              <a:buNone/>
            </a:pPr>
            <a:r>
              <a:rPr lang="en-CA" dirty="0"/>
              <a:t>        </a:t>
            </a:r>
            <a:r>
              <a:rPr lang="en-CA" dirty="0" err="1"/>
              <a:t>numbers.add</a:t>
            </a:r>
            <a:r>
              <a:rPr lang="en-CA" dirty="0"/>
              <a:t>(15);</a:t>
            </a:r>
          </a:p>
          <a:p>
            <a:pPr marL="0" indent="0">
              <a:buNone/>
            </a:pPr>
            <a:endParaRPr lang="en-CA" dirty="0"/>
          </a:p>
          <a:p>
            <a:pPr marL="0" indent="0">
              <a:buNone/>
            </a:pPr>
            <a:r>
              <a:rPr lang="en-CA" dirty="0"/>
              <a:t>        // Sort the list in descending order using a lambda expression</a:t>
            </a:r>
          </a:p>
          <a:p>
            <a:pPr marL="0" indent="0">
              <a:buNone/>
            </a:pPr>
            <a:r>
              <a:rPr lang="en-CA" dirty="0"/>
              <a:t>        </a:t>
            </a:r>
            <a:r>
              <a:rPr lang="en-CA" dirty="0" err="1"/>
              <a:t>Collections.sort</a:t>
            </a:r>
            <a:r>
              <a:rPr lang="en-CA" dirty="0"/>
              <a:t>(numbers, (a, b) -&gt; b - a);</a:t>
            </a:r>
          </a:p>
          <a:p>
            <a:pPr marL="0" indent="0">
              <a:buNone/>
            </a:pPr>
            <a:endParaRPr lang="en-CA" dirty="0"/>
          </a:p>
          <a:p>
            <a:pPr marL="0" indent="0">
              <a:buNone/>
            </a:pPr>
            <a:r>
              <a:rPr lang="en-CA" dirty="0"/>
              <a:t>        // Print the sorted list</a:t>
            </a:r>
          </a:p>
          <a:p>
            <a:pPr marL="0" indent="0">
              <a:buNone/>
            </a:pPr>
            <a:r>
              <a:rPr lang="en-CA" dirty="0"/>
              <a:t>        </a:t>
            </a:r>
            <a:r>
              <a:rPr lang="en-CA" dirty="0" err="1"/>
              <a:t>System.out.println</a:t>
            </a:r>
            <a:r>
              <a:rPr lang="en-CA" dirty="0"/>
              <a:t>(numbers);  // Output: [20, 15, 10, 5]</a:t>
            </a:r>
          </a:p>
          <a:p>
            <a:pPr marL="0" indent="0">
              <a:buNone/>
            </a:pPr>
            <a:r>
              <a:rPr lang="en-CA" dirty="0"/>
              <a:t>    }</a:t>
            </a:r>
          </a:p>
          <a:p>
            <a:pPr marL="0" indent="0">
              <a:buNone/>
            </a:pPr>
            <a:r>
              <a:rPr lang="en-CA" dirty="0"/>
              <a:t>}</a:t>
            </a:r>
          </a:p>
        </p:txBody>
      </p:sp>
      <p:sp>
        <p:nvSpPr>
          <p:cNvPr id="5" name="Footer Placeholder 4">
            <a:extLst>
              <a:ext uri="{FF2B5EF4-FFF2-40B4-BE49-F238E27FC236}">
                <a16:creationId xmlns:a16="http://schemas.microsoft.com/office/drawing/2014/main" id="{78BCD24A-F3A4-9C3A-21E5-E6C5E25B1A73}"/>
              </a:ext>
            </a:extLst>
          </p:cNvPr>
          <p:cNvSpPr>
            <a:spLocks noGrp="1"/>
          </p:cNvSpPr>
          <p:nvPr>
            <p:ph type="ftr" sz="quarter" idx="11"/>
          </p:nvPr>
        </p:nvSpPr>
        <p:spPr/>
        <p:txBody>
          <a:bodyPr/>
          <a:lstStyle/>
          <a:p>
            <a:r>
              <a:rPr lang="fr-FR"/>
              <a:t>2522 Lesson 6: Lambda Expressions</a:t>
            </a:r>
            <a:endParaRPr lang="en-CA"/>
          </a:p>
        </p:txBody>
      </p:sp>
      <p:sp>
        <p:nvSpPr>
          <p:cNvPr id="6" name="Slide Number Placeholder 5">
            <a:extLst>
              <a:ext uri="{FF2B5EF4-FFF2-40B4-BE49-F238E27FC236}">
                <a16:creationId xmlns:a16="http://schemas.microsoft.com/office/drawing/2014/main" id="{FD769410-2473-360B-10BB-B7B2E1D2B717}"/>
              </a:ext>
            </a:extLst>
          </p:cNvPr>
          <p:cNvSpPr>
            <a:spLocks noGrp="1"/>
          </p:cNvSpPr>
          <p:nvPr>
            <p:ph type="sldNum" sz="quarter" idx="12"/>
          </p:nvPr>
        </p:nvSpPr>
        <p:spPr/>
        <p:txBody>
          <a:bodyPr/>
          <a:lstStyle/>
          <a:p>
            <a:fld id="{63EB1FB8-AB73-4D3C-B227-E13F85389B08}" type="slidenum">
              <a:rPr lang="en-CA" smtClean="0"/>
              <a:t>16</a:t>
            </a:fld>
            <a:endParaRPr lang="en-CA"/>
          </a:p>
        </p:txBody>
      </p:sp>
    </p:spTree>
    <p:extLst>
      <p:ext uri="{BB962C8B-B14F-4D97-AF65-F5344CB8AC3E}">
        <p14:creationId xmlns:p14="http://schemas.microsoft.com/office/powerpoint/2010/main" val="26453694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321</TotalTime>
  <Words>2602</Words>
  <Application>Microsoft Office PowerPoint</Application>
  <PresentationFormat>Widescreen</PresentationFormat>
  <Paragraphs>326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Wingdings</vt:lpstr>
      <vt:lpstr>Office Theme</vt:lpstr>
      <vt:lpstr>COMP2522</vt:lpstr>
      <vt:lpstr>Learning Outcomes</vt:lpstr>
      <vt:lpstr>Functional Interface</vt:lpstr>
      <vt:lpstr>Lambda Expression: Introduction</vt:lpstr>
      <vt:lpstr>Example</vt:lpstr>
      <vt:lpstr>Syntax</vt:lpstr>
      <vt:lpstr>Lamba Examples</vt:lpstr>
      <vt:lpstr>Java’s Functional Interfaces</vt:lpstr>
      <vt:lpstr>Lambda (and a bit of method reference!)</vt:lpstr>
      <vt:lpstr>Lambda Expression Examples</vt:lpstr>
      <vt:lpstr>More Examples</vt:lpstr>
      <vt:lpstr>Redefining at Runtime</vt:lpstr>
      <vt:lpstr>Final Example</vt:lpstr>
      <vt:lpstr>Use Java’s “built-in” Functional Interfaces</vt:lpstr>
      <vt:lpstr>Lambda Expressions</vt:lpstr>
      <vt:lpstr>Lambda Expressions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Wilder</dc:creator>
  <cp:lastModifiedBy>Jason Wilder</cp:lastModifiedBy>
  <cp:revision>112</cp:revision>
  <dcterms:created xsi:type="dcterms:W3CDTF">2024-10-08T23:45:05Z</dcterms:created>
  <dcterms:modified xsi:type="dcterms:W3CDTF">2025-09-04T18:13:02Z</dcterms:modified>
</cp:coreProperties>
</file>